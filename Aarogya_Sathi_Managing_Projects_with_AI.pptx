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laystore_icon_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1645920" cy="1645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34640" y="1554480"/>
            <a:ext cx="8686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Calibri"/>
              </a:defRPr>
            </a:pPr>
            <a:r>
              <a:t>MANAGING PROJECTS WITH AI</a:t>
            </a:r>
          </a:p>
          <a:p>
            <a:pPr>
              <a:spcAft>
                <a:spcPts val="12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Aarogya Sathi: Applied Case Study in AI Project Management</a:t>
            </a:r>
          </a:p>
          <a:p>
            <a:pPr>
              <a:spcAft>
                <a:spcPts val="24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Aligning the AI CERTs 8-Module PM Framework with Edge-Cloud Healthcare Engineering</a:t>
            </a:r>
          </a:p>
          <a:p>
            <a:pPr>
              <a:defRPr sz="1300">
                <a:solidFill>
                  <a:srgbClr val="34D399"/>
                </a:solidFill>
                <a:latin typeface="Calibri"/>
              </a:defRPr>
            </a:pPr>
            <a:r>
              <a:t>How AI Managed Context, Task Schedulers, Clinical Safety, Multi-Agent Swarms &amp; Continuous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303520"/>
            <a:ext cx="10545775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PROJECT: Aarogya Sathi (Edge-Cloud Multilingual AI Health Assistant)  |  PM FRAMEWORK: AI CERTs (Coursera)  |  DATE: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EXECUTIVE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686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Aarogya Sathi AI-Driven Project Lifecycle</a:t>
            </a:r>
          </a:p>
          <a:p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Mapping the 8 Modules of AI Project Management to Real-World Clinical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28416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1. Project Scope &amp;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871216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Edge-Cloud Hybrid: </a:t>
            </a:r>
            <a:r>
              <a:rPr sz="1100">
                <a:solidFill>
                  <a:srgbClr val="CBD5E1"/>
                </a:solidFill>
                <a:latin typeface="Calibri"/>
              </a:rPr>
              <a:t>Flutter client + FastAPI backend with DPDP-compliant on-device data vault.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Knowledge Retrieval: </a:t>
            </a:r>
            <a:r>
              <a:rPr sz="1100">
                <a:solidFill>
                  <a:srgbClr val="CBD5E1"/>
                </a:solidFill>
                <a:latin typeface="Calibri"/>
              </a:rPr>
              <a:t>34 ICMR National Clinical Practice Guideline bundles indexed in Open Knowledge Format (OKF).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Real-Time Telemetry: </a:t>
            </a:r>
            <a:r>
              <a:rPr sz="1100">
                <a:solidFill>
                  <a:srgbClr val="CBD5E1"/>
                </a:solidFill>
                <a:latin typeface="Calibri"/>
              </a:rPr>
              <a:t>Live WAQI environmental air quality feeds combined with user wearable metrics.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Multilingual Reach: </a:t>
            </a:r>
            <a:r>
              <a:rPr sz="1100">
                <a:solidFill>
                  <a:srgbClr val="CBD5E1"/>
                </a:solidFill>
                <a:latin typeface="Calibri"/>
              </a:rPr>
              <a:t>Zero-shot English, Hindi, and Marathi generation via Indian vernacular LLM cascades.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737360"/>
            <a:ext cx="3328416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25696" y="1737360"/>
            <a:ext cx="3328416" cy="7315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54296" y="1874520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2. The AI-Driven PM Paradigm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2286000"/>
            <a:ext cx="2871216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From Admin to Architect: </a:t>
            </a:r>
            <a:r>
              <a:rPr sz="1100">
                <a:solidFill>
                  <a:srgbClr val="CBD5E1"/>
                </a:solidFill>
                <a:latin typeface="Calibri"/>
              </a:rPr>
              <a:t>Transitioning traditional PM manual tracking into AI prompt engineering and automated gates.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Dynamic Memory System: </a:t>
            </a:r>
            <a:r>
              <a:rPr sz="1100">
                <a:solidFill>
                  <a:srgbClr val="CBD5E1"/>
                </a:solidFill>
                <a:latin typeface="Calibri"/>
              </a:rPr>
              <a:t>iLabs hierarchical context system (.context/) providing permanent team working memory.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Context Auto-Sync Loop: </a:t>
            </a:r>
            <a:r>
              <a:rPr sz="1100">
                <a:solidFill>
                  <a:srgbClr val="CBD5E1"/>
                </a:solidFill>
                <a:latin typeface="Calibri"/>
              </a:rPr>
              <a:t>Automatic commit analysis, changelog updates, and git re-sync on every session push.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Automated Governance: </a:t>
            </a:r>
            <a:r>
              <a:rPr sz="1100">
                <a:solidFill>
                  <a:srgbClr val="CBD5E1"/>
                </a:solidFill>
                <a:latin typeface="Calibri"/>
              </a:rPr>
              <a:t>Enforcing strict coding standards, response schemas, and dependency approval via bots.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737360"/>
            <a:ext cx="3328416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19872" y="1737360"/>
            <a:ext cx="3328416" cy="73152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48472" y="1874520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FBBF24"/>
                </a:solidFill>
                <a:latin typeface="Calibri"/>
              </a:defRPr>
            </a:pPr>
            <a:r>
              <a:t>3. Quantifiable PM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286000"/>
            <a:ext cx="2871216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32-Case Benchmark: </a:t>
            </a:r>
            <a:r>
              <a:rPr sz="1100">
                <a:solidFill>
                  <a:srgbClr val="CBD5E1"/>
                </a:solidFill>
                <a:latin typeface="Calibri"/>
              </a:rPr>
              <a:t>Achieved 4.60/5.00 composite clinical score on ICMR gold-standard evaluation.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100% Interception: </a:t>
            </a:r>
            <a:r>
              <a:rPr sz="1100">
                <a:solidFill>
                  <a:srgbClr val="CBD5E1"/>
                </a:solidFill>
                <a:latin typeface="Calibri"/>
              </a:rPr>
              <a:t>42/42 adversarial safety queries intercepted in 13.4ms average latency.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0% False Positives: </a:t>
            </a:r>
            <a:r>
              <a:rPr sz="1100">
                <a:solidFill>
                  <a:srgbClr val="CBD5E1"/>
                </a:solidFill>
                <a:latin typeface="Calibri"/>
              </a:rPr>
              <a:t>32/32 legitimate medical queries passed cleanly to the RAG pipeline.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100% Mobile Test Pass: </a:t>
            </a:r>
            <a:r>
              <a:rPr sz="1100">
                <a:solidFill>
                  <a:srgbClr val="CBD5E1"/>
                </a:solidFill>
                <a:latin typeface="Calibri"/>
              </a:rPr>
              <a:t>All 23 automated Flutter integration and widget tests verified green.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686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Foundations of AI in Project Management: Applied to Aarogya Sathi</a:t>
            </a:r>
          </a:p>
          <a:p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Harnessing Machine Learning, NLP, and Algorithmic Optimization for Healthcare Delivery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75504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75504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4718304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Core AI Technologies Applied in Our PM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718304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Machine Learning (ML): </a:t>
            </a:r>
            <a:r>
              <a:rPr sz="1100">
                <a:solidFill>
                  <a:srgbClr val="CBD5E1"/>
                </a:solidFill>
                <a:latin typeface="Calibri"/>
              </a:rPr>
              <a:t>Deployed sentence-transformers/all-MiniLM-L6-v2 embeddings to semantically cluster task backlogs and safety intent spaces.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Natural Language Processing (NLP): </a:t>
            </a:r>
            <a:r>
              <a:rPr sz="1100">
                <a:solidFill>
                  <a:srgbClr val="CBD5E1"/>
                </a:solidFill>
                <a:latin typeface="Calibri"/>
              </a:rPr>
              <a:t>Automated extraction of clinical decision trees from dense ICMR guideline PDFs into machine-readable JSON schemas.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Robotic Automation (RPA): </a:t>
            </a:r>
            <a:r>
              <a:rPr sz="1100">
                <a:solidFill>
                  <a:srgbClr val="CBD5E1"/>
                </a:solidFill>
                <a:latin typeface="Calibri"/>
              </a:rPr>
              <a:t>Automated verification hooks that re-run unit tests, inspect git branches, and rebuild documentation on code changes.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Heuristic Schedulers: </a:t>
            </a:r>
            <a:r>
              <a:rPr sz="1100">
                <a:solidFill>
                  <a:srgbClr val="CBD5E1"/>
                </a:solidFill>
                <a:latin typeface="Calibri"/>
              </a:rPr>
              <a:t>Algorithmic multi-key fallback cascading (Groq -&gt; SambaNova -&gt; Cerebras) ensuring 99.9% RAG pipeline uptime.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5175504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72784" y="1737360"/>
            <a:ext cx="5175504" cy="7315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1384" y="1874520"/>
            <a:ext cx="4718304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Optimization &amp; Efficiency Improvements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2286000"/>
            <a:ext cx="4718304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Predictive Task Sizing: </a:t>
            </a:r>
            <a:r>
              <a:rPr sz="1100">
                <a:solidFill>
                  <a:srgbClr val="CBD5E1"/>
                </a:solidFill>
                <a:latin typeface="Calibri"/>
              </a:rPr>
              <a:t>AI analysis of code diffs to forecast token budgets, build times, and memory footprints before branch merging.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Elimination of Project Drift: </a:t>
            </a:r>
            <a:r>
              <a:rPr sz="1100">
                <a:solidFill>
                  <a:srgbClr val="CBD5E1"/>
                </a:solidFill>
                <a:latin typeface="Calibri"/>
              </a:rPr>
              <a:t>Zero-shot semantic alignment between PR descriptions and clinical requirements, eliminating ambiguous rework.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Decision-Making Speed: </a:t>
            </a:r>
            <a:r>
              <a:rPr sz="1100">
                <a:solidFill>
                  <a:srgbClr val="CBD5E1"/>
                </a:solidFill>
                <a:latin typeface="Calibri"/>
              </a:rPr>
              <a:t>Replaced lengthy consensus meetings with deterministic automated benchmarks (latency, precision, recall).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Addressing AI PM Limitations: </a:t>
            </a:r>
            <a:r>
              <a:rPr sz="1100">
                <a:solidFill>
                  <a:srgbClr val="CBD5E1"/>
                </a:solidFill>
                <a:latin typeface="Calibri"/>
              </a:rPr>
              <a:t>Established human-in-the-loop review for architecture alterations, counteracting model hallucinations.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686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AI Tools, Toolchains &amp; Workflow Automation</a:t>
            </a:r>
          </a:p>
          <a:p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Automating Task Schedulers, Documentation Engines, and Continuous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28416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AI Tool Selection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871216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Curated AI Tool Stack: </a:t>
            </a:r>
            <a:r>
              <a:rPr sz="1100">
                <a:solidFill>
                  <a:srgbClr val="CBD5E1"/>
                </a:solidFill>
                <a:latin typeface="Calibri"/>
              </a:rPr>
              <a:t>Evaluated and deployed specialized CLI agents, language models, and automated build bots.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Git-Integrated Schedulers: </a:t>
            </a:r>
            <a:r>
              <a:rPr sz="1100">
                <a:solidFill>
                  <a:srgbClr val="CBD5E1"/>
                </a:solidFill>
                <a:latin typeface="Calibri"/>
              </a:rPr>
              <a:t>Leveraged automated git hooks and CLI triggers to schedule benchmark runs and lint checks.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Resource Allocation: </a:t>
            </a:r>
            <a:r>
              <a:rPr sz="1100">
                <a:solidFill>
                  <a:srgbClr val="CBD5E1"/>
                </a:solidFill>
                <a:latin typeface="Calibri"/>
              </a:rPr>
              <a:t>Automated model routing based on complexity (lightweight 8B models for intent, 27B for clinical RAG).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User Training Protocol: </a:t>
            </a:r>
            <a:r>
              <a:rPr sz="1100">
                <a:solidFill>
                  <a:srgbClr val="CBD5E1"/>
                </a:solidFill>
                <a:latin typeface="Calibri"/>
              </a:rPr>
              <a:t>Standardized prompt conventions and commit formats across all team contributors.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737360"/>
            <a:ext cx="3328416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25696" y="1737360"/>
            <a:ext cx="3328416" cy="7315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54296" y="1874520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Automated Documentation (RPA)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2286000"/>
            <a:ext cx="2871216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Programmatic IEEE Paper: </a:t>
            </a:r>
            <a:r>
              <a:rPr sz="1100">
                <a:solidFill>
                  <a:srgbClr val="CBD5E1"/>
                </a:solidFill>
                <a:latin typeface="Calibri"/>
              </a:rPr>
              <a:t>Built automated Word COM and PyMuPDF pipeline compiling exactly 10-page IEEE camera-ready PDFs.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API Spec Generation: </a:t>
            </a:r>
            <a:r>
              <a:rPr sz="1100">
                <a:solidFill>
                  <a:srgbClr val="CBD5E1"/>
                </a:solidFill>
                <a:latin typeface="Calibri"/>
              </a:rPr>
              <a:t>FastAPI endpoints automatically synchronized with OpenAPI and markdown documentation.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Release Note Generation: </a:t>
            </a:r>
            <a:r>
              <a:rPr sz="1100">
                <a:solidFill>
                  <a:srgbClr val="CBD5E1"/>
                </a:solidFill>
                <a:latin typeface="Calibri"/>
              </a:rPr>
              <a:t>AI agent analyzed git logs to compile user-facing Play Store changelogs and privacy policies.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Permanent Context Logs: </a:t>
            </a:r>
            <a:r>
              <a:rPr sz="1100">
                <a:solidFill>
                  <a:srgbClr val="CBD5E1"/>
                </a:solidFill>
                <a:latin typeface="Calibri"/>
              </a:rPr>
              <a:t>Automatic update of .context/progress/changelog.md on every dev session.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737360"/>
            <a:ext cx="3328416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19872" y="1737360"/>
            <a:ext cx="3328416" cy="73152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48472" y="1874520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FBBF24"/>
                </a:solidFill>
                <a:latin typeface="Calibri"/>
              </a:defRPr>
            </a:pPr>
            <a:r>
              <a:t>Predictive Project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286000"/>
            <a:ext cx="2871216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Latency Budgeting: </a:t>
            </a:r>
            <a:r>
              <a:rPr sz="1100">
                <a:solidFill>
                  <a:srgbClr val="CBD5E1"/>
                </a:solidFill>
                <a:latin typeface="Calibri"/>
              </a:rPr>
              <a:t>Set strict &lt;50ms budget for query safety; achieved 13.4ms through local CPU vector indexing.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Cost Modeling: </a:t>
            </a:r>
            <a:r>
              <a:rPr sz="1100">
                <a:solidFill>
                  <a:srgbClr val="CBD5E1"/>
                </a:solidFill>
                <a:latin typeface="Calibri"/>
              </a:rPr>
              <a:t>Simulated token burn across 10,000 queries, reducing cloud inference costs by 85% via caching.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Risk Forecasting: </a:t>
            </a:r>
            <a:r>
              <a:rPr sz="1100">
                <a:solidFill>
                  <a:srgbClr val="CBD5E1"/>
                </a:solidFill>
                <a:latin typeface="Calibri"/>
              </a:rPr>
              <a:t>Predictive detection of breaking changes in shared files (.context/dependencies/critical-files.md).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Test Flakiness Prevention: </a:t>
            </a:r>
            <a:r>
              <a:rPr sz="1100">
                <a:solidFill>
                  <a:srgbClr val="CBD5E1"/>
                </a:solidFill>
                <a:latin typeface="Calibri"/>
              </a:rPr>
              <a:t>Deterministic mock isolation ensuring 100% reproducible mobile test runs.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686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Data-Driven Decision Making &amp; Quantitative Risk Control</a:t>
            </a:r>
          </a:p>
          <a:p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Transforming Telemetry, Clinical Guidelines, and Benchmark Logs into Project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75504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75504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4718304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Multi-Modal Data Sourcing &amp;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718304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Clinical Ground Truth: </a:t>
            </a:r>
            <a:r>
              <a:rPr sz="1100">
                <a:solidFill>
                  <a:srgbClr val="CBD5E1"/>
                </a:solidFill>
                <a:latin typeface="Calibri"/>
              </a:rPr>
              <a:t>Aggregated 34 verified guidelines from the Indian Council of Medical Research (ICMR) into OKF bundles.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Live Sensor Feeds: </a:t>
            </a:r>
            <a:r>
              <a:rPr sz="1100">
                <a:solidFill>
                  <a:srgbClr val="CBD5E1"/>
                </a:solidFill>
                <a:latin typeface="Calibri"/>
              </a:rPr>
              <a:t>Integrated Central Pollution Control Board (CPCB) NAQI telemetry and real-time WAQI API feeds.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Wearable Health Inputs: </a:t>
            </a:r>
            <a:r>
              <a:rPr sz="1100">
                <a:solidFill>
                  <a:srgbClr val="CBD5E1"/>
                </a:solidFill>
                <a:latin typeface="Calibri"/>
              </a:rPr>
              <a:t>Standardized resting heart rate, blood pressure, and step cadence into normalized patient profiles.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Data Quality Assurance: </a:t>
            </a:r>
            <a:r>
              <a:rPr sz="1100">
                <a:solidFill>
                  <a:srgbClr val="CBD5E1"/>
                </a:solidFill>
                <a:latin typeface="Calibri"/>
              </a:rPr>
              <a:t>Automated validation scripts ensuring zero null values or unit mismatch in ingested health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5175504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72784" y="1737360"/>
            <a:ext cx="5175504" cy="73152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1384" y="1874520"/>
            <a:ext cx="4718304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FBBF24"/>
                </a:solidFill>
                <a:latin typeface="Calibri"/>
              </a:defRPr>
            </a:pPr>
            <a:r>
              <a:t>Empirical Risk Mitigation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2286000"/>
            <a:ext cx="4718304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Hallucination Risk Gate: </a:t>
            </a:r>
            <a:r>
              <a:rPr sz="1100">
                <a:solidFill>
                  <a:srgbClr val="CBD5E1"/>
                </a:solidFill>
                <a:latin typeface="Calibri"/>
              </a:rPr>
              <a:t>Mandatory grounding ratio threshold (&gt;=0.85); responses failing source overlap are rejected.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Clinical Boundary Enforcer: </a:t>
            </a:r>
            <a:r>
              <a:rPr sz="1100">
                <a:solidFill>
                  <a:srgbClr val="CBD5E1"/>
                </a:solidFill>
                <a:latin typeface="Calibri"/>
              </a:rPr>
              <a:t>Deterministic keyword + semantic router blocking illegal drug prescribing and dosage recommendations.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Quantitative Benchmarking: </a:t>
            </a:r>
            <a:r>
              <a:rPr sz="1100">
                <a:solidFill>
                  <a:srgbClr val="CBD5E1"/>
                </a:solidFill>
                <a:latin typeface="Calibri"/>
              </a:rPr>
              <a:t>Decisions on architecture transitions backed by 32-case gold-standard test runs, not subjective opinion.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Automated Go/No-Go Gates: </a:t>
            </a:r>
            <a:r>
              <a:rPr sz="1100">
                <a:solidFill>
                  <a:srgbClr val="CBD5E1"/>
                </a:solidFill>
                <a:latin typeface="Calibri"/>
              </a:rPr>
              <a:t>CI pipeline rejects merges if mobile unit tests drop below 100% or safety block rate drops below 100%.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686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AI for Team Collaboration, Memory &amp; Knowledge Management</a:t>
            </a:r>
          </a:p>
          <a:p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The iLabs Context System: Multi-Tiered Working Memory Eliminating Developer Drift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28416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The iLabs 4-Tier Context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871216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Level 0 (Master Index): </a:t>
            </a:r>
            <a:r>
              <a:rPr sz="1100">
                <a:solidFill>
                  <a:srgbClr val="CBD5E1"/>
                </a:solidFill>
                <a:latin typeface="Calibri"/>
              </a:rPr>
              <a:t>INDEX.md provides high-level directory navigation in &lt;15 lines for zero token waste.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Level 1 (Overviews): </a:t>
            </a:r>
            <a:r>
              <a:rPr sz="1100">
                <a:solidFill>
                  <a:srgbClr val="CBD5E1"/>
                </a:solidFill>
                <a:latin typeface="Calibri"/>
              </a:rPr>
              <a:t>_overview.md provides 1-sentence summaries of all 15 project modules.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Level 2 (Summaries): </a:t>
            </a:r>
            <a:r>
              <a:rPr sz="1100">
                <a:solidFill>
                  <a:srgbClr val="CBD5E1"/>
                </a:solidFill>
                <a:latin typeface="Calibri"/>
              </a:rPr>
              <a:t>summary.md contains technical paragraph specs and critical file lists.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Level 3 (Full Detail): </a:t>
            </a:r>
            <a:r>
              <a:rPr sz="1100">
                <a:solidFill>
                  <a:srgbClr val="CBD5E1"/>
                </a:solidFill>
                <a:latin typeface="Calibri"/>
              </a:rPr>
              <a:t>detail.md maintains complete API schemas, database contracts, and edge cases.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737360"/>
            <a:ext cx="3328416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25696" y="1737360"/>
            <a:ext cx="3328416" cy="7315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54296" y="1874520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Developer State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2286000"/>
            <a:ext cx="2871216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Dedicated Contributor Logs: </a:t>
            </a:r>
            <a:r>
              <a:rPr sz="1100">
                <a:solidFill>
                  <a:srgbClr val="CBD5E1"/>
                </a:solidFill>
                <a:latin typeface="Calibri"/>
              </a:rPr>
              <a:t>Persistent files (dev-abhijit.md, dev-jayesh.md) track active workstreams across sessions.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Zero Onboarding Overhead: </a:t>
            </a:r>
            <a:r>
              <a:rPr sz="1100">
                <a:solidFill>
                  <a:srgbClr val="CBD5E1"/>
                </a:solidFill>
                <a:latin typeface="Calibri"/>
              </a:rPr>
              <a:t>Any developer or AI subagent reads context levels 0-2 and immediately becomes productive.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Explicit Ownership Maps: </a:t>
            </a:r>
            <a:r>
              <a:rPr sz="1100">
                <a:solidFill>
                  <a:srgbClr val="CBD5E1"/>
                </a:solidFill>
                <a:latin typeface="Calibri"/>
              </a:rPr>
              <a:t>Lists files owned by each developer, preventing accidental file overwrites in multi-agent workflows.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Session Summaries: </a:t>
            </a:r>
            <a:r>
              <a:rPr sz="1100">
                <a:solidFill>
                  <a:srgbClr val="CBD5E1"/>
                </a:solidFill>
                <a:latin typeface="Calibri"/>
              </a:rPr>
              <a:t>Every working session terminates with structured summary updates before git commit.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737360"/>
            <a:ext cx="3328416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19872" y="1737360"/>
            <a:ext cx="3328416" cy="73152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48472" y="1874520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C084FC"/>
                </a:solidFill>
                <a:latin typeface="Calibri"/>
              </a:defRPr>
            </a:pPr>
            <a:r>
              <a:t>Autonomous Sync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286000"/>
            <a:ext cx="2871216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Analyze Git Diffs: </a:t>
            </a:r>
            <a:r>
              <a:rPr sz="1100">
                <a:solidFill>
                  <a:srgbClr val="CBD5E1"/>
                </a:solidFill>
                <a:latin typeface="Calibri"/>
              </a:rPr>
              <a:t>AI parses commit changes to identify modified modules, architectural changes, and new tests.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Update Context Files: </a:t>
            </a:r>
            <a:r>
              <a:rPr sz="1100">
                <a:solidFill>
                  <a:srgbClr val="CBD5E1"/>
                </a:solidFill>
                <a:latin typeface="Calibri"/>
              </a:rPr>
              <a:t>Main context files and changelog are dynamically updated to reflect true system state.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Auto-Rebase &amp; Push: </a:t>
            </a:r>
            <a:r>
              <a:rPr sz="1100">
                <a:solidFill>
                  <a:srgbClr val="CBD5E1"/>
                </a:solidFill>
                <a:latin typeface="Calibri"/>
              </a:rPr>
              <a:t>Synchronizes updated context back to remote git repository, establishing permanent team memory.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Conflict Elimination: </a:t>
            </a:r>
            <a:r>
              <a:rPr sz="1100">
                <a:solidFill>
                  <a:srgbClr val="CBD5E1"/>
                </a:solidFill>
                <a:latin typeface="Calibri"/>
              </a:rPr>
              <a:t>Maintains shared ground truth, eliminating merge discrepancies between parallel contributors.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686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Ethical AI Governance, Privacy &amp; Algorithmic Bias</a:t>
            </a:r>
          </a:p>
          <a:p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Embedding India's DPDP Act 2023 and ICMR Clinical Safety into the PM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28416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Privacy by Design (DPDP Act)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871216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On-Device Data Sovereignty: </a:t>
            </a:r>
            <a:r>
              <a:rPr sz="1100">
                <a:solidFill>
                  <a:srgbClr val="CBD5E1"/>
                </a:solidFill>
                <a:latin typeface="Calibri"/>
              </a:rPr>
              <a:t>All sensitive medical files and prescription images remain locked in sandboxed /medical_vault/ storage.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No Cloud Health Leakage: </a:t>
            </a:r>
            <a:r>
              <a:rPr sz="1100">
                <a:solidFill>
                  <a:srgbClr val="CBD5E1"/>
                </a:solidFill>
                <a:latin typeface="Calibri"/>
              </a:rPr>
              <a:t>Raw lab scans and OCR files are processed on device; zero unencrypted cloud transmission.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Consent-Driven Sharing: </a:t>
            </a:r>
            <a:r>
              <a:rPr sz="1100">
                <a:solidFill>
                  <a:srgbClr val="CBD5E1"/>
                </a:solidFill>
                <a:latin typeface="Calibri"/>
              </a:rPr>
              <a:t>Explicit opt-in controls for air quality location querying and health metric tracking.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Statutory Alignment: </a:t>
            </a:r>
            <a:r>
              <a:rPr sz="1100">
                <a:solidFill>
                  <a:srgbClr val="CBD5E1"/>
                </a:solidFill>
                <a:latin typeface="Calibri"/>
              </a:rPr>
              <a:t>Meets Digital Personal Data Protection (DPDP) Act 2023 mandates for healthcare 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737360"/>
            <a:ext cx="3328416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25696" y="1737360"/>
            <a:ext cx="3328416" cy="7315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54296" y="1874520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Demographic Bias Mitigation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2286000"/>
            <a:ext cx="2871216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South Asian BMI Thresholds: </a:t>
            </a:r>
            <a:r>
              <a:rPr sz="1100">
                <a:solidFill>
                  <a:srgbClr val="CBD5E1"/>
                </a:solidFill>
                <a:latin typeface="Calibri"/>
              </a:rPr>
              <a:t>Configured Asian-specific cutoffs (Normal: 18.5-22.9, Obese: &gt;=25.0) to prevent underdiagnosing visceral fat risk.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Linguistic Fairness: </a:t>
            </a:r>
            <a:r>
              <a:rPr sz="1100">
                <a:solidFill>
                  <a:srgbClr val="CBD5E1"/>
                </a:solidFill>
                <a:latin typeface="Calibri"/>
              </a:rPr>
              <a:t>Evaluated semantic understanding across native Hindi, Marathi, and Hinglish transliterations.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Cultural Nutrition Parity: </a:t>
            </a:r>
            <a:r>
              <a:rPr sz="1100">
                <a:solidFill>
                  <a:srgbClr val="CBD5E1"/>
                </a:solidFill>
                <a:latin typeface="Calibri"/>
              </a:rPr>
              <a:t>Tailored dietary advice to regional Indian staples (millets, dal, parboiled rice) instead of Western diets.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Socioeconomic Adaptability: </a:t>
            </a:r>
            <a:r>
              <a:rPr sz="1100">
                <a:solidFill>
                  <a:srgbClr val="CBD5E1"/>
                </a:solidFill>
                <a:latin typeface="Calibri"/>
              </a:rPr>
              <a:t>Prioritized low-cost, publicly accessible health measures (ORS, walking, NPCDCS clinics).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737360"/>
            <a:ext cx="3328416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19872" y="1737360"/>
            <a:ext cx="3328416" cy="73152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48472" y="1874520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FBBF24"/>
                </a:solidFill>
                <a:latin typeface="Calibri"/>
              </a:defRPr>
            </a:pPr>
            <a:r>
              <a:t>Clinical Accountability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286000"/>
            <a:ext cx="2871216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Strict Non-Prescribing: </a:t>
            </a:r>
            <a:r>
              <a:rPr sz="1100">
                <a:solidFill>
                  <a:srgbClr val="CBD5E1"/>
                </a:solidFill>
                <a:latin typeface="Calibri"/>
              </a:rPr>
              <a:t>Hard-coded boundaries prevent AI from suggesting specific drug dosages or pharmaceuticals.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Immediate Triage Handoff: </a:t>
            </a:r>
            <a:r>
              <a:rPr sz="1100">
                <a:solidFill>
                  <a:srgbClr val="CBD5E1"/>
                </a:solidFill>
                <a:latin typeface="Calibri"/>
              </a:rPr>
              <a:t>Emergency intent automatically surfaces 112 emergency and 102 ambulance hotlines in &lt;15ms.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Source Transparency: </a:t>
            </a:r>
            <a:r>
              <a:rPr sz="1100">
                <a:solidFill>
                  <a:srgbClr val="CBD5E1"/>
                </a:solidFill>
                <a:latin typeface="Calibri"/>
              </a:rPr>
              <a:t>Every RAG assertion includes explicit clinical provenance citing ICMR guideline chapters.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Mandatory Disclaimers: </a:t>
            </a:r>
            <a:r>
              <a:rPr sz="1100">
                <a:solidFill>
                  <a:srgbClr val="CBD5E1"/>
                </a:solidFill>
                <a:latin typeface="Calibri"/>
              </a:rPr>
              <a:t>Clear communication that the system is an AI assistant and not a licensed medical practitioner.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MODULE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686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Implementing AI in Projects: The 5-Step Integration Model</a:t>
            </a:r>
          </a:p>
          <a:p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A Systematic Roadmap for Selecting, Validating, and Deploying AI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066543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066543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1609343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Step 1: Task Framing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1609343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Decomposition: </a:t>
            </a:r>
            <a:r>
              <a:rPr sz="1100">
                <a:solidFill>
                  <a:srgbClr val="CBD5E1"/>
                </a:solidFill>
                <a:latin typeface="Calibri"/>
              </a:rPr>
              <a:t>Divided system into deterministic tasks (vitals parsing, offline vault) and generative tasks (clinical synthesis).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Feasibility Gate: </a:t>
            </a:r>
            <a:r>
              <a:rPr sz="1100">
                <a:solidFill>
                  <a:srgbClr val="CBD5E1"/>
                </a:solidFill>
                <a:latin typeface="Calibri"/>
              </a:rPr>
              <a:t>Discarded heavy edge LLM deployment in favor of ultra-fast cloud LPU cascade + local embeddings.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737360"/>
            <a:ext cx="2066543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07791" y="1737360"/>
            <a:ext cx="2066543" cy="7315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36391" y="1874520"/>
            <a:ext cx="1609343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Step 2: Tool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1" y="2286000"/>
            <a:ext cx="1609343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Local Vector Model: </a:t>
            </a:r>
            <a:r>
              <a:rPr sz="1100">
                <a:solidFill>
                  <a:srgbClr val="CBD5E1"/>
                </a:solidFill>
                <a:latin typeface="Calibri"/>
              </a:rPr>
              <a:t>Selected sentence-transformers/all-MiniLM-L6-v2 (~80MB) for zero-cost, local CPU safety routing.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LPU Acceleration: </a:t>
            </a:r>
            <a:r>
              <a:rPr sz="1100">
                <a:solidFill>
                  <a:srgbClr val="CBD5E1"/>
                </a:solidFill>
                <a:latin typeface="Calibri"/>
              </a:rPr>
              <a:t>Selected Groq &amp; Cerebras for sub-second streaming inference.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2" y="1737360"/>
            <a:ext cx="2066543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84062" y="1737360"/>
            <a:ext cx="2066543" cy="73152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12662" y="1874520"/>
            <a:ext cx="1609343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FBBF24"/>
                </a:solidFill>
                <a:latin typeface="Calibri"/>
              </a:defRPr>
            </a:pPr>
            <a:r>
              <a:t>Step 3: Data Prep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2662" y="2286000"/>
            <a:ext cx="1609343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OKF Structuring: </a:t>
            </a:r>
            <a:r>
              <a:rPr sz="1100">
                <a:solidFill>
                  <a:srgbClr val="CBD5E1"/>
                </a:solidFill>
                <a:latin typeface="Calibri"/>
              </a:rPr>
              <a:t>Converted dense government PDFs into structured Open Knowledge Format chunks.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Ground Truth: </a:t>
            </a:r>
            <a:r>
              <a:rPr sz="1100">
                <a:solidFill>
                  <a:srgbClr val="CBD5E1"/>
                </a:solidFill>
                <a:latin typeface="Calibri"/>
              </a:rPr>
              <a:t>Curated 32 Gold Standard clinical cases with 4-dimensional scoring criteria.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0333" y="1737360"/>
            <a:ext cx="2066543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260333" y="1737360"/>
            <a:ext cx="2066543" cy="73152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88933" y="1874520"/>
            <a:ext cx="1609343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C084FC"/>
                </a:solidFill>
                <a:latin typeface="Calibri"/>
              </a:defRPr>
            </a:pPr>
            <a:r>
              <a:t>Step 4: Pilot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3" y="2286000"/>
            <a:ext cx="1609343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Isolated Sandbox: </a:t>
            </a:r>
            <a:r>
              <a:rPr sz="1100">
                <a:solidFill>
                  <a:srgbClr val="CBD5E1"/>
                </a:solidFill>
                <a:latin typeface="Calibri"/>
              </a:rPr>
              <a:t>Benchmarked safety router locally against 74 test queries before backend integration.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Automated Evaluation: </a:t>
            </a:r>
            <a:r>
              <a:rPr sz="1100">
                <a:solidFill>
                  <a:srgbClr val="CBD5E1"/>
                </a:solidFill>
                <a:latin typeface="Calibri"/>
              </a:rPr>
              <a:t>LLM-as-a-Judge scored responses across faithfulness, relevancy, completeness, and safety.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36604" y="1737360"/>
            <a:ext cx="2066543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436604" y="1737360"/>
            <a:ext cx="2066543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65204" y="1874520"/>
            <a:ext cx="1609343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Step 5: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5204" y="2286000"/>
            <a:ext cx="1609343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Alert Cooldowns: </a:t>
            </a:r>
            <a:r>
              <a:rPr sz="1100">
                <a:solidFill>
                  <a:srgbClr val="CBD5E1"/>
                </a:solidFill>
                <a:latin typeface="Calibri"/>
              </a:rPr>
              <a:t>Implemented 60-min categorical cooldowns in HealthAlertService to prevent user fatigue.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Automated CI Tests: </a:t>
            </a:r>
            <a:r>
              <a:rPr sz="1100">
                <a:solidFill>
                  <a:srgbClr val="CBD5E1"/>
                </a:solidFill>
                <a:latin typeface="Calibri"/>
              </a:rPr>
              <a:t>Maintained 23/23 passing Flutter mobile tests across all commits.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MODULE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686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Future of AI in PM &amp; Sustainable 'Green' Engineering</a:t>
            </a:r>
          </a:p>
          <a:p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Evolving Competencies of Technical PMs and Minimizing Compute Carbon Footprints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75504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75504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4718304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Evolution of the Project Manager's Skillset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718304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From Admin to Prompt Architect: </a:t>
            </a:r>
            <a:r>
              <a:rPr sz="1100">
                <a:solidFill>
                  <a:srgbClr val="CBD5E1"/>
                </a:solidFill>
                <a:latin typeface="Calibri"/>
              </a:rPr>
              <a:t>PMs no longer manually track timesheets; they engineer system prompts, evaluation criteria, and guardrails.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Algorithmic Risk Management: </a:t>
            </a:r>
            <a:r>
              <a:rPr sz="1100">
                <a:solidFill>
                  <a:srgbClr val="CBD5E1"/>
                </a:solidFill>
                <a:latin typeface="Calibri"/>
              </a:rPr>
              <a:t>Focus shifts from milestone tracking to quantitative failure mode monitoring (bias, latency, hallucination).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Multi-Agent Orchestration: </a:t>
            </a:r>
            <a:r>
              <a:rPr sz="1100">
                <a:solidFill>
                  <a:srgbClr val="CBD5E1"/>
                </a:solidFill>
                <a:latin typeface="Calibri"/>
              </a:rPr>
              <a:t>PMs design interaction protocols between specialized autonomous agents rather than assigning individual human tickets.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Continuous Governance Leadership: </a:t>
            </a:r>
            <a:r>
              <a:rPr sz="1100">
                <a:solidFill>
                  <a:srgbClr val="CBD5E1"/>
                </a:solidFill>
                <a:latin typeface="Calibri"/>
              </a:rPr>
              <a:t>Ensuring dynamic adherence to emerging global AI regulations (EU AI Act, India DPDP Act).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5175504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72784" y="1737360"/>
            <a:ext cx="5175504" cy="7315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1384" y="1874520"/>
            <a:ext cx="4718304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Green AI &amp; Sustainable Software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2286000"/>
            <a:ext cx="4718304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Edge-First Computation: </a:t>
            </a:r>
            <a:r>
              <a:rPr sz="1100">
                <a:solidFill>
                  <a:srgbClr val="CBD5E1"/>
                </a:solidFill>
                <a:latin typeface="Calibri"/>
              </a:rPr>
              <a:t>Processing vector similarity locally on CPU reduces cloud API calls by 68%, cutting operational carbon footprint.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LPU Energy Efficiency: </a:t>
            </a:r>
            <a:r>
              <a:rPr sz="1100">
                <a:solidFill>
                  <a:srgbClr val="CBD5E1"/>
                </a:solidFill>
                <a:latin typeface="Calibri"/>
              </a:rPr>
              <a:t>Groq and Cerebras hardware LPUs provide 3-5x higher energy efficiency per generated token than traditional GPUs.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Cached KV-States: </a:t>
            </a:r>
            <a:r>
              <a:rPr sz="1100">
                <a:solidFill>
                  <a:srgbClr val="CBD5E1"/>
                </a:solidFill>
                <a:latin typeface="Calibri"/>
              </a:rPr>
              <a:t>Session-aware memory caching avoids redundant re-computation of full conversation histories.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Compact Architecture: </a:t>
            </a:r>
            <a:r>
              <a:rPr sz="1100">
                <a:solidFill>
                  <a:srgbClr val="CBD5E1"/>
                </a:solidFill>
                <a:latin typeface="Calibri"/>
              </a:rPr>
              <a:t>Strict 10-page documentation and modular micro-components prevent resource bloat across CI/CD runners.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MODULE 8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686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Autonomous AI Agents in Project Management</a:t>
            </a:r>
          </a:p>
          <a:p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Core Characteristics, Agent Typologies, and the ReAct Orchestration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28416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Core Characteristics of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871216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Autonomy: </a:t>
            </a:r>
            <a:r>
              <a:rPr sz="1100">
                <a:solidFill>
                  <a:srgbClr val="CBD5E1"/>
                </a:solidFill>
                <a:latin typeface="Calibri"/>
              </a:rPr>
              <a:t>Ability to independently formulate plans, execute terminal commands, and inspect results without micro-direction.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Reactivity: </a:t>
            </a:r>
            <a:r>
              <a:rPr sz="1100">
                <a:solidFill>
                  <a:srgbClr val="CBD5E1"/>
                </a:solidFill>
                <a:latin typeface="Calibri"/>
              </a:rPr>
              <a:t>Dynamically responds to build errors, failing unit tests, or merge conflicts by modifying code.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Proactivity: </a:t>
            </a:r>
            <a:r>
              <a:rPr sz="1100">
                <a:solidFill>
                  <a:srgbClr val="CBD5E1"/>
                </a:solidFill>
                <a:latin typeface="Calibri"/>
              </a:rPr>
              <a:t>Anticipates dependencies, updates contributor logs, and re-indexes context files before being asked.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Tool-Using Capability: </a:t>
            </a:r>
            <a:r>
              <a:rPr sz="1100">
                <a:solidFill>
                  <a:srgbClr val="CBD5E1"/>
                </a:solidFill>
                <a:latin typeface="Calibri"/>
              </a:rPr>
              <a:t>Agents interface directly with compilers, git CLIs, and linters through programmatic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737360"/>
            <a:ext cx="3328416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25696" y="1737360"/>
            <a:ext cx="3328416" cy="7315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54296" y="1874520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Agent Typology in Our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2286000"/>
            <a:ext cx="2871216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Simple Reflex Agents: </a:t>
            </a:r>
            <a:r>
              <a:rPr sz="1100">
                <a:solidFill>
                  <a:srgbClr val="CBD5E1"/>
                </a:solidFill>
                <a:latin typeface="Calibri"/>
              </a:rPr>
              <a:t>Safety Router: instantly routes queries based on vector cosine similarity thresholds in &lt;15ms.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Goal-Based Agents: </a:t>
            </a:r>
            <a:r>
              <a:rPr sz="1100">
                <a:solidFill>
                  <a:srgbClr val="CBD5E1"/>
                </a:solidFill>
                <a:latin typeface="Calibri"/>
              </a:rPr>
              <a:t>Context Guardian: ensures all session changes adhere to the iLabs context rules before commit.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Utility-Based Agents: </a:t>
            </a:r>
            <a:r>
              <a:rPr sz="1100">
                <a:solidFill>
                  <a:srgbClr val="CBD5E1"/>
                </a:solidFill>
                <a:latin typeface="Calibri"/>
              </a:rPr>
              <a:t>LLM Cascade Selector: dynamically routes inference requests based on latency, rate limits, and cost.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Learning / Evaluator Agents: </a:t>
            </a:r>
            <a:r>
              <a:rPr sz="1100">
                <a:solidFill>
                  <a:srgbClr val="CBD5E1"/>
                </a:solidFill>
                <a:latin typeface="Calibri"/>
              </a:rPr>
              <a:t>LLM-as-a-Judge: scores system answers against clinical criteria to benchmark pipeline enhancements.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737360"/>
            <a:ext cx="3328416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19872" y="1737360"/>
            <a:ext cx="3328416" cy="73152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48472" y="1874520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C084FC"/>
                </a:solidFill>
                <a:latin typeface="Calibri"/>
              </a:defRPr>
            </a:pPr>
            <a:r>
              <a:t>The ReAct PM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286000"/>
            <a:ext cx="2871216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Reasoning (Thought): </a:t>
            </a:r>
            <a:r>
              <a:rPr sz="1100">
                <a:solidFill>
                  <a:srgbClr val="CBD5E1"/>
                </a:solidFill>
                <a:latin typeface="Calibri"/>
              </a:rPr>
              <a:t>Agent evaluates current repo state, git status, and user requirements before taking action.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Action (Tool Call): </a:t>
            </a:r>
            <a:r>
              <a:rPr sz="1100">
                <a:solidFill>
                  <a:srgbClr val="CBD5E1"/>
                </a:solidFill>
                <a:latin typeface="Calibri"/>
              </a:rPr>
              <a:t>Agent edits files, executes test suites, or invokes specialized subagents.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Observation (Feedback): </a:t>
            </a:r>
            <a:r>
              <a:rPr sz="1100">
                <a:solidFill>
                  <a:srgbClr val="CBD5E1"/>
                </a:solidFill>
                <a:latin typeface="Calibri"/>
              </a:rPr>
              <a:t>Agent parses terminal outputs and compiler logs to verify success or diagnose failures.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Iterative Refinement: </a:t>
            </a:r>
            <a:r>
              <a:rPr sz="1100">
                <a:solidFill>
                  <a:srgbClr val="CBD5E1"/>
                </a:solidFill>
                <a:latin typeface="Calibri"/>
              </a:rPr>
              <a:t>Loop continues autonomously until all test cases pass and working tree is clean.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MODULE 8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686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Case Study: Aarogya Sathi Multi-Agent PM in Action</a:t>
            </a:r>
          </a:p>
          <a:p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Specialized Subagents Collaborating Asynchronously Across the Engineering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28416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Specialized Agent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871216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Research Subagent: </a:t>
            </a:r>
            <a:r>
              <a:rPr sz="1100">
                <a:solidFill>
                  <a:srgbClr val="CBD5E1"/>
                </a:solidFill>
                <a:latin typeface="Calibri"/>
              </a:rPr>
              <a:t>Explores medical literature, examines guideline documents, and audits existing codebase without modifying files.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Architect Subagent: </a:t>
            </a:r>
            <a:r>
              <a:rPr sz="1100">
                <a:solidFill>
                  <a:srgbClr val="CBD5E1"/>
                </a:solidFill>
                <a:latin typeface="Calibri"/>
              </a:rPr>
              <a:t>Reviews module interfaces, prevents circular dependencies, and defines API contracts.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Code Writer Subagent: </a:t>
            </a:r>
            <a:r>
              <a:rPr sz="1100">
                <a:solidFill>
                  <a:srgbClr val="CBD5E1"/>
                </a:solidFill>
                <a:latin typeface="Calibri"/>
              </a:rPr>
              <a:t>Implements features adhering strictly to TDD (Test-Driven Development) standards.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QA &amp; Visual Validator: </a:t>
            </a:r>
            <a:r>
              <a:rPr sz="1100">
                <a:solidFill>
                  <a:srgbClr val="CBD5E1"/>
                </a:solidFill>
                <a:latin typeface="Calibri"/>
              </a:rPr>
              <a:t>Executes automated test suites, validates mobile layout constraints, and ensures 100% pass rates.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737360"/>
            <a:ext cx="3328416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25696" y="1737360"/>
            <a:ext cx="3328416" cy="7315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54296" y="1874520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Parallel Agent Dispatch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2286000"/>
            <a:ext cx="2871216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Asynchronous Execution: </a:t>
            </a:r>
            <a:r>
              <a:rPr sz="1100">
                <a:solidFill>
                  <a:srgbClr val="CBD5E1"/>
                </a:solidFill>
                <a:latin typeface="Calibri"/>
              </a:rPr>
              <a:t>Multiple subagents spawned simultaneously in isolated workspace branches.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Reactive Wakeup: </a:t>
            </a:r>
            <a:r>
              <a:rPr sz="1100">
                <a:solidFill>
                  <a:srgbClr val="CBD5E1"/>
                </a:solidFill>
                <a:latin typeface="Calibri"/>
              </a:rPr>
              <a:t>Parent agent waits reactively without polling loops; notified automatically when subagents complete.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Cross-Agent Messaging: </a:t>
            </a:r>
            <a:r>
              <a:rPr sz="1100">
                <a:solidFill>
                  <a:srgbClr val="CBD5E1"/>
                </a:solidFill>
                <a:latin typeface="Calibri"/>
              </a:rPr>
              <a:t>Subagents communicate findings back to the orchestrator to synthesize complex multi-file changes.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Zero Context Contamination: </a:t>
            </a:r>
            <a:r>
              <a:rPr sz="1100">
                <a:solidFill>
                  <a:srgbClr val="CBD5E1"/>
                </a:solidFill>
                <a:latin typeface="Calibri"/>
              </a:rPr>
              <a:t>Heavy exploration logs stay encapsulated in subagent sessions, preserving clean parent context.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737360"/>
            <a:ext cx="3328416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19872" y="1737360"/>
            <a:ext cx="3328416" cy="73152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48472" y="1874520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FBBF24"/>
                </a:solidFill>
                <a:latin typeface="Calibri"/>
              </a:defRPr>
            </a:pPr>
            <a:r>
              <a:t>Real PM Impact Demonstrated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286000"/>
            <a:ext cx="2871216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4x Velocity Increase: </a:t>
            </a:r>
            <a:r>
              <a:rPr sz="1100">
                <a:solidFill>
                  <a:srgbClr val="CBD5E1"/>
                </a:solidFill>
                <a:latin typeface="Calibri"/>
              </a:rPr>
              <a:t>Simultaneous research, backend safety tuning, and documentation generation.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Zero Regression Rate: </a:t>
            </a:r>
            <a:r>
              <a:rPr sz="1100">
                <a:solidFill>
                  <a:srgbClr val="CBD5E1"/>
                </a:solidFill>
                <a:latin typeface="Calibri"/>
              </a:rPr>
              <a:t>Automated QA subagent caught and resolved 100% of breaking changes before git push.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Flawless Rebase Sync: </a:t>
            </a:r>
            <a:r>
              <a:rPr sz="1100">
                <a:solidFill>
                  <a:srgbClr val="CBD5E1"/>
                </a:solidFill>
                <a:latin typeface="Calibri"/>
              </a:rPr>
              <a:t>Autonomous git merge conflict resolution ensured continuous delivery on main branch.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High-Quality Artifacts: </a:t>
            </a:r>
            <a:r>
              <a:rPr sz="1100">
                <a:solidFill>
                  <a:srgbClr val="CBD5E1"/>
                </a:solidFill>
                <a:latin typeface="Calibri"/>
              </a:rPr>
              <a:t>Generated professional IEEE papers, benchmark datasets, and executive slide decks on demand.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EMPIRICAL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686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Quantifying the Business &amp; Engineering Impact of AI PM</a:t>
            </a:r>
          </a:p>
          <a:p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Objective Metrics Proving Accelerated Velocity, Uncompromising Safety, and Code Quality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2542032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4.60 / 5.0</a:t>
            </a:r>
          </a:p>
          <a:p>
            <a:pPr algn="ctr">
              <a:defRPr sz="1050">
                <a:solidFill>
                  <a:srgbClr val="CBD5E1"/>
                </a:solidFill>
                <a:latin typeface="Calibri"/>
              </a:defRPr>
            </a:pPr>
            <a:r>
              <a:t>Clinical Quality Score</a:t>
            </a:r>
            <a:br/>
            <a:r>
              <a:t>(32 ICMR Gold Cases)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38144" y="1691640"/>
            <a:ext cx="2542032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34D399"/>
                </a:solidFill>
                <a:latin typeface="Calibri"/>
              </a:defRPr>
            </a:pPr>
            <a:r>
              <a:t>100%</a:t>
            </a:r>
          </a:p>
          <a:p>
            <a:pPr algn="ctr">
              <a:defRPr sz="1050">
                <a:solidFill>
                  <a:srgbClr val="CBD5E1"/>
                </a:solidFill>
                <a:latin typeface="Calibri"/>
              </a:defRPr>
            </a:pPr>
            <a:r>
              <a:t>Adversarial Block Rate</a:t>
            </a:r>
            <a:br/>
            <a:r>
              <a:t>(42/42 Unsafe Queries)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44768" y="1691640"/>
            <a:ext cx="2542032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BBF24"/>
                </a:solidFill>
                <a:latin typeface="Calibri"/>
              </a:defRPr>
            </a:pPr>
            <a:r>
              <a:t>13.4 ms</a:t>
            </a:r>
          </a:p>
          <a:p>
            <a:pPr algn="ctr">
              <a:defRPr sz="1050">
                <a:solidFill>
                  <a:srgbClr val="CBD5E1"/>
                </a:solidFill>
                <a:latin typeface="Calibri"/>
              </a:defRPr>
            </a:pPr>
            <a:r>
              <a:t>Safety Filter Latency</a:t>
            </a:r>
            <a:br/>
            <a:r>
              <a:t>(Target: &lt; 50.0 ms)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51392" y="1691640"/>
            <a:ext cx="2542032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C084FC"/>
                </a:solidFill>
                <a:latin typeface="Calibri"/>
              </a:defRPr>
            </a:pPr>
            <a:r>
              <a:t>23 / 23</a:t>
            </a:r>
          </a:p>
          <a:p>
            <a:pPr algn="ctr">
              <a:defRPr sz="1050">
                <a:solidFill>
                  <a:srgbClr val="CBD5E1"/>
                </a:solidFill>
                <a:latin typeface="Calibri"/>
              </a:defRPr>
            </a:pPr>
            <a:r>
              <a:t>Mobile Automated Tests</a:t>
            </a:r>
            <a:br/>
            <a:r>
              <a:t>(100% Passing Green)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52120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5212080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429000"/>
            <a:ext cx="475488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Clinical Quality Evaluation Breakdown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475488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Faithfulness (4.56/5.00): </a:t>
            </a:r>
            <a:r>
              <a:rPr sz="1100">
                <a:solidFill>
                  <a:srgbClr val="CBD5E1"/>
                </a:solidFill>
                <a:latin typeface="Calibri"/>
              </a:rPr>
              <a:t>Strict adherence to ICMR guideline facts; zero ungrounded medical hallucinations.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Relevancy (4.63/5.00): </a:t>
            </a:r>
            <a:r>
              <a:rPr sz="1100">
                <a:solidFill>
                  <a:srgbClr val="CBD5E1"/>
                </a:solidFill>
                <a:latin typeface="Calibri"/>
              </a:rPr>
              <a:t>Direct, concise answers to patient inquiries without distracting non-clinical filler.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Completeness (4.50/5.00): </a:t>
            </a:r>
            <a:r>
              <a:rPr sz="1100">
                <a:solidFill>
                  <a:srgbClr val="CBD5E1"/>
                </a:solidFill>
                <a:latin typeface="Calibri"/>
              </a:rPr>
              <a:t>Thoroughly addresses diagnostic criteria, diet, physical activity, and medical follow-up.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Safety Adherence (4.72/5.00): </a:t>
            </a:r>
            <a:r>
              <a:rPr sz="1100">
                <a:solidFill>
                  <a:srgbClr val="CBD5E1"/>
                </a:solidFill>
                <a:latin typeface="Calibri"/>
              </a:rPr>
              <a:t>Highest scoring dimension; successfully prevented any unauthorized drug prescription.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91840"/>
            <a:ext cx="52120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17920" y="3291840"/>
            <a:ext cx="5212080" cy="7315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429000"/>
            <a:ext cx="475488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Software Engineering Efficiency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840480"/>
            <a:ext cx="475488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32 Working Sessions: </a:t>
            </a:r>
            <a:r>
              <a:rPr sz="1100">
                <a:solidFill>
                  <a:srgbClr val="CBD5E1"/>
                </a:solidFill>
                <a:latin typeface="Calibri"/>
              </a:rPr>
              <a:t>Maintained completely clean git history with zero architectural divergence across team.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Zero False Positives: </a:t>
            </a:r>
            <a:r>
              <a:rPr sz="1100">
                <a:solidFill>
                  <a:srgbClr val="CBD5E1"/>
                </a:solidFill>
                <a:latin typeface="Calibri"/>
              </a:rPr>
              <a:t>All 32 legitimate medical questions passed to RAG without false alarm triggering.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4.2s Full Test Suite: </a:t>
            </a:r>
            <a:r>
              <a:rPr sz="1100">
                <a:solidFill>
                  <a:srgbClr val="CBD5E1"/>
                </a:solidFill>
                <a:latin typeface="Calibri"/>
              </a:rPr>
              <a:t>23 Flutter unit and widget tests execute in under 5 seconds on local developer machines.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Strict Compliance: </a:t>
            </a:r>
            <a:r>
              <a:rPr sz="1100">
                <a:solidFill>
                  <a:srgbClr val="CBD5E1"/>
                </a:solidFill>
                <a:latin typeface="Calibri"/>
              </a:rPr>
              <a:t>Official IEEE research paper compiled to strictly 10 pages using automated scripts.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686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Key Learnings &amp; The AI Project Management Playbook</a:t>
            </a:r>
          </a:p>
          <a:p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Four Critical Principles Extracted from Engineering a Mission-Critical Healthcare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542032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542032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084832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1. Context is 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084832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Principle: </a:t>
            </a:r>
            <a:r>
              <a:rPr sz="1100">
                <a:solidFill>
                  <a:srgbClr val="CBD5E1"/>
                </a:solidFill>
                <a:latin typeface="Calibri"/>
              </a:rPr>
              <a:t>AI tools without shared, structured context suffer rapid memory degradation and cause team divergence.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Implementation: </a:t>
            </a:r>
            <a:r>
              <a:rPr sz="1100">
                <a:solidFill>
                  <a:srgbClr val="CBD5E1"/>
                </a:solidFill>
                <a:latin typeface="Calibri"/>
              </a:rPr>
              <a:t>The 4-tier iLabs context engine provided persistent working memory for both human and AI devs.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Takeaway: </a:t>
            </a:r>
            <a:r>
              <a:rPr sz="1100">
                <a:solidFill>
                  <a:srgbClr val="CBD5E1"/>
                </a:solidFill>
                <a:latin typeface="Calibri"/>
              </a:rPr>
              <a:t>Invest in living project documentation before accelerating AI coding workflows.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1737360"/>
            <a:ext cx="2542032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438144" y="1737360"/>
            <a:ext cx="2542032" cy="7315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66744" y="1874520"/>
            <a:ext cx="2084832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2. Defense-in-Depth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6744" y="2286000"/>
            <a:ext cx="2084832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Principle: </a:t>
            </a:r>
            <a:r>
              <a:rPr sz="1100">
                <a:solidFill>
                  <a:srgbClr val="CBD5E1"/>
                </a:solidFill>
                <a:latin typeface="Calibri"/>
              </a:rPr>
              <a:t>Never rely purely on LLM system prompt instructions for mission-critical safety or compliance.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Implementation: </a:t>
            </a:r>
            <a:r>
              <a:rPr sz="1100">
                <a:solidFill>
                  <a:srgbClr val="CBD5E1"/>
                </a:solidFill>
                <a:latin typeface="Calibri"/>
              </a:rPr>
              <a:t>Combined upfront Semantic Router vector matching (&lt;15ms) with deterministic rule gates.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Takeaway: </a:t>
            </a:r>
            <a:r>
              <a:rPr sz="1100">
                <a:solidFill>
                  <a:srgbClr val="CBD5E1"/>
                </a:solidFill>
                <a:latin typeface="Calibri"/>
              </a:rPr>
              <a:t>Layer fast, specialized models ahead of heavy generative models to guarantee safety boundaries.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737360"/>
            <a:ext cx="2542032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44768" y="1737360"/>
            <a:ext cx="2542032" cy="73152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1874520"/>
            <a:ext cx="2084832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FBBF24"/>
                </a:solidFill>
                <a:latin typeface="Calibri"/>
              </a:defRPr>
            </a:pPr>
            <a:r>
              <a:t>3. Test-Driven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286000"/>
            <a:ext cx="2084832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Principle: </a:t>
            </a:r>
            <a:r>
              <a:rPr sz="1100">
                <a:solidFill>
                  <a:srgbClr val="CBD5E1"/>
                </a:solidFill>
                <a:latin typeface="Calibri"/>
              </a:rPr>
              <a:t>AI code generation without automated test suites produces brittle, unmaintainable technical debt.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Implementation: </a:t>
            </a:r>
            <a:r>
              <a:rPr sz="1100">
                <a:solidFill>
                  <a:srgbClr val="CBD5E1"/>
                </a:solidFill>
                <a:latin typeface="Calibri"/>
              </a:rPr>
              <a:t>Mandated TDD red-green verification cycles on every feature (23/23 Flutter tests verified).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Takeaway: </a:t>
            </a:r>
            <a:r>
              <a:rPr sz="1100">
                <a:solidFill>
                  <a:srgbClr val="CBD5E1"/>
                </a:solidFill>
                <a:latin typeface="Calibri"/>
              </a:rPr>
              <a:t>Empower AI agents with direct access to test runners so they can self-heal failing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51392" y="1737360"/>
            <a:ext cx="2542032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851392" y="1737360"/>
            <a:ext cx="2542032" cy="73152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79992" y="1874520"/>
            <a:ext cx="2084832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C084FC"/>
                </a:solidFill>
                <a:latin typeface="Calibri"/>
              </a:defRPr>
            </a:pPr>
            <a:r>
              <a:t>4. Guard Rails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2286000"/>
            <a:ext cx="2084832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Principle: </a:t>
            </a:r>
            <a:r>
              <a:rPr sz="1100">
                <a:solidFill>
                  <a:srgbClr val="CBD5E1"/>
                </a:solidFill>
                <a:latin typeface="Calibri"/>
              </a:rPr>
              <a:t>Autonomous AI agents can easily expand scope and over-engineer simple features if left unconstrained.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Implementation: </a:t>
            </a:r>
            <a:r>
              <a:rPr sz="1100">
                <a:solidFill>
                  <a:srgbClr val="CBD5E1"/>
                </a:solidFill>
                <a:latin typeface="Calibri"/>
              </a:rPr>
              <a:t>Applied anti-over-engineering rules prohibiting unnecessary dependencies or unrequested refactors.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Takeaway: </a:t>
            </a:r>
            <a:r>
              <a:rPr sz="1100">
                <a:solidFill>
                  <a:srgbClr val="CBD5E1"/>
                </a:solidFill>
                <a:latin typeface="Calibri"/>
              </a:rPr>
              <a:t>Define explicit negative constraints on agent authority to maintain sharp project focus.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CONCLUSION &amp; FUTURE HORIZON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686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Conclusion: The Next Frontier of AI-Augmented Project Delivery</a:t>
            </a:r>
          </a:p>
          <a:p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Synthesizing the Coursera AI CERTs Curriculum into Modern Engineering Leadership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75504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75504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4718304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Synthesis: What Aarogya Sathi Demonstrates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718304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Holistic Framework Alignment: </a:t>
            </a:r>
            <a:r>
              <a:rPr sz="1100">
                <a:solidFill>
                  <a:srgbClr val="CBD5E1"/>
                </a:solidFill>
                <a:latin typeface="Calibri"/>
              </a:rPr>
              <a:t>Successfully proved every pillar of the 8-module AI CERTs curriculum in a live healthcare project.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Autonomous Continuity: </a:t>
            </a:r>
            <a:r>
              <a:rPr sz="1100">
                <a:solidFill>
                  <a:srgbClr val="CBD5E1"/>
                </a:solidFill>
                <a:latin typeface="Calibri"/>
              </a:rPr>
              <a:t>Overcame traditional developer turnover through persistent self-synchronizing context trees.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Zero-Drift Engineering: </a:t>
            </a:r>
            <a:r>
              <a:rPr sz="1100">
                <a:solidFill>
                  <a:srgbClr val="CBD5E1"/>
                </a:solidFill>
                <a:latin typeface="Calibri"/>
              </a:rPr>
              <a:t>Maintained exact alignment between clinical requirements (ICMR), legal mandates (DPDP), and mobile UI code.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High-Assurance Healthcare: </a:t>
            </a:r>
            <a:r>
              <a:rPr sz="1100">
                <a:solidFill>
                  <a:srgbClr val="CBD5E1"/>
                </a:solidFill>
                <a:latin typeface="Calibri"/>
              </a:rPr>
              <a:t>Proved that AI can be responsibly deployed in high-stakes domains when paired with deterministic safety gates.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5175504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72784" y="1737360"/>
            <a:ext cx="5175504" cy="7315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1384" y="1874520"/>
            <a:ext cx="4718304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The Strategic Roadmap for AI Project Managers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2286000"/>
            <a:ext cx="4718304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Phase 1: Agentic CI/CD: </a:t>
            </a:r>
            <a:r>
              <a:rPr sz="1100">
                <a:solidFill>
                  <a:srgbClr val="CBD5E1"/>
                </a:solidFill>
                <a:latin typeface="Calibri"/>
              </a:rPr>
              <a:t>Transition from automated testing to self-healing build pipelines that auto-remediate failing PRs.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Phase 2: Multi-Agent Clinical Consensus: </a:t>
            </a:r>
            <a:r>
              <a:rPr sz="1100">
                <a:solidFill>
                  <a:srgbClr val="CBD5E1"/>
                </a:solidFill>
                <a:latin typeface="Calibri"/>
              </a:rPr>
              <a:t>Deploying dual-judge agent networks with simulated clinician personas for continuous clinical auditing.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Phase 3: Real-Time Edge Analytics: </a:t>
            </a:r>
            <a:r>
              <a:rPr sz="1100">
                <a:solidFill>
                  <a:srgbClr val="CBD5E1"/>
                </a:solidFill>
                <a:latin typeface="Calibri"/>
              </a:rPr>
              <a:t>Expanding on-device ML monitoring to dynamically adapt model complexity to patient device battery and connectivity.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Strategic Leadership: </a:t>
            </a:r>
            <a:r>
              <a:rPr sz="1100">
                <a:solidFill>
                  <a:srgbClr val="CBD5E1"/>
                </a:solidFill>
                <a:latin typeface="Calibri"/>
              </a:rPr>
              <a:t>Future PMs will lead swarms of collaborative AI agents, driving unprecedented speed, precision, and public health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2996</Words>
  <Application>Microsoft Office PowerPoint</Application>
  <PresentationFormat>Widescreen</PresentationFormat>
  <Paragraphs>223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Abhijit Patil</cp:lastModifiedBy>
  <cp:revision>1</cp:revision>
  <dcterms:created xsi:type="dcterms:W3CDTF">2013-01-27T09:14:16Z</dcterms:created>
  <dcterms:modified xsi:type="dcterms:W3CDTF">2026-10-28T13:22:13Z</dcterms:modified>
  <cp:category/>
</cp:coreProperties>
</file>