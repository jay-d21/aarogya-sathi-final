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Aarogya Sathi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Health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/ Problem Statement</a:t>
            </a:r>
          </a:p>
          <a:p>
            <a:r>
              <a:t>India's preventive healthcare is broken at three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/>
            </a:pPr>
            <a:r>
              <a:t>63%</a:t>
            </a:r>
          </a:p>
          <a:p>
            <a:pPr>
              <a:defRPr b="1"/>
            </a:pPr>
            <a:r>
              <a:t>Deaths caused by NCDs</a:t>
            </a:r>
          </a:p>
          <a:p>
            <a:pPr lvl="1"/>
            <a:r>
              <a:t>Non-Communicable Diseases (diabetes, CVDs, COPD) are India's #1 killer. Yet preventive infrastructure is near-zero for 1.4B people.</a:t>
            </a:r>
          </a:p>
          <a:p>
            <a:pPr lvl="1"/>
            <a:r>
              <a:t>ICMR-INDIAB 2023: 26.4% urban diabetes prevalence · WEF: $4.58 Trillion projected economic loss by 2030</a:t>
            </a:r>
          </a:p>
          <a:p>
            <a:pPr>
              <a:defRPr b="1"/>
            </a:pPr>
            <a:r>
              <a:t>4.2M</a:t>
            </a:r>
          </a:p>
          <a:p>
            <a:pPr>
              <a:defRPr b="1"/>
            </a:pPr>
            <a:r>
              <a:t>Premature deaths from PM2.5</a:t>
            </a:r>
          </a:p>
          <a:p>
            <a:pPr lvl="1"/>
            <a:r>
              <a:t>South Asia bears the world's highest pollution burden. Delhi residents lose 11.9 years of life expectancy due to particulate matter alone.</a:t>
            </a:r>
          </a:p>
          <a:p>
            <a:pPr lvl="1"/>
            <a:r>
              <a:t>AQLI 2024 · Lelieveld et al., Nature 2015 · 200K+ respiratory admissions linked to AQI events annually</a:t>
            </a:r>
          </a:p>
          <a:p>
            <a:pPr>
              <a:defRPr b="1"/>
            </a:pPr>
            <a:r>
              <a:t>90%</a:t>
            </a:r>
          </a:p>
          <a:p>
            <a:pPr>
              <a:defRPr b="1"/>
            </a:pPr>
            <a:r>
              <a:t>Excluded from AI health tools</a:t>
            </a:r>
          </a:p>
          <a:p>
            <a:pPr lvl="1"/>
            <a:r>
              <a:t>Over 90% of Indians don't speak English as their primary language. All major AI health platforms — Practo, Ada Health, WebMD — are English-only.</a:t>
            </a:r>
          </a:p>
          <a:p>
            <a:pPr lvl="1"/>
            <a:r>
              <a:t>Census of India: 22 official languages · Health literacy gaps compound chronic disease 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/ Motivation and Need for the Project</a:t>
            </a:r>
          </a:p>
          <a:p>
            <a:r>
              <a:t>From personal need to macroeconomic imperative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/>
            </a:pPr>
            <a:r>
              <a:t>Personal Motivation</a:t>
            </a:r>
          </a:p>
          <a:p>
            <a:pPr lvl="1"/>
            <a:r>
              <a:t>"My father has high cholesterol and constantly has small, everyday questions — what to eat, what to avoid, whether his headache is related to his BP. We realized the profound need for a simple, vernacular-first health companion that can answer these daily queries without requiring a doctor's visit for every small doubt."</a:t>
            </a:r>
          </a:p>
          <a:p>
            <a:pPr lvl="1"/>
            <a:r>
              <a:t>— Jayesh Patil, Team Lead</a:t>
            </a:r>
          </a:p>
          <a:p>
            <a:pPr>
              <a:defRPr b="1"/>
            </a:pPr>
            <a:r>
              <a:t>ROI of preventive health interventions</a:t>
            </a:r>
          </a:p>
          <a:p>
            <a:pPr lvl="1"/>
            <a:r>
              <a:t>Masters et al. (JECH, 2017) — median return on investment for public health prevention</a:t>
            </a:r>
          </a:p>
          <a:p>
            <a:pPr>
              <a:defRPr b="1"/>
            </a:pPr>
            <a:r>
              <a:t>Projected NCD economic loss for India by 2030</a:t>
            </a:r>
          </a:p>
          <a:p>
            <a:pPr lvl="1"/>
            <a:r>
              <a:t>World Economic Forum — NCDs threaten India's entire growth trajectory</a:t>
            </a:r>
          </a:p>
          <a:p>
            <a:pPr>
              <a:defRPr b="1"/>
            </a:pPr>
            <a:r>
              <a:t>eSanjeevani consultations — demand is proven</a:t>
            </a:r>
          </a:p>
          <a:p>
            <a:pPr lvl="1"/>
            <a:r>
              <a:t>Ministry of Health &amp; Family Welfare — digital health demand already exists at scale</a:t>
            </a:r>
          </a:p>
          <a:p>
            <a:pPr>
              <a:defRPr b="1"/>
            </a:pPr>
            <a:r>
              <a:t>No existing solution combines all 6 required capabilities</a:t>
            </a:r>
          </a:p>
          <a:p>
            <a:pPr lvl="1"/>
            <a:r>
              <a:t>AQI-aware + vernacular + ICMR-RAG + agentic + DPDP compliant + preventive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/ Objectives of the Project</a:t>
            </a:r>
          </a:p>
          <a:p>
            <a:r>
              <a:t>Five measurable, bounded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/>
            </a:pPr>
            <a:r>
              <a:t>Clinically-Safe AI Triage</a:t>
            </a:r>
          </a:p>
          <a:p>
            <a:pPr lvl="1"/>
            <a:r>
              <a:t>Deploy a Digital Health Assistant that assesses user symptoms using strictly ICMR-grounded RAG, preventing hallucinated medical advice.</a:t>
            </a:r>
          </a:p>
          <a:p>
            <a:pPr>
              <a:defRPr b="1"/>
            </a:pPr>
            <a:r>
              <a:t>Hyper-Local Environment Awareness</a:t>
            </a:r>
          </a:p>
          <a:p>
            <a:pPr lvl="1"/>
            <a:r>
              <a:t>Integrate live WAQI pollution APIs to dynamically alter health advice based on real-time AQI — "stay indoors, high PM2.5 alert."</a:t>
            </a:r>
          </a:p>
          <a:p>
            <a:pPr>
              <a:defRPr b="1"/>
            </a:pPr>
            <a:r>
              <a:t>Vernacular-First Delivery</a:t>
            </a:r>
          </a:p>
          <a:p>
            <a:pPr lvl="1"/>
            <a:r>
              <a:t>Deliver health intelligence in 22 official Indian languages via Bhashini + IndicTrans2, enabling truly inclusive access.</a:t>
            </a:r>
          </a:p>
          <a:p>
            <a:pPr>
              <a:defRPr b="1"/>
            </a:pPr>
            <a:r>
              <a:t>Data Sovereignty Architecture</a:t>
            </a:r>
          </a:p>
          <a:p>
            <a:pPr lvl="1"/>
            <a:r>
              <a:t>Build a 100% Indian-hosted, DPDP Act (2023) compliant system where sensitive health data never crosses national borders.</a:t>
            </a:r>
          </a:p>
          <a:p>
            <a:pPr>
              <a:defRPr b="1"/>
            </a:pPr>
            <a:r>
              <a:t>Validated Accuracy Benchmarking</a:t>
            </a:r>
          </a:p>
          <a:p>
            <a:pPr lvl="1"/>
            <a:r>
              <a:t>Measure system accuracy against established medical AI benchmarks (MMed-RAG framework, CLINIC benchmark) before any user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/ Scope of the Project</a:t>
            </a:r>
          </a:p>
          <a:p>
            <a:r>
              <a:t>Defining the MVP — what we build vs. what we exclude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/>
            </a:pPr>
            <a:r>
              <a:t>✅ In Scope Technical Deliverables</a:t>
            </a:r>
          </a:p>
          <a:p>
            <a:pPr>
              <a:defRPr b="1"/>
            </a:pPr>
            <a:r>
              <a:t>❌ Out of Scope Excluded</a:t>
            </a:r>
          </a:p>
          <a:p>
            <a:pPr lvl="1"/>
            <a:r>
              <a:t>📍 Target Users &amp; Geography</a:t>
            </a:r>
          </a:p>
          <a:p>
            <a:pPr lvl="1"/>
            <a:r>
              <a:t>Urban Indian adults (25–60) with chronic NCD conditions. Initial geo-focus: High-AQI metros — Delhi NCR, Mumbai, Pune, Bengaluru.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/ Literature Review (Brief)</a:t>
            </a:r>
          </a:p>
          <a:p>
            <a:r>
              <a:t>Peer-reviewed evidence across all 7 research pillars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/ Proposed Methodology</a:t>
            </a:r>
          </a:p>
          <a:p>
            <a:r>
              <a:t>System Architecture &amp; Agentic RAG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/>
            <a:r>
              <a:t>Agentic Workflow — 4 Steps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/ Tools, Technologies, Software &amp; Hardware</a:t>
            </a:r>
          </a:p>
          <a:p>
            <a:r>
              <a:t>Full-stack ecosystem for a sovereign AI health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/>
            </a:pPr>
            <a:r>
              <a:t>Flutter</a:t>
            </a:r>
          </a:p>
          <a:p>
            <a:pPr lvl="1"/>
            <a:r>
              <a:t>Cross-platform (Android/iOS) single codebase, offline-first</a:t>
            </a:r>
          </a:p>
          <a:p>
            <a:pPr>
              <a:defRPr b="1"/>
            </a:pPr>
            <a:r>
              <a:t>SQLite</a:t>
            </a:r>
          </a:p>
          <a:p>
            <a:pPr lvl="1"/>
            <a:r>
              <a:t>Local caching for offline use in low-connectivity areas</a:t>
            </a:r>
          </a:p>
          <a:p>
            <a:pPr>
              <a:defRPr b="1"/>
            </a:pPr>
            <a:r>
              <a:t>Bhashini STT</a:t>
            </a:r>
          </a:p>
          <a:p>
            <a:pPr lvl="1"/>
            <a:r>
              <a:t>Govt. of India voice-to-text for 22 regional languages</a:t>
            </a:r>
          </a:p>
          <a:p>
            <a:pPr>
              <a:defRPr b="1"/>
            </a:pPr>
            <a:r>
              <a:t>FastAPI</a:t>
            </a:r>
          </a:p>
          <a:p>
            <a:pPr lvl="1"/>
            <a:r>
              <a:t>High-performance async Python API server</a:t>
            </a:r>
          </a:p>
          <a:p>
            <a:pPr>
              <a:defRPr b="1"/>
            </a:pPr>
            <a:r>
              <a:t>PostgreSQL</a:t>
            </a:r>
          </a:p>
          <a:p>
            <a:pPr lvl="1"/>
            <a:r>
              <a:t>Relational DB for user profiles and health records</a:t>
            </a:r>
          </a:p>
          <a:p>
            <a:pPr>
              <a:defRPr b="1"/>
            </a:pPr>
            <a:r>
              <a:t>Docker</a:t>
            </a:r>
          </a:p>
          <a:p>
            <a:pPr lvl="1"/>
            <a:r>
              <a:t>Containerized microservices deployment</a:t>
            </a:r>
          </a:p>
          <a:p>
            <a:pPr>
              <a:defRPr b="1"/>
            </a:pPr>
            <a:r>
              <a:t>BioMistral 7B</a:t>
            </a:r>
          </a:p>
          <a:p>
            <a:pPr lvl="1"/>
            <a:r>
              <a:t>Open-source medical LLM (4-bit quantized)</a:t>
            </a:r>
          </a:p>
          <a:p>
            <a:pPr>
              <a:defRPr b="1"/>
            </a:pPr>
            <a:r>
              <a:t>LangChain</a:t>
            </a:r>
          </a:p>
          <a:p>
            <a:pPr lvl="1"/>
            <a:r>
              <a:t>RAG orchestration and agentic pipeline</a:t>
            </a:r>
          </a:p>
          <a:p>
            <a:pPr>
              <a:defRPr b="1"/>
            </a:pPr>
            <a:r>
              <a:t>Pinecone</a:t>
            </a:r>
          </a:p>
          <a:p>
            <a:pPr lvl="1"/>
            <a:r>
              <a:t>Vector database for ICMR guideline embeddings</a:t>
            </a:r>
          </a:p>
          <a:p>
            <a:pPr>
              <a:defRPr b="1"/>
            </a:pPr>
            <a:r>
              <a:t>IndicTrans2</a:t>
            </a:r>
          </a:p>
          <a:p>
            <a:pPr lvl="1"/>
            <a:r>
              <a:t>State-of-art multilingual NLP (AI4Bharat)</a:t>
            </a:r>
          </a:p>
          <a:p>
            <a:pPr>
              <a:defRPr b="1"/>
            </a:pPr>
            <a:r>
              <a:t>E2E Networks</a:t>
            </a:r>
          </a:p>
          <a:p>
            <a:pPr lvl="1"/>
            <a:r>
              <a:t>Indian cloud GPU provider — DPDP Act compliant</a:t>
            </a:r>
          </a:p>
          <a:p>
            <a:pPr>
              <a:defRPr b="1"/>
            </a:pPr>
            <a:r>
              <a:t>WAQI API</a:t>
            </a:r>
          </a:p>
          <a:p>
            <a:pPr lvl="1"/>
            <a:r>
              <a:t>Real-time global air quality index data</a:t>
            </a:r>
          </a:p>
          <a:p>
            <a:pPr>
              <a:defRPr b="1"/>
            </a:pPr>
            <a:r>
              <a:t>GitHub Actions</a:t>
            </a:r>
          </a:p>
          <a:p>
            <a:pPr lvl="1"/>
            <a:r>
              <a:t>CI/CD pipelines &amp; automated testing</a:t>
            </a:r>
          </a:p>
          <a:p>
            <a:pPr>
              <a:defRPr b="1"/>
            </a:pPr>
            <a:r>
              <a:t>Tesseract OCR</a:t>
            </a:r>
          </a:p>
          <a:p>
            <a:pPr lvl="1"/>
            <a:r>
              <a:t>Lab report parsing for symptom context extraction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/ Feasibility of Implementation</a:t>
            </a:r>
          </a:p>
          <a:p>
            <a:r>
              <a:t>Viable across all four dimensions of feasibility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/>
            </a:pPr>
            <a:r>
              <a:t>Technical Feasibility</a:t>
            </a:r>
          </a:p>
          <a:p>
            <a:pPr lvl="1"/>
            <a:r>
              <a:t>BioMistral 7B at 4-bit quantization runs on a single A100 GPU — available on E2E Networks India</a:t>
            </a:r>
          </a:p>
          <a:p>
            <a:pPr lvl="1"/>
            <a:r>
              <a:t>IndicTrans2 (AI4Bharat) is publicly available, achieves state-of-art chrF scores for medical translation</a:t>
            </a:r>
          </a:p>
          <a:p>
            <a:pPr lvl="1"/>
            <a:r>
              <a:t>Flutter single codebase drastically reduces frontend development overhead</a:t>
            </a:r>
          </a:p>
          <a:p>
            <a:pPr lvl="1"/>
            <a:r>
              <a:t>WAQI &amp; Bhashini APIs are public, stable, and well-documented — no training needed</a:t>
            </a:r>
          </a:p>
          <a:p>
            <a:pPr lvl="1"/>
            <a:r>
              <a:t>70% GPU cost reduction on E2E vs. AWS/GCP for equivalent compute</a:t>
            </a:r>
          </a:p>
          <a:p>
            <a:pPr>
              <a:defRPr b="1"/>
            </a:pPr>
            <a:r>
              <a:t>Economic Feasibility</a:t>
            </a:r>
          </a:p>
          <a:p>
            <a:pPr lvl="1"/>
            <a:r>
              <a:t>All core models are open-source — zero licensing fees vs. proprietary alternatives</a:t>
            </a:r>
          </a:p>
          <a:p>
            <a:pPr lvl="1"/>
            <a:r>
              <a:t>Preventive health delivers 14.3:1 ROI (Masters et al., JECH 2017) — strong business case</a:t>
            </a:r>
          </a:p>
          <a:p>
            <a:pPr lvl="1"/>
            <a:r>
              <a:t>India's digital health market projected at $372B by 2030 (NITI Aayog)</a:t>
            </a:r>
          </a:p>
          <a:p>
            <a:pPr>
              <a:defRPr b="1"/>
            </a:pPr>
            <a:r>
              <a:t>₹0</a:t>
            </a:r>
          </a:p>
          <a:p>
            <a:pPr lvl="1"/>
            <a:r>
              <a:t>LLM licensing cost</a:t>
            </a:r>
          </a:p>
          <a:p>
            <a:pPr>
              <a:defRPr b="1"/>
            </a:pPr>
            <a:r>
              <a:t>14.3×</a:t>
            </a:r>
          </a:p>
          <a:p>
            <a:pPr lvl="1"/>
            <a:r>
              <a:t>ROI on prevention</a:t>
            </a:r>
          </a:p>
          <a:p>
            <a:pPr>
              <a:defRPr b="1"/>
            </a:pPr>
            <a:r>
              <a:t>Legal &amp; Regulatory Feasibility</a:t>
            </a:r>
          </a:p>
          <a:p>
            <a:pPr lvl="1"/>
            <a:r>
              <a:t>Zero-knowledge local inference ensures 100% data residency within India</a:t>
            </a:r>
          </a:p>
          <a:p>
            <a:pPr lvl="1"/>
            <a:r>
              <a:t>Architecture inherently meets DPDP Act (2023) explicit consent and storage mandates</a:t>
            </a:r>
          </a:p>
          <a:p>
            <a:pPr lvl="1"/>
            <a:r>
              <a:t>ABDM sandbox integration available for testing without live patient data</a:t>
            </a:r>
          </a:p>
          <a:p>
            <a:pPr lvl="1"/>
            <a:r>
              <a:t>Scope explicitly excludes prescriptions — not classified as medical device under CDSCO</a:t>
            </a:r>
          </a:p>
          <a:p>
            <a:pPr>
              <a:defRPr b="1"/>
            </a:pPr>
            <a:r>
              <a:t>Operational Feasibility</a:t>
            </a:r>
          </a:p>
          <a:p>
            <a:pPr lvl="1"/>
            <a:r>
              <a:t>3-member team with complementary skills: AI/ML, Mobile Dev, Backend Engineering</a:t>
            </a:r>
          </a:p>
          <a:p>
            <a:pPr lvl="1"/>
            <a:r>
              <a:t>All constraints (WAQI, Bhashini, E2E APIs) are documented and testable from Day 1</a:t>
            </a:r>
          </a:p>
          <a:p>
            <a:pPr lvl="1"/>
            <a:r>
              <a:t>Offline-first SQLite design handles India's variable connectivity without architectural changes</a:t>
            </a:r>
          </a:p>
          <a:p>
            <a:pPr lvl="1"/>
            <a:r>
              <a:t>12-week timeline is achievable — tasks scoped to MVP deliverables only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/ Expected Outcomes</a:t>
            </a:r>
          </a:p>
          <a:p>
            <a:r>
              <a:t>Measurable deliverables and anticipated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/>
            </a:pPr>
            <a:r>
              <a:t>Functional Android MVP</a:t>
            </a:r>
          </a:p>
          <a:p>
            <a:pPr lvl="1"/>
            <a:r>
              <a:t>Cross-platform app with vernacular voice onboarding, symptom input, and personalized health guidance delivered in user's native language.</a:t>
            </a:r>
          </a:p>
          <a:p>
            <a:pPr>
              <a:defRPr b="1"/>
            </a:pPr>
            <a:r>
              <a:t>Deliverable</a:t>
            </a:r>
          </a:p>
          <a:p>
            <a:pPr>
              <a:defRPr b="1"/>
            </a:pPr>
            <a:r>
              <a:t>AQI-Aware Triage</a:t>
            </a:r>
          </a:p>
          <a:p>
            <a:pPr lvl="1"/>
            <a:r>
              <a:t>Backend successfully correlates user symptoms with live AQI &gt;300 to dynamically alter advice — reducing false respiratory alarms.</a:t>
            </a:r>
          </a:p>
          <a:p>
            <a:pPr>
              <a:defRPr b="1"/>
            </a:pPr>
            <a:r>
              <a:t>Demonstrable</a:t>
            </a:r>
          </a:p>
          <a:p>
            <a:pPr>
              <a:defRPr b="1"/>
            </a:pPr>
            <a:r>
              <a:t>Sovereign Architecture PoC</a:t>
            </a:r>
          </a:p>
          <a:p>
            <a:pPr lvl="1"/>
            <a:r>
              <a:t>End-to-end local inference validated without any dependency on OpenAI or Google APIs — 100% Indian cloud hosting proven.</a:t>
            </a:r>
          </a:p>
          <a:p>
            <a:pPr>
              <a:defRPr b="1"/>
            </a:pPr>
            <a:r>
              <a:t>Measurable</a:t>
            </a:r>
          </a:p>
          <a:p>
            <a:pPr>
              <a:defRPr b="1"/>
            </a:pPr>
            <a:r>
              <a:t>RAG Accuracy Benchmark</a:t>
            </a:r>
          </a:p>
          <a:p>
            <a:pPr lvl="1"/>
            <a:r>
              <a:t>System evaluated against MMed-RAG and CLINIC benchmarks, documenting accuracy metrics vs. vanilla LLM baseline.</a:t>
            </a:r>
          </a:p>
          <a:p>
            <a:pPr>
              <a:defRPr b="1"/>
            </a:pPr>
            <a:r>
              <a:t>+43.8% target</a:t>
            </a:r>
          </a:p>
          <a:p>
            <a:pPr>
              <a:defRPr b="1"/>
            </a:pPr>
            <a:r>
              <a:t>Multilingual Coverage</a:t>
            </a:r>
          </a:p>
          <a:p>
            <a:pPr lvl="1"/>
            <a:r>
              <a:t>Functional translation tested across at least 5 major Indian languages (Hindi, Marathi, Gujarati, Tamil, Bengali) in medical domain.</a:t>
            </a:r>
          </a:p>
          <a:p>
            <a:pPr>
              <a:defRPr b="1"/>
            </a:pPr>
            <a:r>
              <a:t>22 Languages</a:t>
            </a:r>
          </a:p>
          <a:p>
            <a:pPr>
              <a:defRPr b="1"/>
            </a:pPr>
            <a:r>
              <a:t>Academic Research Report</a:t>
            </a:r>
          </a:p>
          <a:p>
            <a:pPr lvl="1"/>
            <a:r>
              <a:t>Full capstone documentation — architecture, literature synthesis (42 IEEE refs), accuracy benchmarking, and implementation analysis.</a:t>
            </a:r>
          </a:p>
          <a:p>
            <a:pPr>
              <a:defRPr b="1"/>
            </a:pPr>
            <a:r>
              <a:t>Submitted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/ Project Development Timeline</a:t>
            </a:r>
          </a:p>
          <a:p>
            <a:r>
              <a:t>Execution plan — 3-month sprint to MVP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/ References</a:t>
            </a:r>
          </a:p>
          <a:p>
            <a:r>
              <a:t>Key citations — full bibliography in literature_review.md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/>
            <a:r>
              <a:t>Full 42-reference IEEE bibliography available at: research_materials/literature_review.md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