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457200"/>
          </a:xfrm>
          <a:prstGeom prst="rect">
            <a:avLst/>
          </a:prstGeom>
          <a:noFill/>
        </p:spPr>
        <p:txBody>
          <a:bodyPr wrap="square">
            <a:spAutoFit/>
          </a:bodyPr>
          <a:lstStyle/>
          <a:p>
            <a:pPr algn="l">
              <a:defRPr sz="1400" b="1">
                <a:solidFill>
                  <a:srgbClr val="00B4D8"/>
                </a:solidFill>
                <a:latin typeface="Calibri"/>
              </a:defRPr>
            </a:pPr>
            <a:r>
              <a:t>Project Review-II Presentation</a:t>
            </a:r>
          </a:p>
        </p:txBody>
      </p:sp>
      <p:sp>
        <p:nvSpPr>
          <p:cNvPr id="4" name="TextBox 3"/>
          <p:cNvSpPr txBox="1"/>
          <p:nvPr/>
        </p:nvSpPr>
        <p:spPr>
          <a:xfrm>
            <a:off x="457200" y="1097280"/>
            <a:ext cx="10972800" cy="1371600"/>
          </a:xfrm>
          <a:prstGeom prst="rect">
            <a:avLst/>
          </a:prstGeom>
          <a:noFill/>
        </p:spPr>
        <p:txBody>
          <a:bodyPr wrap="square">
            <a:spAutoFit/>
          </a:bodyPr>
          <a:lstStyle/>
          <a:p>
            <a:pPr algn="l">
              <a:defRPr sz="4400" b="1">
                <a:solidFill>
                  <a:srgbClr val="FFFFFF"/>
                </a:solidFill>
                <a:latin typeface="Calibri"/>
              </a:defRPr>
            </a:pPr>
            <a:r>
              <a:t>Aarogya Sathi (आरोग्य साथी)</a:t>
            </a:r>
          </a:p>
        </p:txBody>
      </p:sp>
      <p:sp>
        <p:nvSpPr>
          <p:cNvPr id="5" name="TextBox 4"/>
          <p:cNvSpPr txBox="1"/>
          <p:nvPr/>
        </p:nvSpPr>
        <p:spPr>
          <a:xfrm>
            <a:off x="457200" y="2286000"/>
            <a:ext cx="10972800" cy="640080"/>
          </a:xfrm>
          <a:prstGeom prst="rect">
            <a:avLst/>
          </a:prstGeom>
          <a:noFill/>
        </p:spPr>
        <p:txBody>
          <a:bodyPr wrap="square">
            <a:spAutoFit/>
          </a:bodyPr>
          <a:lstStyle/>
          <a:p>
            <a:pPr algn="l">
              <a:defRPr sz="2200" b="0">
                <a:solidFill>
                  <a:srgbClr val="B0BEC5"/>
                </a:solidFill>
                <a:latin typeface="Calibri"/>
              </a:defRPr>
            </a:pPr>
            <a:r>
              <a:t>AI-Powered, Vernacular-First, Environment-Aware Digital Health Assistant</a:t>
            </a:r>
            <a:br/>
            <a:r>
              <a:t>for Preventive NCD Management in Urban India</a:t>
            </a:r>
          </a:p>
        </p:txBody>
      </p:sp>
      <p:sp>
        <p:nvSpPr>
          <p:cNvPr id="6" name="TextBox 5"/>
          <p:cNvSpPr txBox="1"/>
          <p:nvPr/>
        </p:nvSpPr>
        <p:spPr>
          <a:xfrm>
            <a:off x="457200" y="3474720"/>
            <a:ext cx="5486400" cy="365760"/>
          </a:xfrm>
          <a:prstGeom prst="rect">
            <a:avLst/>
          </a:prstGeom>
          <a:noFill/>
        </p:spPr>
        <p:txBody>
          <a:bodyPr wrap="square">
            <a:spAutoFit/>
          </a:bodyPr>
          <a:lstStyle/>
          <a:p>
            <a:pPr algn="l">
              <a:defRPr sz="1400" b="1">
                <a:solidFill>
                  <a:srgbClr val="00B4D8"/>
                </a:solidFill>
                <a:latin typeface="Calibri"/>
              </a:defRPr>
            </a:pPr>
            <a:r>
              <a:t>Team</a:t>
            </a:r>
          </a:p>
        </p:txBody>
      </p:sp>
      <p:sp>
        <p:nvSpPr>
          <p:cNvPr id="7" name="TextBox 6"/>
          <p:cNvSpPr txBox="1"/>
          <p:nvPr/>
        </p:nvSpPr>
        <p:spPr>
          <a:xfrm>
            <a:off x="457200" y="3840480"/>
            <a:ext cx="5486400" cy="1371600"/>
          </a:xfrm>
          <a:prstGeom prst="rect">
            <a:avLst/>
          </a:prstGeom>
          <a:noFill/>
        </p:spPr>
        <p:txBody>
          <a:bodyPr wrap="square">
            <a:spAutoFit/>
          </a:bodyPr>
          <a:lstStyle/>
          <a:p>
            <a:pPr>
              <a:spcAft>
                <a:spcPts val="600"/>
              </a:spcAft>
              <a:defRPr sz="1600">
                <a:solidFill>
                  <a:srgbClr val="FFFFFF"/>
                </a:solidFill>
                <a:latin typeface="Calibri"/>
              </a:defRPr>
            </a:pPr>
            <a:r>
              <a:t>1.  Jayesh Patil (C233) — RAG &amp; LLM Pipeline</a:t>
            </a:r>
          </a:p>
          <a:p>
            <a:pPr>
              <a:spcAft>
                <a:spcPts val="600"/>
              </a:spcAft>
              <a:defRPr sz="1600">
                <a:solidFill>
                  <a:srgbClr val="FFFFFF"/>
                </a:solidFill>
                <a:latin typeface="Calibri"/>
              </a:defRPr>
            </a:pPr>
            <a:r>
              <a:t>2.  Abhijit Patil (C263) — Backend &amp; Integration</a:t>
            </a:r>
          </a:p>
          <a:p>
            <a:pPr>
              <a:spcAft>
                <a:spcPts val="600"/>
              </a:spcAft>
              <a:defRPr sz="1600">
                <a:solidFill>
                  <a:srgbClr val="FFFFFF"/>
                </a:solidFill>
                <a:latin typeface="Calibri"/>
              </a:defRPr>
            </a:pPr>
            <a:r>
              <a:t>3.  Ritesh Pawar (C276) — Frontend &amp; Mobile</a:t>
            </a:r>
          </a:p>
        </p:txBody>
      </p:sp>
      <p:sp>
        <p:nvSpPr>
          <p:cNvPr id="8" name="TextBox 7"/>
          <p:cNvSpPr txBox="1"/>
          <p:nvPr/>
        </p:nvSpPr>
        <p:spPr>
          <a:xfrm>
            <a:off x="457200" y="5120640"/>
            <a:ext cx="5486400" cy="365760"/>
          </a:xfrm>
          <a:prstGeom prst="rect">
            <a:avLst/>
          </a:prstGeom>
          <a:noFill/>
        </p:spPr>
        <p:txBody>
          <a:bodyPr wrap="square">
            <a:spAutoFit/>
          </a:bodyPr>
          <a:lstStyle/>
          <a:p>
            <a:pPr algn="l">
              <a:defRPr sz="1400" b="1">
                <a:solidFill>
                  <a:srgbClr val="00B4D8"/>
                </a:solidFill>
                <a:latin typeface="Calibri"/>
              </a:defRPr>
            </a:pPr>
            <a:r>
              <a:t>Under the Guidance of</a:t>
            </a:r>
          </a:p>
        </p:txBody>
      </p:sp>
      <p:sp>
        <p:nvSpPr>
          <p:cNvPr id="9" name="TextBox 8"/>
          <p:cNvSpPr txBox="1"/>
          <p:nvPr/>
        </p:nvSpPr>
        <p:spPr>
          <a:xfrm>
            <a:off x="457200" y="5486400"/>
            <a:ext cx="5486400" cy="365760"/>
          </a:xfrm>
          <a:prstGeom prst="rect">
            <a:avLst/>
          </a:prstGeom>
          <a:noFill/>
        </p:spPr>
        <p:txBody>
          <a:bodyPr wrap="square">
            <a:spAutoFit/>
          </a:bodyPr>
          <a:lstStyle/>
          <a:p>
            <a:pPr algn="l">
              <a:defRPr sz="1800" b="1">
                <a:solidFill>
                  <a:srgbClr val="FFFFFF"/>
                </a:solidFill>
                <a:latin typeface="Calibri"/>
              </a:defRPr>
            </a:pPr>
            <a:r>
              <a:t>Dr. Atul V. Dusane</a:t>
            </a:r>
          </a:p>
        </p:txBody>
      </p:sp>
      <p:sp>
        <p:nvSpPr>
          <p:cNvPr id="10" name="Rectangle 9"/>
          <p:cNvSpPr/>
          <p:nvPr/>
        </p:nvSpPr>
        <p:spPr>
          <a:xfrm>
            <a:off x="0" y="6492240"/>
            <a:ext cx="12191695" cy="36576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10528"/>
            <a:ext cx="5486400" cy="320040"/>
          </a:xfrm>
          <a:prstGeom prst="rect">
            <a:avLst/>
          </a:prstGeom>
          <a:noFill/>
        </p:spPr>
        <p:txBody>
          <a:bodyPr wrap="square">
            <a:spAutoFit/>
          </a:bodyPr>
          <a:lstStyle/>
          <a:p>
            <a:pPr algn="l">
              <a:defRPr sz="900" b="0">
                <a:solidFill>
                  <a:srgbClr val="B0BEC5"/>
                </a:solidFill>
                <a:latin typeface="Calibri"/>
              </a:defRPr>
            </a:pPr>
            <a:r>
              <a:t>MPSTME, SVKM's NMIMS Shirpur | Dept. of IT/AIML | 2026-27</a:t>
            </a:r>
          </a:p>
        </p:txBody>
      </p:sp>
      <p:sp>
        <p:nvSpPr>
          <p:cNvPr id="12" name="TextBox 11"/>
          <p:cNvSpPr txBox="1"/>
          <p:nvPr/>
        </p:nvSpPr>
        <p:spPr>
          <a:xfrm>
            <a:off x="11430000" y="6400800"/>
            <a:ext cx="731520" cy="365760"/>
          </a:xfrm>
          <a:prstGeom prst="rect">
            <a:avLst/>
          </a:prstGeom>
          <a:noFill/>
        </p:spPr>
        <p:txBody>
          <a:bodyPr wrap="square">
            <a:spAutoFit/>
          </a:bodyPr>
          <a:lstStyle/>
          <a:p>
            <a:pPr algn="r">
              <a:defRPr sz="1000" b="0">
                <a:solidFill>
                  <a:srgbClr val="B0BEC5"/>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3600" b="1">
                <a:solidFill>
                  <a:srgbClr val="FFFFFF"/>
                </a:solidFill>
                <a:latin typeface="Calibri"/>
              </a:defRPr>
            </a:pPr>
            <a:r>
              <a:t>Outline</a:t>
            </a:r>
          </a:p>
        </p:txBody>
      </p:sp>
      <p:sp>
        <p:nvSpPr>
          <p:cNvPr id="3" name="TextBox 2"/>
          <p:cNvSpPr txBox="1"/>
          <p:nvPr/>
        </p:nvSpPr>
        <p:spPr>
          <a:xfrm>
            <a:off x="731520" y="1188720"/>
            <a:ext cx="10058400" cy="5029200"/>
          </a:xfrm>
          <a:prstGeom prst="rect">
            <a:avLst/>
          </a:prstGeom>
          <a:noFill/>
        </p:spPr>
        <p:txBody>
          <a:bodyPr wrap="square">
            <a:spAutoFit/>
          </a:bodyPr>
          <a:lstStyle/>
          <a:p>
            <a:pPr>
              <a:spcAft>
                <a:spcPts val="600"/>
              </a:spcAft>
              <a:defRPr sz="2200">
                <a:solidFill>
                  <a:srgbClr val="FFFFFF"/>
                </a:solidFill>
                <a:latin typeface="Calibri"/>
              </a:defRPr>
            </a:pPr>
            <a:r>
              <a:t>1.  Introduction &amp; Motivation</a:t>
            </a:r>
          </a:p>
          <a:p>
            <a:pPr>
              <a:spcAft>
                <a:spcPts val="600"/>
              </a:spcAft>
              <a:defRPr sz="2200">
                <a:solidFill>
                  <a:srgbClr val="FFFFFF"/>
                </a:solidFill>
                <a:latin typeface="Calibri"/>
              </a:defRPr>
            </a:pPr>
            <a:r>
              <a:t>2.  Literature Review — 42 IEEE papers reviewed</a:t>
            </a:r>
          </a:p>
          <a:p>
            <a:pPr>
              <a:spcAft>
                <a:spcPts val="600"/>
              </a:spcAft>
              <a:defRPr sz="2200">
                <a:solidFill>
                  <a:srgbClr val="FFFFFF"/>
                </a:solidFill>
                <a:latin typeface="Calibri"/>
              </a:defRPr>
            </a:pPr>
            <a:r>
              <a:t>3.  Problem Statement &amp; SDGs</a:t>
            </a:r>
          </a:p>
          <a:p>
            <a:pPr>
              <a:spcAft>
                <a:spcPts val="600"/>
              </a:spcAft>
              <a:defRPr sz="2200">
                <a:solidFill>
                  <a:srgbClr val="FFFFFF"/>
                </a:solidFill>
                <a:latin typeface="Calibri"/>
              </a:defRPr>
            </a:pPr>
            <a:r>
              <a:t>4.  Objectives</a:t>
            </a:r>
          </a:p>
          <a:p>
            <a:pPr>
              <a:spcAft>
                <a:spcPts val="600"/>
              </a:spcAft>
              <a:defRPr sz="2200">
                <a:solidFill>
                  <a:srgbClr val="FFFFFF"/>
                </a:solidFill>
                <a:latin typeface="Calibri"/>
              </a:defRPr>
            </a:pPr>
            <a:r>
              <a:t>5.  System Architecture — OKF + CRAG Hybrid Pipeline</a:t>
            </a:r>
          </a:p>
          <a:p>
            <a:pPr>
              <a:spcAft>
                <a:spcPts val="600"/>
              </a:spcAft>
              <a:defRPr sz="2200">
                <a:solidFill>
                  <a:srgbClr val="FFFFFF"/>
                </a:solidFill>
                <a:latin typeface="Calibri"/>
              </a:defRPr>
            </a:pPr>
            <a:r>
              <a:t>6.  Implementation Progress — 55% complete</a:t>
            </a:r>
          </a:p>
          <a:p>
            <a:pPr>
              <a:spcAft>
                <a:spcPts val="600"/>
              </a:spcAft>
              <a:defRPr sz="2200">
                <a:solidFill>
                  <a:srgbClr val="FFFFFF"/>
                </a:solidFill>
                <a:latin typeface="Calibri"/>
              </a:defRPr>
            </a:pPr>
            <a:r>
              <a:t>7.  Interim Results &amp; Demo</a:t>
            </a:r>
          </a:p>
          <a:p>
            <a:pPr>
              <a:spcAft>
                <a:spcPts val="600"/>
              </a:spcAft>
              <a:defRPr sz="2200">
                <a:solidFill>
                  <a:srgbClr val="FFFFFF"/>
                </a:solidFill>
                <a:latin typeface="Calibri"/>
              </a:defRPr>
            </a:pPr>
            <a:r>
              <a:t>8.  Future Work</a:t>
            </a:r>
          </a:p>
          <a:p>
            <a:pPr>
              <a:spcAft>
                <a:spcPts val="600"/>
              </a:spcAft>
              <a:defRPr sz="2200">
                <a:solidFill>
                  <a:srgbClr val="FFFFFF"/>
                </a:solidFill>
                <a:latin typeface="Calibri"/>
              </a:defRPr>
            </a:pPr>
            <a:r>
              <a:t>9.  References</a:t>
            </a:r>
          </a:p>
        </p:txBody>
      </p:sp>
      <p:sp>
        <p:nvSpPr>
          <p:cNvPr id="4" name="Rectangle 3"/>
          <p:cNvSpPr/>
          <p:nvPr/>
        </p:nvSpPr>
        <p:spPr>
          <a:xfrm>
            <a:off x="0" y="6492240"/>
            <a:ext cx="12191695" cy="36576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10528"/>
            <a:ext cx="5486400" cy="320040"/>
          </a:xfrm>
          <a:prstGeom prst="rect">
            <a:avLst/>
          </a:prstGeom>
          <a:noFill/>
        </p:spPr>
        <p:txBody>
          <a:bodyPr wrap="square">
            <a:spAutoFit/>
          </a:bodyPr>
          <a:lstStyle/>
          <a:p>
            <a:pPr algn="l">
              <a:defRPr sz="900" b="0">
                <a:solidFill>
                  <a:srgbClr val="B0BEC5"/>
                </a:solidFill>
                <a:latin typeface="Calibri"/>
              </a:defRPr>
            </a:pPr>
            <a:r>
              <a:t>MPSTME, SVKM's NMIMS Shirpur | Dept. of IT/AIML | 2026-27</a:t>
            </a:r>
          </a:p>
        </p:txBody>
      </p:sp>
      <p:sp>
        <p:nvSpPr>
          <p:cNvPr id="6" name="TextBox 5"/>
          <p:cNvSpPr txBox="1"/>
          <p:nvPr/>
        </p:nvSpPr>
        <p:spPr>
          <a:xfrm>
            <a:off x="11430000" y="6400800"/>
            <a:ext cx="731520" cy="365760"/>
          </a:xfrm>
          <a:prstGeom prst="rect">
            <a:avLst/>
          </a:prstGeom>
          <a:noFill/>
        </p:spPr>
        <p:txBody>
          <a:bodyPr wrap="square">
            <a:spAutoFit/>
          </a:bodyPr>
          <a:lstStyle/>
          <a:p>
            <a:pPr algn="r">
              <a:defRPr sz="1000" b="0">
                <a:solidFill>
                  <a:srgbClr val="B0BEC5"/>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3600" b="1">
                <a:solidFill>
                  <a:srgbClr val="FFFFFF"/>
                </a:solidFill>
                <a:latin typeface="Calibri"/>
              </a:defRPr>
            </a:pPr>
            <a:r>
              <a:t>Introduction &amp; Motivation</a:t>
            </a:r>
          </a:p>
        </p:txBody>
      </p:sp>
      <p:sp>
        <p:nvSpPr>
          <p:cNvPr id="3" name="Rounded Rectangle 2"/>
          <p:cNvSpPr/>
          <p:nvPr/>
        </p:nvSpPr>
        <p:spPr>
          <a:xfrm>
            <a:off x="457200" y="1188720"/>
            <a:ext cx="2651760" cy="182880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2286000" cy="731520"/>
          </a:xfrm>
          <a:prstGeom prst="rect">
            <a:avLst/>
          </a:prstGeom>
          <a:noFill/>
        </p:spPr>
        <p:txBody>
          <a:bodyPr wrap="square">
            <a:spAutoFit/>
          </a:bodyPr>
          <a:lstStyle/>
          <a:p>
            <a:pPr algn="ctr">
              <a:defRPr sz="3600" b="1">
                <a:solidFill>
                  <a:srgbClr val="00B4D8"/>
                </a:solidFill>
                <a:latin typeface="Calibri"/>
              </a:defRPr>
            </a:pPr>
            <a:r>
              <a:t>63%</a:t>
            </a:r>
          </a:p>
        </p:txBody>
      </p:sp>
      <p:sp>
        <p:nvSpPr>
          <p:cNvPr id="5" name="TextBox 4"/>
          <p:cNvSpPr txBox="1"/>
          <p:nvPr/>
        </p:nvSpPr>
        <p:spPr>
          <a:xfrm>
            <a:off x="640080" y="2103120"/>
            <a:ext cx="2286000" cy="731520"/>
          </a:xfrm>
          <a:prstGeom prst="rect">
            <a:avLst/>
          </a:prstGeom>
          <a:noFill/>
        </p:spPr>
        <p:txBody>
          <a:bodyPr wrap="square">
            <a:spAutoFit/>
          </a:bodyPr>
          <a:lstStyle/>
          <a:p>
            <a:pPr algn="ctr">
              <a:defRPr sz="1400" b="0">
                <a:solidFill>
                  <a:srgbClr val="B0BEC5"/>
                </a:solidFill>
                <a:latin typeface="Calibri"/>
              </a:defRPr>
            </a:pPr>
            <a:r>
              <a:t>of Indian deaths</a:t>
            </a:r>
            <a:br/>
            <a:r>
              <a:t>caused by NCDs [1]</a:t>
            </a:r>
          </a:p>
        </p:txBody>
      </p:sp>
      <p:sp>
        <p:nvSpPr>
          <p:cNvPr id="6" name="Rounded Rectangle 5"/>
          <p:cNvSpPr/>
          <p:nvPr/>
        </p:nvSpPr>
        <p:spPr>
          <a:xfrm>
            <a:off x="3337560" y="1188720"/>
            <a:ext cx="2651760" cy="182880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20440" y="1371600"/>
            <a:ext cx="2286000" cy="731520"/>
          </a:xfrm>
          <a:prstGeom prst="rect">
            <a:avLst/>
          </a:prstGeom>
          <a:noFill/>
        </p:spPr>
        <p:txBody>
          <a:bodyPr wrap="square">
            <a:spAutoFit/>
          </a:bodyPr>
          <a:lstStyle/>
          <a:p>
            <a:pPr algn="ctr">
              <a:defRPr sz="3600" b="1">
                <a:solidFill>
                  <a:srgbClr val="F39C12"/>
                </a:solidFill>
                <a:latin typeface="Calibri"/>
              </a:defRPr>
            </a:pPr>
            <a:r>
              <a:t>4.2M</a:t>
            </a:r>
          </a:p>
        </p:txBody>
      </p:sp>
      <p:sp>
        <p:nvSpPr>
          <p:cNvPr id="8" name="TextBox 7"/>
          <p:cNvSpPr txBox="1"/>
          <p:nvPr/>
        </p:nvSpPr>
        <p:spPr>
          <a:xfrm>
            <a:off x="3520440" y="2103120"/>
            <a:ext cx="2286000" cy="731520"/>
          </a:xfrm>
          <a:prstGeom prst="rect">
            <a:avLst/>
          </a:prstGeom>
          <a:noFill/>
        </p:spPr>
        <p:txBody>
          <a:bodyPr wrap="square">
            <a:spAutoFit/>
          </a:bodyPr>
          <a:lstStyle/>
          <a:p>
            <a:pPr algn="ctr">
              <a:defRPr sz="1400" b="0">
                <a:solidFill>
                  <a:srgbClr val="B0BEC5"/>
                </a:solidFill>
                <a:latin typeface="Calibri"/>
              </a:defRPr>
            </a:pPr>
            <a:r>
              <a:t>premature deaths</a:t>
            </a:r>
            <a:br/>
            <a:r>
              <a:t>from PM2.5 globally [9]</a:t>
            </a:r>
          </a:p>
        </p:txBody>
      </p:sp>
      <p:sp>
        <p:nvSpPr>
          <p:cNvPr id="9" name="Rounded Rectangle 8"/>
          <p:cNvSpPr/>
          <p:nvPr/>
        </p:nvSpPr>
        <p:spPr>
          <a:xfrm>
            <a:off x="6217920" y="1188720"/>
            <a:ext cx="2651760" cy="182880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371600"/>
            <a:ext cx="2286000" cy="731520"/>
          </a:xfrm>
          <a:prstGeom prst="rect">
            <a:avLst/>
          </a:prstGeom>
          <a:noFill/>
        </p:spPr>
        <p:txBody>
          <a:bodyPr wrap="square">
            <a:spAutoFit/>
          </a:bodyPr>
          <a:lstStyle/>
          <a:p>
            <a:pPr algn="ctr">
              <a:defRPr sz="3600" b="1">
                <a:solidFill>
                  <a:srgbClr val="E74C3C"/>
                </a:solidFill>
                <a:latin typeface="Calibri"/>
              </a:defRPr>
            </a:pPr>
            <a:r>
              <a:t>1:1,400</a:t>
            </a:r>
          </a:p>
        </p:txBody>
      </p:sp>
      <p:sp>
        <p:nvSpPr>
          <p:cNvPr id="11" name="TextBox 10"/>
          <p:cNvSpPr txBox="1"/>
          <p:nvPr/>
        </p:nvSpPr>
        <p:spPr>
          <a:xfrm>
            <a:off x="6400800" y="2103120"/>
            <a:ext cx="2286000" cy="731520"/>
          </a:xfrm>
          <a:prstGeom prst="rect">
            <a:avLst/>
          </a:prstGeom>
          <a:noFill/>
        </p:spPr>
        <p:txBody>
          <a:bodyPr wrap="square">
            <a:spAutoFit/>
          </a:bodyPr>
          <a:lstStyle/>
          <a:p>
            <a:pPr algn="ctr">
              <a:defRPr sz="1400" b="0">
                <a:solidFill>
                  <a:srgbClr val="B0BEC5"/>
                </a:solidFill>
                <a:latin typeface="Calibri"/>
              </a:defRPr>
            </a:pPr>
            <a:r>
              <a:t>doctor-patient ratio</a:t>
            </a:r>
            <a:br/>
            <a:r>
              <a:t>in rural India [WHO]</a:t>
            </a:r>
          </a:p>
        </p:txBody>
      </p:sp>
      <p:sp>
        <p:nvSpPr>
          <p:cNvPr id="12" name="Rounded Rectangle 11"/>
          <p:cNvSpPr/>
          <p:nvPr/>
        </p:nvSpPr>
        <p:spPr>
          <a:xfrm>
            <a:off x="9098280" y="1188720"/>
            <a:ext cx="2651760" cy="182880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81159" y="1371600"/>
            <a:ext cx="2286000" cy="731520"/>
          </a:xfrm>
          <a:prstGeom prst="rect">
            <a:avLst/>
          </a:prstGeom>
          <a:noFill/>
        </p:spPr>
        <p:txBody>
          <a:bodyPr wrap="square">
            <a:spAutoFit/>
          </a:bodyPr>
          <a:lstStyle/>
          <a:p>
            <a:pPr algn="ctr">
              <a:defRPr sz="3600" b="1">
                <a:solidFill>
                  <a:srgbClr val="2ECC71"/>
                </a:solidFill>
                <a:latin typeface="Calibri"/>
              </a:defRPr>
            </a:pPr>
            <a:r>
              <a:t>14.3:1</a:t>
            </a:r>
          </a:p>
        </p:txBody>
      </p:sp>
      <p:sp>
        <p:nvSpPr>
          <p:cNvPr id="14" name="TextBox 13"/>
          <p:cNvSpPr txBox="1"/>
          <p:nvPr/>
        </p:nvSpPr>
        <p:spPr>
          <a:xfrm>
            <a:off x="9281159" y="2103120"/>
            <a:ext cx="2286000" cy="731520"/>
          </a:xfrm>
          <a:prstGeom prst="rect">
            <a:avLst/>
          </a:prstGeom>
          <a:noFill/>
        </p:spPr>
        <p:txBody>
          <a:bodyPr wrap="square">
            <a:spAutoFit/>
          </a:bodyPr>
          <a:lstStyle/>
          <a:p>
            <a:pPr algn="ctr">
              <a:defRPr sz="1400" b="0">
                <a:solidFill>
                  <a:srgbClr val="B0BEC5"/>
                </a:solidFill>
                <a:latin typeface="Calibri"/>
              </a:defRPr>
            </a:pPr>
            <a:r>
              <a:t>ROI of preventive</a:t>
            </a:r>
            <a:br/>
            <a:r>
              <a:t>health interventions [18]</a:t>
            </a:r>
          </a:p>
        </p:txBody>
      </p:sp>
      <p:sp>
        <p:nvSpPr>
          <p:cNvPr id="15" name="TextBox 14"/>
          <p:cNvSpPr txBox="1"/>
          <p:nvPr/>
        </p:nvSpPr>
        <p:spPr>
          <a:xfrm>
            <a:off x="457200" y="3474720"/>
            <a:ext cx="10972800" cy="365760"/>
          </a:xfrm>
          <a:prstGeom prst="rect">
            <a:avLst/>
          </a:prstGeom>
          <a:noFill/>
        </p:spPr>
        <p:txBody>
          <a:bodyPr wrap="square">
            <a:spAutoFit/>
          </a:bodyPr>
          <a:lstStyle/>
          <a:p>
            <a:pPr algn="l">
              <a:defRPr sz="2000" b="1">
                <a:solidFill>
                  <a:srgbClr val="00B4D8"/>
                </a:solidFill>
                <a:latin typeface="Calibri"/>
              </a:defRPr>
            </a:pPr>
            <a:r>
              <a:t>The Gap</a:t>
            </a:r>
          </a:p>
        </p:txBody>
      </p:sp>
      <p:sp>
        <p:nvSpPr>
          <p:cNvPr id="16" name="TextBox 15"/>
          <p:cNvSpPr txBox="1"/>
          <p:nvPr/>
        </p:nvSpPr>
        <p:spPr>
          <a:xfrm>
            <a:off x="457200" y="3931920"/>
            <a:ext cx="10972800" cy="2286000"/>
          </a:xfrm>
          <a:prstGeom prst="rect">
            <a:avLst/>
          </a:prstGeom>
          <a:noFill/>
        </p:spPr>
        <p:txBody>
          <a:bodyPr wrap="square">
            <a:spAutoFit/>
          </a:bodyPr>
          <a:lstStyle/>
          <a:p>
            <a:pPr>
              <a:spcAft>
                <a:spcPts val="600"/>
              </a:spcAft>
              <a:defRPr sz="1600">
                <a:solidFill>
                  <a:srgbClr val="FFFFFF"/>
                </a:solidFill>
                <a:latin typeface="Calibri"/>
              </a:defRPr>
            </a:pPr>
            <a:r>
              <a:t>• Existing health apps (Practo, 1mg) focus on doctor booking, not preventive intelligence</a:t>
            </a:r>
          </a:p>
          <a:p>
            <a:pPr>
              <a:spcAft>
                <a:spcPts val="600"/>
              </a:spcAft>
              <a:defRPr sz="1600">
                <a:solidFill>
                  <a:srgbClr val="FFFFFF"/>
                </a:solidFill>
                <a:latin typeface="Calibri"/>
              </a:defRPr>
            </a:pPr>
            <a:r>
              <a:t>• No Indian platform combines AQI data + chronic disease management + vernacular AI</a:t>
            </a:r>
          </a:p>
          <a:p>
            <a:pPr>
              <a:spcAft>
                <a:spcPts val="600"/>
              </a:spcAft>
              <a:defRPr sz="1600">
                <a:solidFill>
                  <a:srgbClr val="FFFFFF"/>
                </a:solidFill>
                <a:latin typeface="Calibri"/>
              </a:defRPr>
            </a:pPr>
            <a:r>
              <a:t>• Standard LLMs hallucinate medical facts — unsafe without retrieval grounding</a:t>
            </a:r>
          </a:p>
          <a:p>
            <a:pPr>
              <a:spcAft>
                <a:spcPts val="600"/>
              </a:spcAft>
              <a:defRPr sz="1600">
                <a:solidFill>
                  <a:srgbClr val="FFFFFF"/>
                </a:solidFill>
                <a:latin typeface="Calibri"/>
              </a:defRPr>
            </a:pPr>
            <a:r>
              <a:t>• 90% of Indians do not speak English as a primary language [Census 2011]</a:t>
            </a:r>
          </a:p>
          <a:p>
            <a:pPr>
              <a:spcAft>
                <a:spcPts val="600"/>
              </a:spcAft>
              <a:defRPr sz="1600">
                <a:solidFill>
                  <a:srgbClr val="FFFFFF"/>
                </a:solidFill>
                <a:latin typeface="Calibri"/>
              </a:defRPr>
            </a:pPr>
            <a:r>
              <a:t>• India's DPDP Act 2023 mandates strict data sovereignty — most apps non-compliant</a:t>
            </a:r>
          </a:p>
        </p:txBody>
      </p:sp>
      <p:sp>
        <p:nvSpPr>
          <p:cNvPr id="17" name="Rectangle 16"/>
          <p:cNvSpPr/>
          <p:nvPr/>
        </p:nvSpPr>
        <p:spPr>
          <a:xfrm>
            <a:off x="0" y="6492240"/>
            <a:ext cx="12191695" cy="36576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6510528"/>
            <a:ext cx="5486400" cy="320040"/>
          </a:xfrm>
          <a:prstGeom prst="rect">
            <a:avLst/>
          </a:prstGeom>
          <a:noFill/>
        </p:spPr>
        <p:txBody>
          <a:bodyPr wrap="square">
            <a:spAutoFit/>
          </a:bodyPr>
          <a:lstStyle/>
          <a:p>
            <a:pPr algn="l">
              <a:defRPr sz="900" b="0">
                <a:solidFill>
                  <a:srgbClr val="B0BEC5"/>
                </a:solidFill>
                <a:latin typeface="Calibri"/>
              </a:defRPr>
            </a:pPr>
            <a:r>
              <a:t>MPSTME, SVKM's NMIMS Shirpur | Dept. of IT/AIML | 2026-27</a:t>
            </a:r>
          </a:p>
        </p:txBody>
      </p:sp>
      <p:sp>
        <p:nvSpPr>
          <p:cNvPr id="19" name="TextBox 18"/>
          <p:cNvSpPr txBox="1"/>
          <p:nvPr/>
        </p:nvSpPr>
        <p:spPr>
          <a:xfrm>
            <a:off x="11430000" y="6400800"/>
            <a:ext cx="731520" cy="365760"/>
          </a:xfrm>
          <a:prstGeom prst="rect">
            <a:avLst/>
          </a:prstGeom>
          <a:noFill/>
        </p:spPr>
        <p:txBody>
          <a:bodyPr wrap="square">
            <a:spAutoFit/>
          </a:bodyPr>
          <a:lstStyle/>
          <a:p>
            <a:pPr algn="r">
              <a:defRPr sz="1000" b="0">
                <a:solidFill>
                  <a:srgbClr val="B0BEC5"/>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3200" b="1">
                <a:solidFill>
                  <a:srgbClr val="FFFFFF"/>
                </a:solidFill>
                <a:latin typeface="Calibri"/>
              </a:defRPr>
            </a:pPr>
            <a:r>
              <a:t>Literature Review — 42 Papers Across 7 Pillars</a:t>
            </a:r>
          </a:p>
        </p:txBody>
      </p:sp>
      <p:sp>
        <p:nvSpPr>
          <p:cNvPr id="3" name="Rounded Rectangle 2"/>
          <p:cNvSpPr/>
          <p:nvPr/>
        </p:nvSpPr>
        <p:spPr>
          <a:xfrm>
            <a:off x="457200" y="1097280"/>
            <a:ext cx="11247120" cy="6400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1828800" cy="548640"/>
          </a:xfrm>
          <a:prstGeom prst="rect">
            <a:avLst/>
          </a:prstGeom>
          <a:noFill/>
        </p:spPr>
        <p:txBody>
          <a:bodyPr wrap="square">
            <a:spAutoFit/>
          </a:bodyPr>
          <a:lstStyle/>
          <a:p>
            <a:pPr algn="l">
              <a:defRPr sz="1400" b="1">
                <a:solidFill>
                  <a:srgbClr val="00B4D8"/>
                </a:solidFill>
                <a:latin typeface="Calibri"/>
              </a:defRPr>
            </a:pPr>
            <a:r>
              <a:t>NCD Burden</a:t>
            </a:r>
          </a:p>
        </p:txBody>
      </p:sp>
      <p:sp>
        <p:nvSpPr>
          <p:cNvPr id="5" name="TextBox 4"/>
          <p:cNvSpPr txBox="1"/>
          <p:nvPr/>
        </p:nvSpPr>
        <p:spPr>
          <a:xfrm>
            <a:off x="2560320" y="1143000"/>
            <a:ext cx="2743200" cy="548640"/>
          </a:xfrm>
          <a:prstGeom prst="rect">
            <a:avLst/>
          </a:prstGeom>
          <a:noFill/>
        </p:spPr>
        <p:txBody>
          <a:bodyPr wrap="square">
            <a:spAutoFit/>
          </a:bodyPr>
          <a:lstStyle/>
          <a:p>
            <a:pPr algn="l">
              <a:defRPr sz="1200" b="0">
                <a:solidFill>
                  <a:srgbClr val="B0BEC5"/>
                </a:solidFill>
                <a:latin typeface="Calibri"/>
              </a:defRPr>
            </a:pPr>
            <a:r>
              <a:t>GBD 2019, Lancet [1-7]</a:t>
            </a:r>
          </a:p>
        </p:txBody>
      </p:sp>
      <p:sp>
        <p:nvSpPr>
          <p:cNvPr id="6" name="TextBox 5"/>
          <p:cNvSpPr txBox="1"/>
          <p:nvPr/>
        </p:nvSpPr>
        <p:spPr>
          <a:xfrm>
            <a:off x="5303520" y="1143000"/>
            <a:ext cx="6400800" cy="548640"/>
          </a:xfrm>
          <a:prstGeom prst="rect">
            <a:avLst/>
          </a:prstGeom>
          <a:noFill/>
        </p:spPr>
        <p:txBody>
          <a:bodyPr wrap="square">
            <a:spAutoFit/>
          </a:bodyPr>
          <a:lstStyle/>
          <a:p>
            <a:pPr algn="l">
              <a:defRPr sz="1300" b="0">
                <a:solidFill>
                  <a:srgbClr val="FFFFFF"/>
                </a:solidFill>
                <a:latin typeface="Calibri"/>
              </a:defRPr>
            </a:pPr>
            <a:r>
              <a:t>NCDs = 63% of deaths in India; 523M CVD cases globally</a:t>
            </a:r>
          </a:p>
        </p:txBody>
      </p:sp>
      <p:sp>
        <p:nvSpPr>
          <p:cNvPr id="7" name="Rounded Rectangle 6"/>
          <p:cNvSpPr/>
          <p:nvPr/>
        </p:nvSpPr>
        <p:spPr>
          <a:xfrm>
            <a:off x="457200" y="1828800"/>
            <a:ext cx="11247120" cy="6400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74519"/>
            <a:ext cx="1828800" cy="548640"/>
          </a:xfrm>
          <a:prstGeom prst="rect">
            <a:avLst/>
          </a:prstGeom>
          <a:noFill/>
        </p:spPr>
        <p:txBody>
          <a:bodyPr wrap="square">
            <a:spAutoFit/>
          </a:bodyPr>
          <a:lstStyle/>
          <a:p>
            <a:pPr algn="l">
              <a:defRPr sz="1400" b="1">
                <a:solidFill>
                  <a:srgbClr val="F39C12"/>
                </a:solidFill>
                <a:latin typeface="Calibri"/>
              </a:defRPr>
            </a:pPr>
            <a:r>
              <a:t>Air Pollution</a:t>
            </a:r>
          </a:p>
        </p:txBody>
      </p:sp>
      <p:sp>
        <p:nvSpPr>
          <p:cNvPr id="9" name="TextBox 8"/>
          <p:cNvSpPr txBox="1"/>
          <p:nvPr/>
        </p:nvSpPr>
        <p:spPr>
          <a:xfrm>
            <a:off x="2560320" y="1874519"/>
            <a:ext cx="2743200" cy="548640"/>
          </a:xfrm>
          <a:prstGeom prst="rect">
            <a:avLst/>
          </a:prstGeom>
          <a:noFill/>
        </p:spPr>
        <p:txBody>
          <a:bodyPr wrap="square">
            <a:spAutoFit/>
          </a:bodyPr>
          <a:lstStyle/>
          <a:p>
            <a:pPr algn="l">
              <a:defRPr sz="1200" b="0">
                <a:solidFill>
                  <a:srgbClr val="B0BEC5"/>
                </a:solidFill>
                <a:latin typeface="Calibri"/>
              </a:defRPr>
            </a:pPr>
            <a:r>
              <a:t>Nature, GBD [8-11]</a:t>
            </a:r>
          </a:p>
        </p:txBody>
      </p:sp>
      <p:sp>
        <p:nvSpPr>
          <p:cNvPr id="10" name="TextBox 9"/>
          <p:cNvSpPr txBox="1"/>
          <p:nvPr/>
        </p:nvSpPr>
        <p:spPr>
          <a:xfrm>
            <a:off x="5303520" y="1874519"/>
            <a:ext cx="6400800" cy="548640"/>
          </a:xfrm>
          <a:prstGeom prst="rect">
            <a:avLst/>
          </a:prstGeom>
          <a:noFill/>
        </p:spPr>
        <p:txBody>
          <a:bodyPr wrap="square">
            <a:spAutoFit/>
          </a:bodyPr>
          <a:lstStyle/>
          <a:p>
            <a:pPr algn="l">
              <a:defRPr sz="1300" b="0">
                <a:solidFill>
                  <a:srgbClr val="FFFFFF"/>
                </a:solidFill>
                <a:latin typeface="Calibri"/>
              </a:defRPr>
            </a:pPr>
            <a:r>
              <a:t>4.2M deaths from PM2.5; South Asia worst affected</a:t>
            </a:r>
          </a:p>
        </p:txBody>
      </p:sp>
      <p:sp>
        <p:nvSpPr>
          <p:cNvPr id="11" name="Rounded Rectangle 10"/>
          <p:cNvSpPr/>
          <p:nvPr/>
        </p:nvSpPr>
        <p:spPr>
          <a:xfrm>
            <a:off x="457200" y="2560320"/>
            <a:ext cx="11247120" cy="6400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606039"/>
            <a:ext cx="1828800" cy="548640"/>
          </a:xfrm>
          <a:prstGeom prst="rect">
            <a:avLst/>
          </a:prstGeom>
          <a:noFill/>
        </p:spPr>
        <p:txBody>
          <a:bodyPr wrap="square">
            <a:spAutoFit/>
          </a:bodyPr>
          <a:lstStyle/>
          <a:p>
            <a:pPr algn="l">
              <a:defRPr sz="1400" b="1">
                <a:solidFill>
                  <a:srgbClr val="2ECC71"/>
                </a:solidFill>
                <a:latin typeface="Calibri"/>
              </a:defRPr>
            </a:pPr>
            <a:r>
              <a:t>Digital Health</a:t>
            </a:r>
          </a:p>
        </p:txBody>
      </p:sp>
      <p:sp>
        <p:nvSpPr>
          <p:cNvPr id="13" name="TextBox 12"/>
          <p:cNvSpPr txBox="1"/>
          <p:nvPr/>
        </p:nvSpPr>
        <p:spPr>
          <a:xfrm>
            <a:off x="2560320" y="2606039"/>
            <a:ext cx="2743200" cy="548640"/>
          </a:xfrm>
          <a:prstGeom prst="rect">
            <a:avLst/>
          </a:prstGeom>
          <a:noFill/>
        </p:spPr>
        <p:txBody>
          <a:bodyPr wrap="square">
            <a:spAutoFit/>
          </a:bodyPr>
          <a:lstStyle/>
          <a:p>
            <a:pPr algn="l">
              <a:defRPr sz="1200" b="0">
                <a:solidFill>
                  <a:srgbClr val="B0BEC5"/>
                </a:solidFill>
                <a:latin typeface="Calibri"/>
              </a:defRPr>
            </a:pPr>
            <a:r>
              <a:t>BMJ, JMIR [14-18]</a:t>
            </a:r>
          </a:p>
        </p:txBody>
      </p:sp>
      <p:sp>
        <p:nvSpPr>
          <p:cNvPr id="14" name="TextBox 13"/>
          <p:cNvSpPr txBox="1"/>
          <p:nvPr/>
        </p:nvSpPr>
        <p:spPr>
          <a:xfrm>
            <a:off x="5303520" y="2606039"/>
            <a:ext cx="6400800" cy="548640"/>
          </a:xfrm>
          <a:prstGeom prst="rect">
            <a:avLst/>
          </a:prstGeom>
          <a:noFill/>
        </p:spPr>
        <p:txBody>
          <a:bodyPr wrap="square">
            <a:spAutoFit/>
          </a:bodyPr>
          <a:lstStyle/>
          <a:p>
            <a:pPr algn="l">
              <a:defRPr sz="1300" b="0">
                <a:solidFill>
                  <a:srgbClr val="FFFFFF"/>
                </a:solidFill>
                <a:latin typeface="Calibri"/>
              </a:defRPr>
            </a:pPr>
            <a:r>
              <a:t>14.3:1 ROI; eSanjeevani crossed 100M teleconsultations</a:t>
            </a:r>
          </a:p>
        </p:txBody>
      </p:sp>
      <p:sp>
        <p:nvSpPr>
          <p:cNvPr id="15" name="Rounded Rectangle 14"/>
          <p:cNvSpPr/>
          <p:nvPr/>
        </p:nvSpPr>
        <p:spPr>
          <a:xfrm>
            <a:off x="457200" y="3291840"/>
            <a:ext cx="11247120" cy="6400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337560"/>
            <a:ext cx="1828800" cy="548640"/>
          </a:xfrm>
          <a:prstGeom prst="rect">
            <a:avLst/>
          </a:prstGeom>
          <a:noFill/>
        </p:spPr>
        <p:txBody>
          <a:bodyPr wrap="square">
            <a:spAutoFit/>
          </a:bodyPr>
          <a:lstStyle/>
          <a:p>
            <a:pPr algn="l">
              <a:defRPr sz="1400" b="1">
                <a:solidFill>
                  <a:srgbClr val="E74C3C"/>
                </a:solidFill>
                <a:latin typeface="Calibri"/>
              </a:defRPr>
            </a:pPr>
            <a:r>
              <a:t>RAG Safety</a:t>
            </a:r>
          </a:p>
        </p:txBody>
      </p:sp>
      <p:sp>
        <p:nvSpPr>
          <p:cNvPr id="17" name="TextBox 16"/>
          <p:cNvSpPr txBox="1"/>
          <p:nvPr/>
        </p:nvSpPr>
        <p:spPr>
          <a:xfrm>
            <a:off x="2560320" y="3337560"/>
            <a:ext cx="2743200" cy="548640"/>
          </a:xfrm>
          <a:prstGeom prst="rect">
            <a:avLst/>
          </a:prstGeom>
          <a:noFill/>
        </p:spPr>
        <p:txBody>
          <a:bodyPr wrap="square">
            <a:spAutoFit/>
          </a:bodyPr>
          <a:lstStyle/>
          <a:p>
            <a:pPr algn="l">
              <a:defRPr sz="1200" b="0">
                <a:solidFill>
                  <a:srgbClr val="B0BEC5"/>
                </a:solidFill>
                <a:latin typeface="Calibri"/>
              </a:defRPr>
            </a:pPr>
            <a:r>
              <a:t>ICLR, arXiv [21-25]</a:t>
            </a:r>
          </a:p>
        </p:txBody>
      </p:sp>
      <p:sp>
        <p:nvSpPr>
          <p:cNvPr id="18" name="TextBox 17"/>
          <p:cNvSpPr txBox="1"/>
          <p:nvPr/>
        </p:nvSpPr>
        <p:spPr>
          <a:xfrm>
            <a:off x="5303520" y="3337560"/>
            <a:ext cx="6400800" cy="548640"/>
          </a:xfrm>
          <a:prstGeom prst="rect">
            <a:avLst/>
          </a:prstGeom>
          <a:noFill/>
        </p:spPr>
        <p:txBody>
          <a:bodyPr wrap="square">
            <a:spAutoFit/>
          </a:bodyPr>
          <a:lstStyle/>
          <a:p>
            <a:pPr algn="l">
              <a:defRPr sz="1300" b="0">
                <a:solidFill>
                  <a:srgbClr val="FFFFFF"/>
                </a:solidFill>
                <a:latin typeface="Calibri"/>
              </a:defRPr>
            </a:pPr>
            <a:r>
              <a:t>MMed-RAG: 43.8% accuracy gain; CRAG reduces hallucination</a:t>
            </a:r>
          </a:p>
        </p:txBody>
      </p:sp>
      <p:sp>
        <p:nvSpPr>
          <p:cNvPr id="19" name="Rounded Rectangle 18"/>
          <p:cNvSpPr/>
          <p:nvPr/>
        </p:nvSpPr>
        <p:spPr>
          <a:xfrm>
            <a:off x="457200" y="4023360"/>
            <a:ext cx="11247120" cy="6400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069080"/>
            <a:ext cx="1828800" cy="548640"/>
          </a:xfrm>
          <a:prstGeom prst="rect">
            <a:avLst/>
          </a:prstGeom>
          <a:noFill/>
        </p:spPr>
        <p:txBody>
          <a:bodyPr wrap="square">
            <a:spAutoFit/>
          </a:bodyPr>
          <a:lstStyle/>
          <a:p>
            <a:pPr algn="l">
              <a:defRPr sz="1400" b="1">
                <a:solidFill>
                  <a:srgbClr val="FFD93D"/>
                </a:solidFill>
                <a:latin typeface="Calibri"/>
              </a:defRPr>
            </a:pPr>
            <a:r>
              <a:t>Multilingual AI</a:t>
            </a:r>
          </a:p>
        </p:txBody>
      </p:sp>
      <p:sp>
        <p:nvSpPr>
          <p:cNvPr id="21" name="TextBox 20"/>
          <p:cNvSpPr txBox="1"/>
          <p:nvPr/>
        </p:nvSpPr>
        <p:spPr>
          <a:xfrm>
            <a:off x="2560320" y="4069080"/>
            <a:ext cx="2743200" cy="548640"/>
          </a:xfrm>
          <a:prstGeom prst="rect">
            <a:avLst/>
          </a:prstGeom>
          <a:noFill/>
        </p:spPr>
        <p:txBody>
          <a:bodyPr wrap="square">
            <a:spAutoFit/>
          </a:bodyPr>
          <a:lstStyle/>
          <a:p>
            <a:pPr algn="l">
              <a:defRPr sz="1200" b="0">
                <a:solidFill>
                  <a:srgbClr val="B0BEC5"/>
                </a:solidFill>
                <a:latin typeface="Calibri"/>
              </a:defRPr>
            </a:pPr>
            <a:r>
              <a:t>TACL, arXiv [28-32]</a:t>
            </a:r>
          </a:p>
        </p:txBody>
      </p:sp>
      <p:sp>
        <p:nvSpPr>
          <p:cNvPr id="22" name="TextBox 21"/>
          <p:cNvSpPr txBox="1"/>
          <p:nvPr/>
        </p:nvSpPr>
        <p:spPr>
          <a:xfrm>
            <a:off x="5303520" y="4069080"/>
            <a:ext cx="6400800" cy="548640"/>
          </a:xfrm>
          <a:prstGeom prst="rect">
            <a:avLst/>
          </a:prstGeom>
          <a:noFill/>
        </p:spPr>
        <p:txBody>
          <a:bodyPr wrap="square">
            <a:spAutoFit/>
          </a:bodyPr>
          <a:lstStyle/>
          <a:p>
            <a:pPr algn="l">
              <a:defRPr sz="1300" b="0">
                <a:solidFill>
                  <a:srgbClr val="FFFFFF"/>
                </a:solidFill>
                <a:latin typeface="Calibri"/>
              </a:defRPr>
            </a:pPr>
            <a:r>
              <a:t>IndicTrans2: 22 languages; CLINIC benchmark for safety</a:t>
            </a:r>
          </a:p>
        </p:txBody>
      </p:sp>
      <p:sp>
        <p:nvSpPr>
          <p:cNvPr id="23" name="Rounded Rectangle 22"/>
          <p:cNvSpPr/>
          <p:nvPr/>
        </p:nvSpPr>
        <p:spPr>
          <a:xfrm>
            <a:off x="457200" y="4754880"/>
            <a:ext cx="11247120" cy="6400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800600"/>
            <a:ext cx="1828800" cy="548640"/>
          </a:xfrm>
          <a:prstGeom prst="rect">
            <a:avLst/>
          </a:prstGeom>
          <a:noFill/>
        </p:spPr>
        <p:txBody>
          <a:bodyPr wrap="square">
            <a:spAutoFit/>
          </a:bodyPr>
          <a:lstStyle/>
          <a:p>
            <a:pPr algn="l">
              <a:defRPr sz="1400" b="1">
                <a:solidFill>
                  <a:srgbClr val="00B4D8"/>
                </a:solidFill>
                <a:latin typeface="Calibri"/>
              </a:defRPr>
            </a:pPr>
            <a:r>
              <a:t>Agentic AI</a:t>
            </a:r>
          </a:p>
        </p:txBody>
      </p:sp>
      <p:sp>
        <p:nvSpPr>
          <p:cNvPr id="25" name="TextBox 24"/>
          <p:cNvSpPr txBox="1"/>
          <p:nvPr/>
        </p:nvSpPr>
        <p:spPr>
          <a:xfrm>
            <a:off x="2560320" y="4800600"/>
            <a:ext cx="2743200" cy="548640"/>
          </a:xfrm>
          <a:prstGeom prst="rect">
            <a:avLst/>
          </a:prstGeom>
          <a:noFill/>
        </p:spPr>
        <p:txBody>
          <a:bodyPr wrap="square">
            <a:spAutoFit/>
          </a:bodyPr>
          <a:lstStyle/>
          <a:p>
            <a:pPr algn="l">
              <a:defRPr sz="1200" b="0">
                <a:solidFill>
                  <a:srgbClr val="B0BEC5"/>
                </a:solidFill>
                <a:latin typeface="Calibri"/>
              </a:defRPr>
            </a:pPr>
            <a:r>
              <a:t>arXiv [36-40]</a:t>
            </a:r>
          </a:p>
        </p:txBody>
      </p:sp>
      <p:sp>
        <p:nvSpPr>
          <p:cNvPr id="26" name="TextBox 25"/>
          <p:cNvSpPr txBox="1"/>
          <p:nvPr/>
        </p:nvSpPr>
        <p:spPr>
          <a:xfrm>
            <a:off x="5303520" y="4800600"/>
            <a:ext cx="6400800" cy="548640"/>
          </a:xfrm>
          <a:prstGeom prst="rect">
            <a:avLst/>
          </a:prstGeom>
          <a:noFill/>
        </p:spPr>
        <p:txBody>
          <a:bodyPr wrap="square">
            <a:spAutoFit/>
          </a:bodyPr>
          <a:lstStyle/>
          <a:p>
            <a:pPr algn="l">
              <a:defRPr sz="1300" b="0">
                <a:solidFill>
                  <a:srgbClr val="FFFFFF"/>
                </a:solidFill>
                <a:latin typeface="Calibri"/>
              </a:defRPr>
            </a:pPr>
            <a:r>
              <a:t>Human-guided agents outperform autonomous in clinical tasks</a:t>
            </a:r>
          </a:p>
        </p:txBody>
      </p:sp>
      <p:sp>
        <p:nvSpPr>
          <p:cNvPr id="27" name="Rounded Rectangle 26"/>
          <p:cNvSpPr/>
          <p:nvPr/>
        </p:nvSpPr>
        <p:spPr>
          <a:xfrm>
            <a:off x="457200" y="5486400"/>
            <a:ext cx="11247120" cy="6400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5532120"/>
            <a:ext cx="1828800" cy="548640"/>
          </a:xfrm>
          <a:prstGeom prst="rect">
            <a:avLst/>
          </a:prstGeom>
          <a:noFill/>
        </p:spPr>
        <p:txBody>
          <a:bodyPr wrap="square">
            <a:spAutoFit/>
          </a:bodyPr>
          <a:lstStyle/>
          <a:p>
            <a:pPr algn="l">
              <a:defRPr sz="1400" b="1">
                <a:solidFill>
                  <a:srgbClr val="F39C12"/>
                </a:solidFill>
                <a:latin typeface="Calibri"/>
              </a:defRPr>
            </a:pPr>
            <a:r>
              <a:t>Data Privacy</a:t>
            </a:r>
          </a:p>
        </p:txBody>
      </p:sp>
      <p:sp>
        <p:nvSpPr>
          <p:cNvPr id="29" name="TextBox 28"/>
          <p:cNvSpPr txBox="1"/>
          <p:nvPr/>
        </p:nvSpPr>
        <p:spPr>
          <a:xfrm>
            <a:off x="2560320" y="5532120"/>
            <a:ext cx="2743200" cy="548640"/>
          </a:xfrm>
          <a:prstGeom prst="rect">
            <a:avLst/>
          </a:prstGeom>
          <a:noFill/>
        </p:spPr>
        <p:txBody>
          <a:bodyPr wrap="square">
            <a:spAutoFit/>
          </a:bodyPr>
          <a:lstStyle/>
          <a:p>
            <a:pPr algn="l">
              <a:defRPr sz="1200" b="0">
                <a:solidFill>
                  <a:srgbClr val="B0BEC5"/>
                </a:solidFill>
                <a:latin typeface="Calibri"/>
              </a:defRPr>
            </a:pPr>
            <a:r>
              <a:t>DPDP Act [41-42]</a:t>
            </a:r>
          </a:p>
        </p:txBody>
      </p:sp>
      <p:sp>
        <p:nvSpPr>
          <p:cNvPr id="30" name="TextBox 29"/>
          <p:cNvSpPr txBox="1"/>
          <p:nvPr/>
        </p:nvSpPr>
        <p:spPr>
          <a:xfrm>
            <a:off x="5303520" y="5532120"/>
            <a:ext cx="6400800" cy="548640"/>
          </a:xfrm>
          <a:prstGeom prst="rect">
            <a:avLst/>
          </a:prstGeom>
          <a:noFill/>
        </p:spPr>
        <p:txBody>
          <a:bodyPr wrap="square">
            <a:spAutoFit/>
          </a:bodyPr>
          <a:lstStyle/>
          <a:p>
            <a:pPr algn="l">
              <a:defRPr sz="1300" b="0">
                <a:solidFill>
                  <a:srgbClr val="FFFFFF"/>
                </a:solidFill>
                <a:latin typeface="Calibri"/>
              </a:defRPr>
            </a:pPr>
            <a:r>
              <a:t>Penalties up to ₹250 Cr; ABDM compliance required</a:t>
            </a:r>
          </a:p>
        </p:txBody>
      </p:sp>
      <p:sp>
        <p:nvSpPr>
          <p:cNvPr id="31" name="Rectangle 30"/>
          <p:cNvSpPr/>
          <p:nvPr/>
        </p:nvSpPr>
        <p:spPr>
          <a:xfrm>
            <a:off x="0" y="6492240"/>
            <a:ext cx="12191695" cy="36576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4320" y="6510528"/>
            <a:ext cx="5486400" cy="320040"/>
          </a:xfrm>
          <a:prstGeom prst="rect">
            <a:avLst/>
          </a:prstGeom>
          <a:noFill/>
        </p:spPr>
        <p:txBody>
          <a:bodyPr wrap="square">
            <a:spAutoFit/>
          </a:bodyPr>
          <a:lstStyle/>
          <a:p>
            <a:pPr algn="l">
              <a:defRPr sz="900" b="0">
                <a:solidFill>
                  <a:srgbClr val="B0BEC5"/>
                </a:solidFill>
                <a:latin typeface="Calibri"/>
              </a:defRPr>
            </a:pPr>
            <a:r>
              <a:t>MPSTME, SVKM's NMIMS Shirpur | Dept. of IT/AIML | 2026-27</a:t>
            </a:r>
          </a:p>
        </p:txBody>
      </p:sp>
      <p:sp>
        <p:nvSpPr>
          <p:cNvPr id="33" name="TextBox 32"/>
          <p:cNvSpPr txBox="1"/>
          <p:nvPr/>
        </p:nvSpPr>
        <p:spPr>
          <a:xfrm>
            <a:off x="11430000" y="6400800"/>
            <a:ext cx="731520" cy="365760"/>
          </a:xfrm>
          <a:prstGeom prst="rect">
            <a:avLst/>
          </a:prstGeom>
          <a:noFill/>
        </p:spPr>
        <p:txBody>
          <a:bodyPr wrap="square">
            <a:spAutoFit/>
          </a:bodyPr>
          <a:lstStyle/>
          <a:p>
            <a:pPr algn="r">
              <a:defRPr sz="1000" b="0">
                <a:solidFill>
                  <a:srgbClr val="B0BEC5"/>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3200" b="1">
                <a:solidFill>
                  <a:srgbClr val="FFFFFF"/>
                </a:solidFill>
                <a:latin typeface="Calibri"/>
              </a:defRPr>
            </a:pPr>
            <a:r>
              <a:t>Comparative Analysis — Research Gap</a:t>
            </a:r>
          </a:p>
        </p:txBody>
      </p:sp>
      <p:sp>
        <p:nvSpPr>
          <p:cNvPr id="3" name="Rounded Rectangle 2"/>
          <p:cNvSpPr/>
          <p:nvPr/>
        </p:nvSpPr>
        <p:spPr>
          <a:xfrm>
            <a:off x="365760" y="1005840"/>
            <a:ext cx="11430000" cy="548640"/>
          </a:xfrm>
          <a:prstGeom prst="round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51560"/>
            <a:ext cx="2194560" cy="457200"/>
          </a:xfrm>
          <a:prstGeom prst="rect">
            <a:avLst/>
          </a:prstGeom>
          <a:noFill/>
        </p:spPr>
        <p:txBody>
          <a:bodyPr wrap="square">
            <a:spAutoFit/>
          </a:bodyPr>
          <a:lstStyle/>
          <a:p>
            <a:pPr algn="l">
              <a:defRPr sz="1400" b="1">
                <a:solidFill>
                  <a:srgbClr val="FFFFFF"/>
                </a:solidFill>
                <a:latin typeface="Calibri"/>
              </a:defRPr>
            </a:pPr>
            <a:r>
              <a:t>Feature</a:t>
            </a:r>
          </a:p>
        </p:txBody>
      </p:sp>
      <p:sp>
        <p:nvSpPr>
          <p:cNvPr id="5" name="TextBox 4"/>
          <p:cNvSpPr txBox="1"/>
          <p:nvPr/>
        </p:nvSpPr>
        <p:spPr>
          <a:xfrm>
            <a:off x="2743200" y="1051560"/>
            <a:ext cx="1920240" cy="457200"/>
          </a:xfrm>
          <a:prstGeom prst="rect">
            <a:avLst/>
          </a:prstGeom>
          <a:noFill/>
        </p:spPr>
        <p:txBody>
          <a:bodyPr wrap="square">
            <a:spAutoFit/>
          </a:bodyPr>
          <a:lstStyle/>
          <a:p>
            <a:pPr algn="l">
              <a:defRPr sz="1400" b="1">
                <a:solidFill>
                  <a:srgbClr val="FFFFFF"/>
                </a:solidFill>
                <a:latin typeface="Calibri"/>
              </a:defRPr>
            </a:pPr>
            <a:r>
              <a:t>Practo/1mg</a:t>
            </a:r>
          </a:p>
        </p:txBody>
      </p:sp>
      <p:sp>
        <p:nvSpPr>
          <p:cNvPr id="6" name="TextBox 5"/>
          <p:cNvSpPr txBox="1"/>
          <p:nvPr/>
        </p:nvSpPr>
        <p:spPr>
          <a:xfrm>
            <a:off x="4754880" y="1051560"/>
            <a:ext cx="1920240" cy="457200"/>
          </a:xfrm>
          <a:prstGeom prst="rect">
            <a:avLst/>
          </a:prstGeom>
          <a:noFill/>
        </p:spPr>
        <p:txBody>
          <a:bodyPr wrap="square">
            <a:spAutoFit/>
          </a:bodyPr>
          <a:lstStyle/>
          <a:p>
            <a:pPr algn="l">
              <a:defRPr sz="1400" b="1">
                <a:solidFill>
                  <a:srgbClr val="FFFFFF"/>
                </a:solidFill>
                <a:latin typeface="Calibri"/>
              </a:defRPr>
            </a:pPr>
            <a:r>
              <a:t>Ada Health</a:t>
            </a:r>
          </a:p>
        </p:txBody>
      </p:sp>
      <p:sp>
        <p:nvSpPr>
          <p:cNvPr id="7" name="TextBox 6"/>
          <p:cNvSpPr txBox="1"/>
          <p:nvPr/>
        </p:nvSpPr>
        <p:spPr>
          <a:xfrm>
            <a:off x="6766560" y="1051560"/>
            <a:ext cx="2103120" cy="457200"/>
          </a:xfrm>
          <a:prstGeom prst="rect">
            <a:avLst/>
          </a:prstGeom>
          <a:noFill/>
        </p:spPr>
        <p:txBody>
          <a:bodyPr wrap="square">
            <a:spAutoFit/>
          </a:bodyPr>
          <a:lstStyle/>
          <a:p>
            <a:pPr algn="l">
              <a:defRPr sz="1400" b="1">
                <a:solidFill>
                  <a:srgbClr val="FFFFFF"/>
                </a:solidFill>
                <a:latin typeface="Calibri"/>
              </a:defRPr>
            </a:pPr>
            <a:r>
              <a:t>eSanjeevani</a:t>
            </a:r>
          </a:p>
        </p:txBody>
      </p:sp>
      <p:sp>
        <p:nvSpPr>
          <p:cNvPr id="8" name="TextBox 7"/>
          <p:cNvSpPr txBox="1"/>
          <p:nvPr/>
        </p:nvSpPr>
        <p:spPr>
          <a:xfrm>
            <a:off x="8961120" y="1051560"/>
            <a:ext cx="2926080" cy="457200"/>
          </a:xfrm>
          <a:prstGeom prst="rect">
            <a:avLst/>
          </a:prstGeom>
          <a:noFill/>
        </p:spPr>
        <p:txBody>
          <a:bodyPr wrap="square">
            <a:spAutoFit/>
          </a:bodyPr>
          <a:lstStyle/>
          <a:p>
            <a:pPr algn="l">
              <a:defRPr sz="1400" b="1">
                <a:solidFill>
                  <a:srgbClr val="0F172A"/>
                </a:solidFill>
                <a:latin typeface="Calibri"/>
              </a:defRPr>
            </a:pPr>
            <a:r>
              <a:t>Aarogya Sathi</a:t>
            </a:r>
          </a:p>
        </p:txBody>
      </p:sp>
      <p:sp>
        <p:nvSpPr>
          <p:cNvPr id="9" name="Rounded Rectangle 8"/>
          <p:cNvSpPr/>
          <p:nvPr/>
        </p:nvSpPr>
        <p:spPr>
          <a:xfrm>
            <a:off x="365760" y="1691640"/>
            <a:ext cx="11430000" cy="5029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709928"/>
            <a:ext cx="2194560" cy="457200"/>
          </a:xfrm>
          <a:prstGeom prst="rect">
            <a:avLst/>
          </a:prstGeom>
          <a:noFill/>
        </p:spPr>
        <p:txBody>
          <a:bodyPr wrap="square">
            <a:spAutoFit/>
          </a:bodyPr>
          <a:lstStyle/>
          <a:p>
            <a:pPr algn="l">
              <a:defRPr sz="1300" b="1">
                <a:solidFill>
                  <a:srgbClr val="FFFFFF"/>
                </a:solidFill>
                <a:latin typeface="Calibri"/>
              </a:defRPr>
            </a:pPr>
            <a:r>
              <a:t>ICMR-grounded RAG</a:t>
            </a:r>
          </a:p>
        </p:txBody>
      </p:sp>
      <p:sp>
        <p:nvSpPr>
          <p:cNvPr id="11" name="TextBox 10"/>
          <p:cNvSpPr txBox="1"/>
          <p:nvPr/>
        </p:nvSpPr>
        <p:spPr>
          <a:xfrm>
            <a:off x="2743200" y="1709928"/>
            <a:ext cx="1920240" cy="457200"/>
          </a:xfrm>
          <a:prstGeom prst="rect">
            <a:avLst/>
          </a:prstGeom>
          <a:noFill/>
        </p:spPr>
        <p:txBody>
          <a:bodyPr wrap="square">
            <a:spAutoFit/>
          </a:bodyPr>
          <a:lstStyle/>
          <a:p>
            <a:pPr algn="l">
              <a:defRPr sz="1300" b="0">
                <a:solidFill>
                  <a:srgbClr val="E74C3C"/>
                </a:solidFill>
                <a:latin typeface="Calibri"/>
              </a:defRPr>
            </a:pPr>
            <a:r>
              <a:t>✗</a:t>
            </a:r>
          </a:p>
        </p:txBody>
      </p:sp>
      <p:sp>
        <p:nvSpPr>
          <p:cNvPr id="12" name="TextBox 11"/>
          <p:cNvSpPr txBox="1"/>
          <p:nvPr/>
        </p:nvSpPr>
        <p:spPr>
          <a:xfrm>
            <a:off x="4754880" y="1709928"/>
            <a:ext cx="1920240" cy="457200"/>
          </a:xfrm>
          <a:prstGeom prst="rect">
            <a:avLst/>
          </a:prstGeom>
          <a:noFill/>
        </p:spPr>
        <p:txBody>
          <a:bodyPr wrap="square">
            <a:spAutoFit/>
          </a:bodyPr>
          <a:lstStyle/>
          <a:p>
            <a:pPr algn="l">
              <a:defRPr sz="1300" b="0">
                <a:solidFill>
                  <a:srgbClr val="E74C3C"/>
                </a:solidFill>
                <a:latin typeface="Calibri"/>
              </a:defRPr>
            </a:pPr>
            <a:r>
              <a:t>✗</a:t>
            </a:r>
          </a:p>
        </p:txBody>
      </p:sp>
      <p:sp>
        <p:nvSpPr>
          <p:cNvPr id="13" name="TextBox 12"/>
          <p:cNvSpPr txBox="1"/>
          <p:nvPr/>
        </p:nvSpPr>
        <p:spPr>
          <a:xfrm>
            <a:off x="6766560" y="1709928"/>
            <a:ext cx="2103120" cy="457200"/>
          </a:xfrm>
          <a:prstGeom prst="rect">
            <a:avLst/>
          </a:prstGeom>
          <a:noFill/>
        </p:spPr>
        <p:txBody>
          <a:bodyPr wrap="square">
            <a:spAutoFit/>
          </a:bodyPr>
          <a:lstStyle/>
          <a:p>
            <a:pPr algn="l">
              <a:defRPr sz="1300" b="0">
                <a:solidFill>
                  <a:srgbClr val="E74C3C"/>
                </a:solidFill>
                <a:latin typeface="Calibri"/>
              </a:defRPr>
            </a:pPr>
            <a:r>
              <a:t>✗</a:t>
            </a:r>
          </a:p>
        </p:txBody>
      </p:sp>
      <p:sp>
        <p:nvSpPr>
          <p:cNvPr id="14" name="TextBox 13"/>
          <p:cNvSpPr txBox="1"/>
          <p:nvPr/>
        </p:nvSpPr>
        <p:spPr>
          <a:xfrm>
            <a:off x="8961120" y="1709928"/>
            <a:ext cx="2926080" cy="457200"/>
          </a:xfrm>
          <a:prstGeom prst="rect">
            <a:avLst/>
          </a:prstGeom>
          <a:noFill/>
        </p:spPr>
        <p:txBody>
          <a:bodyPr wrap="square">
            <a:spAutoFit/>
          </a:bodyPr>
          <a:lstStyle/>
          <a:p>
            <a:pPr algn="l">
              <a:defRPr sz="1300" b="0">
                <a:solidFill>
                  <a:srgbClr val="2ECC71"/>
                </a:solidFill>
                <a:latin typeface="Calibri"/>
              </a:defRPr>
            </a:pPr>
            <a:r>
              <a:t>✓ OKF + CRAG</a:t>
            </a:r>
          </a:p>
        </p:txBody>
      </p:sp>
      <p:sp>
        <p:nvSpPr>
          <p:cNvPr id="15" name="Rounded Rectangle 14"/>
          <p:cNvSpPr/>
          <p:nvPr/>
        </p:nvSpPr>
        <p:spPr>
          <a:xfrm>
            <a:off x="365760" y="2286000"/>
            <a:ext cx="11430000" cy="502920"/>
          </a:xfrm>
          <a:prstGeom prst="roundRect">
            <a:avLst/>
          </a:prstGeom>
          <a:solidFill>
            <a:srgbClr val="151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304288"/>
            <a:ext cx="2194560" cy="457200"/>
          </a:xfrm>
          <a:prstGeom prst="rect">
            <a:avLst/>
          </a:prstGeom>
          <a:noFill/>
        </p:spPr>
        <p:txBody>
          <a:bodyPr wrap="square">
            <a:spAutoFit/>
          </a:bodyPr>
          <a:lstStyle/>
          <a:p>
            <a:pPr algn="l">
              <a:defRPr sz="1300" b="1">
                <a:solidFill>
                  <a:srgbClr val="FFFFFF"/>
                </a:solidFill>
                <a:latin typeface="Calibri"/>
              </a:defRPr>
            </a:pPr>
            <a:r>
              <a:t>Vernacular (HI/MR)</a:t>
            </a:r>
          </a:p>
        </p:txBody>
      </p:sp>
      <p:sp>
        <p:nvSpPr>
          <p:cNvPr id="17" name="TextBox 16"/>
          <p:cNvSpPr txBox="1"/>
          <p:nvPr/>
        </p:nvSpPr>
        <p:spPr>
          <a:xfrm>
            <a:off x="2743200" y="2304288"/>
            <a:ext cx="1920240" cy="457200"/>
          </a:xfrm>
          <a:prstGeom prst="rect">
            <a:avLst/>
          </a:prstGeom>
          <a:noFill/>
        </p:spPr>
        <p:txBody>
          <a:bodyPr wrap="square">
            <a:spAutoFit/>
          </a:bodyPr>
          <a:lstStyle/>
          <a:p>
            <a:pPr algn="l">
              <a:defRPr sz="1300" b="0">
                <a:solidFill>
                  <a:srgbClr val="F39C12"/>
                </a:solidFill>
                <a:latin typeface="Calibri"/>
              </a:defRPr>
            </a:pPr>
            <a:r>
              <a:t>Limited</a:t>
            </a:r>
          </a:p>
        </p:txBody>
      </p:sp>
      <p:sp>
        <p:nvSpPr>
          <p:cNvPr id="18" name="TextBox 17"/>
          <p:cNvSpPr txBox="1"/>
          <p:nvPr/>
        </p:nvSpPr>
        <p:spPr>
          <a:xfrm>
            <a:off x="4754880" y="2304288"/>
            <a:ext cx="1920240" cy="457200"/>
          </a:xfrm>
          <a:prstGeom prst="rect">
            <a:avLst/>
          </a:prstGeom>
          <a:noFill/>
        </p:spPr>
        <p:txBody>
          <a:bodyPr wrap="square">
            <a:spAutoFit/>
          </a:bodyPr>
          <a:lstStyle/>
          <a:p>
            <a:pPr algn="l">
              <a:defRPr sz="1300" b="0">
                <a:solidFill>
                  <a:srgbClr val="E74C3C"/>
                </a:solidFill>
                <a:latin typeface="Calibri"/>
              </a:defRPr>
            </a:pPr>
            <a:r>
              <a:t>✗</a:t>
            </a:r>
          </a:p>
        </p:txBody>
      </p:sp>
      <p:sp>
        <p:nvSpPr>
          <p:cNvPr id="19" name="TextBox 18"/>
          <p:cNvSpPr txBox="1"/>
          <p:nvPr/>
        </p:nvSpPr>
        <p:spPr>
          <a:xfrm>
            <a:off x="6766560" y="2304288"/>
            <a:ext cx="2103120" cy="457200"/>
          </a:xfrm>
          <a:prstGeom prst="rect">
            <a:avLst/>
          </a:prstGeom>
          <a:noFill/>
        </p:spPr>
        <p:txBody>
          <a:bodyPr wrap="square">
            <a:spAutoFit/>
          </a:bodyPr>
          <a:lstStyle/>
          <a:p>
            <a:pPr algn="l">
              <a:defRPr sz="1300" b="0">
                <a:solidFill>
                  <a:srgbClr val="F39C12"/>
                </a:solidFill>
                <a:latin typeface="Calibri"/>
              </a:defRPr>
            </a:pPr>
            <a:r>
              <a:t>Limited</a:t>
            </a:r>
          </a:p>
        </p:txBody>
      </p:sp>
      <p:sp>
        <p:nvSpPr>
          <p:cNvPr id="20" name="TextBox 19"/>
          <p:cNvSpPr txBox="1"/>
          <p:nvPr/>
        </p:nvSpPr>
        <p:spPr>
          <a:xfrm>
            <a:off x="8961120" y="2304288"/>
            <a:ext cx="2926080" cy="457200"/>
          </a:xfrm>
          <a:prstGeom prst="rect">
            <a:avLst/>
          </a:prstGeom>
          <a:noFill/>
        </p:spPr>
        <p:txBody>
          <a:bodyPr wrap="square">
            <a:spAutoFit/>
          </a:bodyPr>
          <a:lstStyle/>
          <a:p>
            <a:pPr algn="l">
              <a:defRPr sz="1300" b="0">
                <a:solidFill>
                  <a:srgbClr val="2ECC71"/>
                </a:solidFill>
                <a:latin typeface="Calibri"/>
              </a:defRPr>
            </a:pPr>
            <a:r>
              <a:t>✓ Bhashini</a:t>
            </a:r>
          </a:p>
        </p:txBody>
      </p:sp>
      <p:sp>
        <p:nvSpPr>
          <p:cNvPr id="21" name="Rounded Rectangle 20"/>
          <p:cNvSpPr/>
          <p:nvPr/>
        </p:nvSpPr>
        <p:spPr>
          <a:xfrm>
            <a:off x="365760" y="2880360"/>
            <a:ext cx="11430000" cy="5029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898648"/>
            <a:ext cx="2194560" cy="457200"/>
          </a:xfrm>
          <a:prstGeom prst="rect">
            <a:avLst/>
          </a:prstGeom>
          <a:noFill/>
        </p:spPr>
        <p:txBody>
          <a:bodyPr wrap="square">
            <a:spAutoFit/>
          </a:bodyPr>
          <a:lstStyle/>
          <a:p>
            <a:pPr algn="l">
              <a:defRPr sz="1300" b="1">
                <a:solidFill>
                  <a:srgbClr val="FFFFFF"/>
                </a:solidFill>
                <a:latin typeface="Calibri"/>
              </a:defRPr>
            </a:pPr>
            <a:r>
              <a:t>Real-time AQI alerts</a:t>
            </a:r>
          </a:p>
        </p:txBody>
      </p:sp>
      <p:sp>
        <p:nvSpPr>
          <p:cNvPr id="23" name="TextBox 22"/>
          <p:cNvSpPr txBox="1"/>
          <p:nvPr/>
        </p:nvSpPr>
        <p:spPr>
          <a:xfrm>
            <a:off x="2743200" y="2898648"/>
            <a:ext cx="1920240" cy="457200"/>
          </a:xfrm>
          <a:prstGeom prst="rect">
            <a:avLst/>
          </a:prstGeom>
          <a:noFill/>
        </p:spPr>
        <p:txBody>
          <a:bodyPr wrap="square">
            <a:spAutoFit/>
          </a:bodyPr>
          <a:lstStyle/>
          <a:p>
            <a:pPr algn="l">
              <a:defRPr sz="1300" b="0">
                <a:solidFill>
                  <a:srgbClr val="E74C3C"/>
                </a:solidFill>
                <a:latin typeface="Calibri"/>
              </a:defRPr>
            </a:pPr>
            <a:r>
              <a:t>✗</a:t>
            </a:r>
          </a:p>
        </p:txBody>
      </p:sp>
      <p:sp>
        <p:nvSpPr>
          <p:cNvPr id="24" name="TextBox 23"/>
          <p:cNvSpPr txBox="1"/>
          <p:nvPr/>
        </p:nvSpPr>
        <p:spPr>
          <a:xfrm>
            <a:off x="4754880" y="2898648"/>
            <a:ext cx="1920240" cy="457200"/>
          </a:xfrm>
          <a:prstGeom prst="rect">
            <a:avLst/>
          </a:prstGeom>
          <a:noFill/>
        </p:spPr>
        <p:txBody>
          <a:bodyPr wrap="square">
            <a:spAutoFit/>
          </a:bodyPr>
          <a:lstStyle/>
          <a:p>
            <a:pPr algn="l">
              <a:defRPr sz="1300" b="0">
                <a:solidFill>
                  <a:srgbClr val="E74C3C"/>
                </a:solidFill>
                <a:latin typeface="Calibri"/>
              </a:defRPr>
            </a:pPr>
            <a:r>
              <a:t>✗</a:t>
            </a:r>
          </a:p>
        </p:txBody>
      </p:sp>
      <p:sp>
        <p:nvSpPr>
          <p:cNvPr id="25" name="TextBox 24"/>
          <p:cNvSpPr txBox="1"/>
          <p:nvPr/>
        </p:nvSpPr>
        <p:spPr>
          <a:xfrm>
            <a:off x="6766560" y="2898648"/>
            <a:ext cx="2103120" cy="457200"/>
          </a:xfrm>
          <a:prstGeom prst="rect">
            <a:avLst/>
          </a:prstGeom>
          <a:noFill/>
        </p:spPr>
        <p:txBody>
          <a:bodyPr wrap="square">
            <a:spAutoFit/>
          </a:bodyPr>
          <a:lstStyle/>
          <a:p>
            <a:pPr algn="l">
              <a:defRPr sz="1300" b="0">
                <a:solidFill>
                  <a:srgbClr val="E74C3C"/>
                </a:solidFill>
                <a:latin typeface="Calibri"/>
              </a:defRPr>
            </a:pPr>
            <a:r>
              <a:t>✗</a:t>
            </a:r>
          </a:p>
        </p:txBody>
      </p:sp>
      <p:sp>
        <p:nvSpPr>
          <p:cNvPr id="26" name="TextBox 25"/>
          <p:cNvSpPr txBox="1"/>
          <p:nvPr/>
        </p:nvSpPr>
        <p:spPr>
          <a:xfrm>
            <a:off x="8961120" y="2898648"/>
            <a:ext cx="2926080" cy="457200"/>
          </a:xfrm>
          <a:prstGeom prst="rect">
            <a:avLst/>
          </a:prstGeom>
          <a:noFill/>
        </p:spPr>
        <p:txBody>
          <a:bodyPr wrap="square">
            <a:spAutoFit/>
          </a:bodyPr>
          <a:lstStyle/>
          <a:p>
            <a:pPr algn="l">
              <a:defRPr sz="1300" b="0">
                <a:solidFill>
                  <a:srgbClr val="2ECC71"/>
                </a:solidFill>
                <a:latin typeface="Calibri"/>
              </a:defRPr>
            </a:pPr>
            <a:r>
              <a:t>✓ WAQI+Meteo</a:t>
            </a:r>
          </a:p>
        </p:txBody>
      </p:sp>
      <p:sp>
        <p:nvSpPr>
          <p:cNvPr id="27" name="Rounded Rectangle 26"/>
          <p:cNvSpPr/>
          <p:nvPr/>
        </p:nvSpPr>
        <p:spPr>
          <a:xfrm>
            <a:off x="365760" y="3474720"/>
            <a:ext cx="11430000" cy="502920"/>
          </a:xfrm>
          <a:prstGeom prst="roundRect">
            <a:avLst/>
          </a:prstGeom>
          <a:solidFill>
            <a:srgbClr val="151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493008"/>
            <a:ext cx="2194560" cy="457200"/>
          </a:xfrm>
          <a:prstGeom prst="rect">
            <a:avLst/>
          </a:prstGeom>
          <a:noFill/>
        </p:spPr>
        <p:txBody>
          <a:bodyPr wrap="square">
            <a:spAutoFit/>
          </a:bodyPr>
          <a:lstStyle/>
          <a:p>
            <a:pPr algn="l">
              <a:defRPr sz="1300" b="1">
                <a:solidFill>
                  <a:srgbClr val="FFFFFF"/>
                </a:solidFill>
                <a:latin typeface="Calibri"/>
              </a:defRPr>
            </a:pPr>
            <a:r>
              <a:t>Wearable integration</a:t>
            </a:r>
          </a:p>
        </p:txBody>
      </p:sp>
      <p:sp>
        <p:nvSpPr>
          <p:cNvPr id="29" name="TextBox 28"/>
          <p:cNvSpPr txBox="1"/>
          <p:nvPr/>
        </p:nvSpPr>
        <p:spPr>
          <a:xfrm>
            <a:off x="2743200" y="3493008"/>
            <a:ext cx="1920240" cy="457200"/>
          </a:xfrm>
          <a:prstGeom prst="rect">
            <a:avLst/>
          </a:prstGeom>
          <a:noFill/>
        </p:spPr>
        <p:txBody>
          <a:bodyPr wrap="square">
            <a:spAutoFit/>
          </a:bodyPr>
          <a:lstStyle/>
          <a:p>
            <a:pPr algn="l">
              <a:defRPr sz="1300" b="0">
                <a:solidFill>
                  <a:srgbClr val="E74C3C"/>
                </a:solidFill>
                <a:latin typeface="Calibri"/>
              </a:defRPr>
            </a:pPr>
            <a:r>
              <a:t>✗</a:t>
            </a:r>
          </a:p>
        </p:txBody>
      </p:sp>
      <p:sp>
        <p:nvSpPr>
          <p:cNvPr id="30" name="TextBox 29"/>
          <p:cNvSpPr txBox="1"/>
          <p:nvPr/>
        </p:nvSpPr>
        <p:spPr>
          <a:xfrm>
            <a:off x="4754880" y="3493008"/>
            <a:ext cx="1920240" cy="457200"/>
          </a:xfrm>
          <a:prstGeom prst="rect">
            <a:avLst/>
          </a:prstGeom>
          <a:noFill/>
        </p:spPr>
        <p:txBody>
          <a:bodyPr wrap="square">
            <a:spAutoFit/>
          </a:bodyPr>
          <a:lstStyle/>
          <a:p>
            <a:pPr algn="l">
              <a:defRPr sz="1300" b="0">
                <a:solidFill>
                  <a:srgbClr val="E74C3C"/>
                </a:solidFill>
                <a:latin typeface="Calibri"/>
              </a:defRPr>
            </a:pPr>
            <a:r>
              <a:t>✗</a:t>
            </a:r>
          </a:p>
        </p:txBody>
      </p:sp>
      <p:sp>
        <p:nvSpPr>
          <p:cNvPr id="31" name="TextBox 30"/>
          <p:cNvSpPr txBox="1"/>
          <p:nvPr/>
        </p:nvSpPr>
        <p:spPr>
          <a:xfrm>
            <a:off x="6766560" y="3493008"/>
            <a:ext cx="2103120" cy="457200"/>
          </a:xfrm>
          <a:prstGeom prst="rect">
            <a:avLst/>
          </a:prstGeom>
          <a:noFill/>
        </p:spPr>
        <p:txBody>
          <a:bodyPr wrap="square">
            <a:spAutoFit/>
          </a:bodyPr>
          <a:lstStyle/>
          <a:p>
            <a:pPr algn="l">
              <a:defRPr sz="1300" b="0">
                <a:solidFill>
                  <a:srgbClr val="E74C3C"/>
                </a:solidFill>
                <a:latin typeface="Calibri"/>
              </a:defRPr>
            </a:pPr>
            <a:r>
              <a:t>✗</a:t>
            </a:r>
          </a:p>
        </p:txBody>
      </p:sp>
      <p:sp>
        <p:nvSpPr>
          <p:cNvPr id="32" name="TextBox 31"/>
          <p:cNvSpPr txBox="1"/>
          <p:nvPr/>
        </p:nvSpPr>
        <p:spPr>
          <a:xfrm>
            <a:off x="8961120" y="3493008"/>
            <a:ext cx="2926080" cy="457200"/>
          </a:xfrm>
          <a:prstGeom prst="rect">
            <a:avLst/>
          </a:prstGeom>
          <a:noFill/>
        </p:spPr>
        <p:txBody>
          <a:bodyPr wrap="square">
            <a:spAutoFit/>
          </a:bodyPr>
          <a:lstStyle/>
          <a:p>
            <a:pPr algn="l">
              <a:defRPr sz="1300" b="0">
                <a:solidFill>
                  <a:srgbClr val="2ECC71"/>
                </a:solidFill>
                <a:latin typeface="Calibri"/>
              </a:defRPr>
            </a:pPr>
            <a:r>
              <a:t>✓ Health Connect</a:t>
            </a:r>
          </a:p>
        </p:txBody>
      </p:sp>
      <p:sp>
        <p:nvSpPr>
          <p:cNvPr id="33" name="Rounded Rectangle 32"/>
          <p:cNvSpPr/>
          <p:nvPr/>
        </p:nvSpPr>
        <p:spPr>
          <a:xfrm>
            <a:off x="365760" y="4069080"/>
            <a:ext cx="11430000" cy="5029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4087368"/>
            <a:ext cx="2194560" cy="457200"/>
          </a:xfrm>
          <a:prstGeom prst="rect">
            <a:avLst/>
          </a:prstGeom>
          <a:noFill/>
        </p:spPr>
        <p:txBody>
          <a:bodyPr wrap="square">
            <a:spAutoFit/>
          </a:bodyPr>
          <a:lstStyle/>
          <a:p>
            <a:pPr algn="l">
              <a:defRPr sz="1300" b="1">
                <a:solidFill>
                  <a:srgbClr val="FFFFFF"/>
                </a:solidFill>
                <a:latin typeface="Calibri"/>
              </a:defRPr>
            </a:pPr>
            <a:r>
              <a:t>On-device data (DPDP)</a:t>
            </a:r>
          </a:p>
        </p:txBody>
      </p:sp>
      <p:sp>
        <p:nvSpPr>
          <p:cNvPr id="35" name="TextBox 34"/>
          <p:cNvSpPr txBox="1"/>
          <p:nvPr/>
        </p:nvSpPr>
        <p:spPr>
          <a:xfrm>
            <a:off x="2743200" y="4087368"/>
            <a:ext cx="1920240" cy="457200"/>
          </a:xfrm>
          <a:prstGeom prst="rect">
            <a:avLst/>
          </a:prstGeom>
          <a:noFill/>
        </p:spPr>
        <p:txBody>
          <a:bodyPr wrap="square">
            <a:spAutoFit/>
          </a:bodyPr>
          <a:lstStyle/>
          <a:p>
            <a:pPr algn="l">
              <a:defRPr sz="1300" b="0">
                <a:solidFill>
                  <a:srgbClr val="E74C3C"/>
                </a:solidFill>
                <a:latin typeface="Calibri"/>
              </a:defRPr>
            </a:pPr>
            <a:r>
              <a:t>✗</a:t>
            </a:r>
          </a:p>
        </p:txBody>
      </p:sp>
      <p:sp>
        <p:nvSpPr>
          <p:cNvPr id="36" name="TextBox 35"/>
          <p:cNvSpPr txBox="1"/>
          <p:nvPr/>
        </p:nvSpPr>
        <p:spPr>
          <a:xfrm>
            <a:off x="4754880" y="4087368"/>
            <a:ext cx="1920240" cy="457200"/>
          </a:xfrm>
          <a:prstGeom prst="rect">
            <a:avLst/>
          </a:prstGeom>
          <a:noFill/>
        </p:spPr>
        <p:txBody>
          <a:bodyPr wrap="square">
            <a:spAutoFit/>
          </a:bodyPr>
          <a:lstStyle/>
          <a:p>
            <a:pPr algn="l">
              <a:defRPr sz="1300" b="0">
                <a:solidFill>
                  <a:srgbClr val="E74C3C"/>
                </a:solidFill>
                <a:latin typeface="Calibri"/>
              </a:defRPr>
            </a:pPr>
            <a:r>
              <a:t>✗</a:t>
            </a:r>
          </a:p>
        </p:txBody>
      </p:sp>
      <p:sp>
        <p:nvSpPr>
          <p:cNvPr id="37" name="TextBox 36"/>
          <p:cNvSpPr txBox="1"/>
          <p:nvPr/>
        </p:nvSpPr>
        <p:spPr>
          <a:xfrm>
            <a:off x="6766560" y="4087368"/>
            <a:ext cx="2103120" cy="457200"/>
          </a:xfrm>
          <a:prstGeom prst="rect">
            <a:avLst/>
          </a:prstGeom>
          <a:noFill/>
        </p:spPr>
        <p:txBody>
          <a:bodyPr wrap="square">
            <a:spAutoFit/>
          </a:bodyPr>
          <a:lstStyle/>
          <a:p>
            <a:pPr algn="l">
              <a:defRPr sz="1300" b="0">
                <a:solidFill>
                  <a:srgbClr val="F39C12"/>
                </a:solidFill>
                <a:latin typeface="Calibri"/>
              </a:defRPr>
            </a:pPr>
            <a:r>
              <a:t>Partial</a:t>
            </a:r>
          </a:p>
        </p:txBody>
      </p:sp>
      <p:sp>
        <p:nvSpPr>
          <p:cNvPr id="38" name="TextBox 37"/>
          <p:cNvSpPr txBox="1"/>
          <p:nvPr/>
        </p:nvSpPr>
        <p:spPr>
          <a:xfrm>
            <a:off x="8961120" y="4087368"/>
            <a:ext cx="2926080" cy="457200"/>
          </a:xfrm>
          <a:prstGeom prst="rect">
            <a:avLst/>
          </a:prstGeom>
          <a:noFill/>
        </p:spPr>
        <p:txBody>
          <a:bodyPr wrap="square">
            <a:spAutoFit/>
          </a:bodyPr>
          <a:lstStyle/>
          <a:p>
            <a:pPr algn="l">
              <a:defRPr sz="1300" b="0">
                <a:solidFill>
                  <a:srgbClr val="2ECC71"/>
                </a:solidFill>
                <a:latin typeface="Calibri"/>
              </a:defRPr>
            </a:pPr>
            <a:r>
              <a:t>✓ SQLite</a:t>
            </a:r>
          </a:p>
        </p:txBody>
      </p:sp>
      <p:sp>
        <p:nvSpPr>
          <p:cNvPr id="39" name="Rounded Rectangle 38"/>
          <p:cNvSpPr/>
          <p:nvPr/>
        </p:nvSpPr>
        <p:spPr>
          <a:xfrm>
            <a:off x="365760" y="4663440"/>
            <a:ext cx="11430000" cy="502920"/>
          </a:xfrm>
          <a:prstGeom prst="roundRect">
            <a:avLst/>
          </a:prstGeom>
          <a:solidFill>
            <a:srgbClr val="151F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4681727"/>
            <a:ext cx="2194560" cy="457200"/>
          </a:xfrm>
          <a:prstGeom prst="rect">
            <a:avLst/>
          </a:prstGeom>
          <a:noFill/>
        </p:spPr>
        <p:txBody>
          <a:bodyPr wrap="square">
            <a:spAutoFit/>
          </a:bodyPr>
          <a:lstStyle/>
          <a:p>
            <a:pPr algn="l">
              <a:defRPr sz="1300" b="1">
                <a:solidFill>
                  <a:srgbClr val="FFFFFF"/>
                </a:solidFill>
                <a:latin typeface="Calibri"/>
              </a:defRPr>
            </a:pPr>
            <a:r>
              <a:t>Preventive NCD focus</a:t>
            </a:r>
          </a:p>
        </p:txBody>
      </p:sp>
      <p:sp>
        <p:nvSpPr>
          <p:cNvPr id="41" name="TextBox 40"/>
          <p:cNvSpPr txBox="1"/>
          <p:nvPr/>
        </p:nvSpPr>
        <p:spPr>
          <a:xfrm>
            <a:off x="2743200" y="4681727"/>
            <a:ext cx="1920240" cy="457200"/>
          </a:xfrm>
          <a:prstGeom prst="rect">
            <a:avLst/>
          </a:prstGeom>
          <a:noFill/>
        </p:spPr>
        <p:txBody>
          <a:bodyPr wrap="square">
            <a:spAutoFit/>
          </a:bodyPr>
          <a:lstStyle/>
          <a:p>
            <a:pPr algn="l">
              <a:defRPr sz="1300" b="0">
                <a:solidFill>
                  <a:srgbClr val="E74C3C"/>
                </a:solidFill>
                <a:latin typeface="Calibri"/>
              </a:defRPr>
            </a:pPr>
            <a:r>
              <a:t>✗</a:t>
            </a:r>
          </a:p>
        </p:txBody>
      </p:sp>
      <p:sp>
        <p:nvSpPr>
          <p:cNvPr id="42" name="TextBox 41"/>
          <p:cNvSpPr txBox="1"/>
          <p:nvPr/>
        </p:nvSpPr>
        <p:spPr>
          <a:xfrm>
            <a:off x="4754880" y="4681727"/>
            <a:ext cx="1920240" cy="457200"/>
          </a:xfrm>
          <a:prstGeom prst="rect">
            <a:avLst/>
          </a:prstGeom>
          <a:noFill/>
        </p:spPr>
        <p:txBody>
          <a:bodyPr wrap="square">
            <a:spAutoFit/>
          </a:bodyPr>
          <a:lstStyle/>
          <a:p>
            <a:pPr algn="l">
              <a:defRPr sz="1300" b="0">
                <a:solidFill>
                  <a:srgbClr val="F39C12"/>
                </a:solidFill>
                <a:latin typeface="Calibri"/>
              </a:defRPr>
            </a:pPr>
            <a:r>
              <a:t>Partial</a:t>
            </a:r>
          </a:p>
        </p:txBody>
      </p:sp>
      <p:sp>
        <p:nvSpPr>
          <p:cNvPr id="43" name="TextBox 42"/>
          <p:cNvSpPr txBox="1"/>
          <p:nvPr/>
        </p:nvSpPr>
        <p:spPr>
          <a:xfrm>
            <a:off x="6766560" y="4681727"/>
            <a:ext cx="2103120" cy="457200"/>
          </a:xfrm>
          <a:prstGeom prst="rect">
            <a:avLst/>
          </a:prstGeom>
          <a:noFill/>
        </p:spPr>
        <p:txBody>
          <a:bodyPr wrap="square">
            <a:spAutoFit/>
          </a:bodyPr>
          <a:lstStyle/>
          <a:p>
            <a:pPr algn="l">
              <a:defRPr sz="1300" b="0">
                <a:solidFill>
                  <a:srgbClr val="E74C3C"/>
                </a:solidFill>
                <a:latin typeface="Calibri"/>
              </a:defRPr>
            </a:pPr>
            <a:r>
              <a:t>✗</a:t>
            </a:r>
          </a:p>
        </p:txBody>
      </p:sp>
      <p:sp>
        <p:nvSpPr>
          <p:cNvPr id="44" name="TextBox 43"/>
          <p:cNvSpPr txBox="1"/>
          <p:nvPr/>
        </p:nvSpPr>
        <p:spPr>
          <a:xfrm>
            <a:off x="8961120" y="4681727"/>
            <a:ext cx="2926080" cy="457200"/>
          </a:xfrm>
          <a:prstGeom prst="rect">
            <a:avLst/>
          </a:prstGeom>
          <a:noFill/>
        </p:spPr>
        <p:txBody>
          <a:bodyPr wrap="square">
            <a:spAutoFit/>
          </a:bodyPr>
          <a:lstStyle/>
          <a:p>
            <a:pPr algn="l">
              <a:defRPr sz="1300" b="0">
                <a:solidFill>
                  <a:srgbClr val="2ECC71"/>
                </a:solidFill>
                <a:latin typeface="Calibri"/>
              </a:defRPr>
            </a:pPr>
            <a:r>
              <a:t>✓ 15 conditions</a:t>
            </a:r>
          </a:p>
        </p:txBody>
      </p:sp>
      <p:sp>
        <p:nvSpPr>
          <p:cNvPr id="45" name="Rounded Rectangle 44"/>
          <p:cNvSpPr/>
          <p:nvPr/>
        </p:nvSpPr>
        <p:spPr>
          <a:xfrm>
            <a:off x="365760" y="5257800"/>
            <a:ext cx="11430000" cy="5029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5276088"/>
            <a:ext cx="2194560" cy="457200"/>
          </a:xfrm>
          <a:prstGeom prst="rect">
            <a:avLst/>
          </a:prstGeom>
          <a:noFill/>
        </p:spPr>
        <p:txBody>
          <a:bodyPr wrap="square">
            <a:spAutoFit/>
          </a:bodyPr>
          <a:lstStyle/>
          <a:p>
            <a:pPr algn="l">
              <a:defRPr sz="1300" b="1">
                <a:solidFill>
                  <a:srgbClr val="FFFFFF"/>
                </a:solidFill>
                <a:latin typeface="Calibri"/>
              </a:defRPr>
            </a:pPr>
            <a:r>
              <a:t>Open source / Free</a:t>
            </a:r>
          </a:p>
        </p:txBody>
      </p:sp>
      <p:sp>
        <p:nvSpPr>
          <p:cNvPr id="47" name="TextBox 46"/>
          <p:cNvSpPr txBox="1"/>
          <p:nvPr/>
        </p:nvSpPr>
        <p:spPr>
          <a:xfrm>
            <a:off x="2743200" y="5276088"/>
            <a:ext cx="1920240" cy="457200"/>
          </a:xfrm>
          <a:prstGeom prst="rect">
            <a:avLst/>
          </a:prstGeom>
          <a:noFill/>
        </p:spPr>
        <p:txBody>
          <a:bodyPr wrap="square">
            <a:spAutoFit/>
          </a:bodyPr>
          <a:lstStyle/>
          <a:p>
            <a:pPr algn="l">
              <a:defRPr sz="1300" b="0">
                <a:solidFill>
                  <a:srgbClr val="E74C3C"/>
                </a:solidFill>
                <a:latin typeface="Calibri"/>
              </a:defRPr>
            </a:pPr>
            <a:r>
              <a:t>✗</a:t>
            </a:r>
          </a:p>
        </p:txBody>
      </p:sp>
      <p:sp>
        <p:nvSpPr>
          <p:cNvPr id="48" name="TextBox 47"/>
          <p:cNvSpPr txBox="1"/>
          <p:nvPr/>
        </p:nvSpPr>
        <p:spPr>
          <a:xfrm>
            <a:off x="4754880" y="5276088"/>
            <a:ext cx="1920240" cy="457200"/>
          </a:xfrm>
          <a:prstGeom prst="rect">
            <a:avLst/>
          </a:prstGeom>
          <a:noFill/>
        </p:spPr>
        <p:txBody>
          <a:bodyPr wrap="square">
            <a:spAutoFit/>
          </a:bodyPr>
          <a:lstStyle/>
          <a:p>
            <a:pPr algn="l">
              <a:defRPr sz="1300" b="0">
                <a:solidFill>
                  <a:srgbClr val="E74C3C"/>
                </a:solidFill>
                <a:latin typeface="Calibri"/>
              </a:defRPr>
            </a:pPr>
            <a:r>
              <a:t>✗</a:t>
            </a:r>
          </a:p>
        </p:txBody>
      </p:sp>
      <p:sp>
        <p:nvSpPr>
          <p:cNvPr id="49" name="TextBox 48"/>
          <p:cNvSpPr txBox="1"/>
          <p:nvPr/>
        </p:nvSpPr>
        <p:spPr>
          <a:xfrm>
            <a:off x="6766560" y="5276088"/>
            <a:ext cx="2103120" cy="457200"/>
          </a:xfrm>
          <a:prstGeom prst="rect">
            <a:avLst/>
          </a:prstGeom>
          <a:noFill/>
        </p:spPr>
        <p:txBody>
          <a:bodyPr wrap="square">
            <a:spAutoFit/>
          </a:bodyPr>
          <a:lstStyle/>
          <a:p>
            <a:pPr algn="l">
              <a:defRPr sz="1300" b="0">
                <a:solidFill>
                  <a:srgbClr val="2ECC71"/>
                </a:solidFill>
                <a:latin typeface="Calibri"/>
              </a:defRPr>
            </a:pPr>
            <a:r>
              <a:t>✓</a:t>
            </a:r>
          </a:p>
        </p:txBody>
      </p:sp>
      <p:sp>
        <p:nvSpPr>
          <p:cNvPr id="50" name="TextBox 49"/>
          <p:cNvSpPr txBox="1"/>
          <p:nvPr/>
        </p:nvSpPr>
        <p:spPr>
          <a:xfrm>
            <a:off x="8961120" y="5276088"/>
            <a:ext cx="2926080" cy="457200"/>
          </a:xfrm>
          <a:prstGeom prst="rect">
            <a:avLst/>
          </a:prstGeom>
          <a:noFill/>
        </p:spPr>
        <p:txBody>
          <a:bodyPr wrap="square">
            <a:spAutoFit/>
          </a:bodyPr>
          <a:lstStyle/>
          <a:p>
            <a:pPr algn="l">
              <a:defRPr sz="1300" b="0">
                <a:solidFill>
                  <a:srgbClr val="2ECC71"/>
                </a:solidFill>
                <a:latin typeface="Calibri"/>
              </a:defRPr>
            </a:pPr>
            <a:r>
              <a:t>✓ Apache 2.0</a:t>
            </a:r>
          </a:p>
        </p:txBody>
      </p:sp>
      <p:sp>
        <p:nvSpPr>
          <p:cNvPr id="51" name="TextBox 50"/>
          <p:cNvSpPr txBox="1"/>
          <p:nvPr/>
        </p:nvSpPr>
        <p:spPr>
          <a:xfrm>
            <a:off x="457200" y="6035040"/>
            <a:ext cx="10972800" cy="457200"/>
          </a:xfrm>
          <a:prstGeom prst="rect">
            <a:avLst/>
          </a:prstGeom>
          <a:noFill/>
        </p:spPr>
        <p:txBody>
          <a:bodyPr wrap="square">
            <a:spAutoFit/>
          </a:bodyPr>
          <a:lstStyle/>
          <a:p>
            <a:pPr algn="l">
              <a:defRPr sz="1400" b="1">
                <a:solidFill>
                  <a:srgbClr val="FFD93D"/>
                </a:solidFill>
                <a:latin typeface="Calibri"/>
              </a:defRPr>
            </a:pPr>
            <a:r>
              <a:t>Research Gap: No existing Indian platform combines ICMR-grounded RAG + AQI correlation + vernacular support + wearable data + DPDP compliance.</a:t>
            </a:r>
          </a:p>
        </p:txBody>
      </p:sp>
      <p:sp>
        <p:nvSpPr>
          <p:cNvPr id="52" name="Rectangle 51"/>
          <p:cNvSpPr/>
          <p:nvPr/>
        </p:nvSpPr>
        <p:spPr>
          <a:xfrm>
            <a:off x="0" y="6492240"/>
            <a:ext cx="12191695" cy="36576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6510528"/>
            <a:ext cx="5486400" cy="320040"/>
          </a:xfrm>
          <a:prstGeom prst="rect">
            <a:avLst/>
          </a:prstGeom>
          <a:noFill/>
        </p:spPr>
        <p:txBody>
          <a:bodyPr wrap="square">
            <a:spAutoFit/>
          </a:bodyPr>
          <a:lstStyle/>
          <a:p>
            <a:pPr algn="l">
              <a:defRPr sz="900" b="0">
                <a:solidFill>
                  <a:srgbClr val="B0BEC5"/>
                </a:solidFill>
                <a:latin typeface="Calibri"/>
              </a:defRPr>
            </a:pPr>
            <a:r>
              <a:t>MPSTME, SVKM's NMIMS Shirpur | Dept. of IT/AIML | 2026-27</a:t>
            </a:r>
          </a:p>
        </p:txBody>
      </p:sp>
      <p:sp>
        <p:nvSpPr>
          <p:cNvPr id="54" name="TextBox 53"/>
          <p:cNvSpPr txBox="1"/>
          <p:nvPr/>
        </p:nvSpPr>
        <p:spPr>
          <a:xfrm>
            <a:off x="11430000" y="6400800"/>
            <a:ext cx="731520" cy="365760"/>
          </a:xfrm>
          <a:prstGeom prst="rect">
            <a:avLst/>
          </a:prstGeom>
          <a:noFill/>
        </p:spPr>
        <p:txBody>
          <a:bodyPr wrap="square">
            <a:spAutoFit/>
          </a:bodyPr>
          <a:lstStyle/>
          <a:p>
            <a:pPr algn="r">
              <a:defRPr sz="1000" b="0">
                <a:solidFill>
                  <a:srgbClr val="B0BEC5"/>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3600" b="1">
                <a:solidFill>
                  <a:srgbClr val="FFFFFF"/>
                </a:solidFill>
                <a:latin typeface="Calibri"/>
              </a:defRPr>
            </a:pPr>
            <a:r>
              <a:t>Problem Statement</a:t>
            </a:r>
          </a:p>
        </p:txBody>
      </p:sp>
      <p:sp>
        <p:nvSpPr>
          <p:cNvPr id="3" name="Rounded Rectangle 2"/>
          <p:cNvSpPr/>
          <p:nvPr/>
        </p:nvSpPr>
        <p:spPr>
          <a:xfrm>
            <a:off x="457200" y="1188720"/>
            <a:ext cx="11247120" cy="2011680"/>
          </a:xfrm>
          <a:prstGeom prst="roundRect">
            <a:avLst/>
          </a:prstGeom>
          <a:solidFill>
            <a:srgbClr val="122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789920" cy="1828800"/>
          </a:xfrm>
          <a:prstGeom prst="rect">
            <a:avLst/>
          </a:prstGeom>
          <a:noFill/>
        </p:spPr>
        <p:txBody>
          <a:bodyPr wrap="square">
            <a:spAutoFit/>
          </a:bodyPr>
          <a:lstStyle/>
          <a:p>
            <a:pPr algn="l">
              <a:defRPr sz="1800" b="0">
                <a:solidFill>
                  <a:srgbClr val="FFFFFF"/>
                </a:solidFill>
                <a:latin typeface="Calibri"/>
              </a:defRPr>
            </a:pPr>
            <a:r>
              <a:t>To engineer and deploy a mobile-first, multilingual AI health companion that dynamically correlates real-time environmental data (AQI, temperature, humidity) with personalized patient health profiles. The system must operate strictly within the bounds of ICMR clinical guidelines using deterministic retrieval (Google OKF) and corrective RAG (CRAG), ensuring zero hallucination risk in medical advice delivery across English, Hindi, and Marathi.</a:t>
            </a:r>
          </a:p>
        </p:txBody>
      </p:sp>
      <p:sp>
        <p:nvSpPr>
          <p:cNvPr id="5" name="TextBox 4"/>
          <p:cNvSpPr txBox="1"/>
          <p:nvPr/>
        </p:nvSpPr>
        <p:spPr>
          <a:xfrm>
            <a:off x="457200" y="3657600"/>
            <a:ext cx="10972800" cy="457200"/>
          </a:xfrm>
          <a:prstGeom prst="rect">
            <a:avLst/>
          </a:prstGeom>
          <a:noFill/>
        </p:spPr>
        <p:txBody>
          <a:bodyPr wrap="square">
            <a:spAutoFit/>
          </a:bodyPr>
          <a:lstStyle/>
          <a:p>
            <a:pPr algn="l">
              <a:defRPr sz="2400" b="1">
                <a:solidFill>
                  <a:srgbClr val="00B4D8"/>
                </a:solidFill>
                <a:latin typeface="Calibri"/>
              </a:defRPr>
            </a:pPr>
            <a:r>
              <a:t>Sustainable Development Goals</a:t>
            </a:r>
          </a:p>
        </p:txBody>
      </p:sp>
      <p:sp>
        <p:nvSpPr>
          <p:cNvPr id="6" name="Rounded Rectangle 5"/>
          <p:cNvSpPr/>
          <p:nvPr/>
        </p:nvSpPr>
        <p:spPr>
          <a:xfrm>
            <a:off x="457200" y="4297680"/>
            <a:ext cx="3566160" cy="16459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434840"/>
            <a:ext cx="3200400" cy="365760"/>
          </a:xfrm>
          <a:prstGeom prst="rect">
            <a:avLst/>
          </a:prstGeom>
          <a:noFill/>
        </p:spPr>
        <p:txBody>
          <a:bodyPr wrap="square">
            <a:spAutoFit/>
          </a:bodyPr>
          <a:lstStyle/>
          <a:p>
            <a:pPr algn="l">
              <a:defRPr sz="2000" b="1">
                <a:solidFill>
                  <a:srgbClr val="2ECC71"/>
                </a:solidFill>
                <a:latin typeface="Calibri"/>
              </a:defRPr>
            </a:pPr>
            <a:r>
              <a:t>SDG 3</a:t>
            </a:r>
          </a:p>
        </p:txBody>
      </p:sp>
      <p:sp>
        <p:nvSpPr>
          <p:cNvPr id="8" name="TextBox 7"/>
          <p:cNvSpPr txBox="1"/>
          <p:nvPr/>
        </p:nvSpPr>
        <p:spPr>
          <a:xfrm>
            <a:off x="640080" y="4846320"/>
            <a:ext cx="3200400" cy="365760"/>
          </a:xfrm>
          <a:prstGeom prst="rect">
            <a:avLst/>
          </a:prstGeom>
          <a:noFill/>
        </p:spPr>
        <p:txBody>
          <a:bodyPr wrap="square">
            <a:spAutoFit/>
          </a:bodyPr>
          <a:lstStyle/>
          <a:p>
            <a:pPr algn="l">
              <a:defRPr sz="1600" b="1">
                <a:solidFill>
                  <a:srgbClr val="FFFFFF"/>
                </a:solidFill>
                <a:latin typeface="Calibri"/>
              </a:defRPr>
            </a:pPr>
            <a:r>
              <a:t>Good Health &amp; Well-being</a:t>
            </a:r>
          </a:p>
        </p:txBody>
      </p:sp>
      <p:sp>
        <p:nvSpPr>
          <p:cNvPr id="9" name="TextBox 8"/>
          <p:cNvSpPr txBox="1"/>
          <p:nvPr/>
        </p:nvSpPr>
        <p:spPr>
          <a:xfrm>
            <a:off x="640080" y="5212080"/>
            <a:ext cx="3200400" cy="640080"/>
          </a:xfrm>
          <a:prstGeom prst="rect">
            <a:avLst/>
          </a:prstGeom>
          <a:noFill/>
        </p:spPr>
        <p:txBody>
          <a:bodyPr wrap="square">
            <a:spAutoFit/>
          </a:bodyPr>
          <a:lstStyle/>
          <a:p>
            <a:pPr algn="l">
              <a:defRPr sz="1300" b="0">
                <a:solidFill>
                  <a:srgbClr val="B0BEC5"/>
                </a:solidFill>
                <a:latin typeface="Calibri"/>
              </a:defRPr>
            </a:pPr>
            <a:r>
              <a:t>Preventive NCD management, accessible health guidance</a:t>
            </a:r>
          </a:p>
        </p:txBody>
      </p:sp>
      <p:sp>
        <p:nvSpPr>
          <p:cNvPr id="10" name="Rounded Rectangle 9"/>
          <p:cNvSpPr/>
          <p:nvPr/>
        </p:nvSpPr>
        <p:spPr>
          <a:xfrm>
            <a:off x="4297680" y="4297680"/>
            <a:ext cx="3566160" cy="16459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4434840"/>
            <a:ext cx="3200400" cy="365760"/>
          </a:xfrm>
          <a:prstGeom prst="rect">
            <a:avLst/>
          </a:prstGeom>
          <a:noFill/>
        </p:spPr>
        <p:txBody>
          <a:bodyPr wrap="square">
            <a:spAutoFit/>
          </a:bodyPr>
          <a:lstStyle/>
          <a:p>
            <a:pPr algn="l">
              <a:defRPr sz="2000" b="1">
                <a:solidFill>
                  <a:srgbClr val="2ECC71"/>
                </a:solidFill>
                <a:latin typeface="Calibri"/>
              </a:defRPr>
            </a:pPr>
            <a:r>
              <a:t>SDG 11</a:t>
            </a:r>
          </a:p>
        </p:txBody>
      </p:sp>
      <p:sp>
        <p:nvSpPr>
          <p:cNvPr id="12" name="TextBox 11"/>
          <p:cNvSpPr txBox="1"/>
          <p:nvPr/>
        </p:nvSpPr>
        <p:spPr>
          <a:xfrm>
            <a:off x="4480560" y="4846320"/>
            <a:ext cx="3200400" cy="365760"/>
          </a:xfrm>
          <a:prstGeom prst="rect">
            <a:avLst/>
          </a:prstGeom>
          <a:noFill/>
        </p:spPr>
        <p:txBody>
          <a:bodyPr wrap="square">
            <a:spAutoFit/>
          </a:bodyPr>
          <a:lstStyle/>
          <a:p>
            <a:pPr algn="l">
              <a:defRPr sz="1600" b="1">
                <a:solidFill>
                  <a:srgbClr val="FFFFFF"/>
                </a:solidFill>
                <a:latin typeface="Calibri"/>
              </a:defRPr>
            </a:pPr>
            <a:r>
              <a:t>Sustainable Cities</a:t>
            </a:r>
          </a:p>
        </p:txBody>
      </p:sp>
      <p:sp>
        <p:nvSpPr>
          <p:cNvPr id="13" name="TextBox 12"/>
          <p:cNvSpPr txBox="1"/>
          <p:nvPr/>
        </p:nvSpPr>
        <p:spPr>
          <a:xfrm>
            <a:off x="4480560" y="5212080"/>
            <a:ext cx="3200400" cy="640080"/>
          </a:xfrm>
          <a:prstGeom prst="rect">
            <a:avLst/>
          </a:prstGeom>
          <a:noFill/>
        </p:spPr>
        <p:txBody>
          <a:bodyPr wrap="square">
            <a:spAutoFit/>
          </a:bodyPr>
          <a:lstStyle/>
          <a:p>
            <a:pPr algn="l">
              <a:defRPr sz="1300" b="0">
                <a:solidFill>
                  <a:srgbClr val="B0BEC5"/>
                </a:solidFill>
                <a:latin typeface="Calibri"/>
              </a:defRPr>
            </a:pPr>
            <a:r>
              <a:t>AQI-aware health alerts for urban populations</a:t>
            </a:r>
          </a:p>
        </p:txBody>
      </p:sp>
      <p:sp>
        <p:nvSpPr>
          <p:cNvPr id="14" name="Rounded Rectangle 13"/>
          <p:cNvSpPr/>
          <p:nvPr/>
        </p:nvSpPr>
        <p:spPr>
          <a:xfrm>
            <a:off x="8138160" y="4297680"/>
            <a:ext cx="3566160" cy="16459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4434840"/>
            <a:ext cx="3200400" cy="365760"/>
          </a:xfrm>
          <a:prstGeom prst="rect">
            <a:avLst/>
          </a:prstGeom>
          <a:noFill/>
        </p:spPr>
        <p:txBody>
          <a:bodyPr wrap="square">
            <a:spAutoFit/>
          </a:bodyPr>
          <a:lstStyle/>
          <a:p>
            <a:pPr algn="l">
              <a:defRPr sz="2000" b="1">
                <a:solidFill>
                  <a:srgbClr val="2ECC71"/>
                </a:solidFill>
                <a:latin typeface="Calibri"/>
              </a:defRPr>
            </a:pPr>
            <a:r>
              <a:t>SDG 10</a:t>
            </a:r>
          </a:p>
        </p:txBody>
      </p:sp>
      <p:sp>
        <p:nvSpPr>
          <p:cNvPr id="16" name="TextBox 15"/>
          <p:cNvSpPr txBox="1"/>
          <p:nvPr/>
        </p:nvSpPr>
        <p:spPr>
          <a:xfrm>
            <a:off x="8321040" y="4846320"/>
            <a:ext cx="3200400" cy="365760"/>
          </a:xfrm>
          <a:prstGeom prst="rect">
            <a:avLst/>
          </a:prstGeom>
          <a:noFill/>
        </p:spPr>
        <p:txBody>
          <a:bodyPr wrap="square">
            <a:spAutoFit/>
          </a:bodyPr>
          <a:lstStyle/>
          <a:p>
            <a:pPr algn="l">
              <a:defRPr sz="1600" b="1">
                <a:solidFill>
                  <a:srgbClr val="FFFFFF"/>
                </a:solidFill>
                <a:latin typeface="Calibri"/>
              </a:defRPr>
            </a:pPr>
            <a:r>
              <a:t>Reduced Inequalities</a:t>
            </a:r>
          </a:p>
        </p:txBody>
      </p:sp>
      <p:sp>
        <p:nvSpPr>
          <p:cNvPr id="17" name="TextBox 16"/>
          <p:cNvSpPr txBox="1"/>
          <p:nvPr/>
        </p:nvSpPr>
        <p:spPr>
          <a:xfrm>
            <a:off x="8321040" y="5212080"/>
            <a:ext cx="3200400" cy="640080"/>
          </a:xfrm>
          <a:prstGeom prst="rect">
            <a:avLst/>
          </a:prstGeom>
          <a:noFill/>
        </p:spPr>
        <p:txBody>
          <a:bodyPr wrap="square">
            <a:spAutoFit/>
          </a:bodyPr>
          <a:lstStyle/>
          <a:p>
            <a:pPr algn="l">
              <a:defRPr sz="1300" b="0">
                <a:solidFill>
                  <a:srgbClr val="B0BEC5"/>
                </a:solidFill>
                <a:latin typeface="Calibri"/>
              </a:defRPr>
            </a:pPr>
            <a:r>
              <a:t>Vernacular-first design for linguistic equity</a:t>
            </a:r>
          </a:p>
        </p:txBody>
      </p:sp>
      <p:sp>
        <p:nvSpPr>
          <p:cNvPr id="18" name="Rectangle 17"/>
          <p:cNvSpPr/>
          <p:nvPr/>
        </p:nvSpPr>
        <p:spPr>
          <a:xfrm>
            <a:off x="0" y="6492240"/>
            <a:ext cx="12191695" cy="36576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6510528"/>
            <a:ext cx="5486400" cy="320040"/>
          </a:xfrm>
          <a:prstGeom prst="rect">
            <a:avLst/>
          </a:prstGeom>
          <a:noFill/>
        </p:spPr>
        <p:txBody>
          <a:bodyPr wrap="square">
            <a:spAutoFit/>
          </a:bodyPr>
          <a:lstStyle/>
          <a:p>
            <a:pPr algn="l">
              <a:defRPr sz="900" b="0">
                <a:solidFill>
                  <a:srgbClr val="B0BEC5"/>
                </a:solidFill>
                <a:latin typeface="Calibri"/>
              </a:defRPr>
            </a:pPr>
            <a:r>
              <a:t>MPSTME, SVKM's NMIMS Shirpur | Dept. of IT/AIML | 2026-27</a:t>
            </a:r>
          </a:p>
        </p:txBody>
      </p:sp>
      <p:sp>
        <p:nvSpPr>
          <p:cNvPr id="20" name="TextBox 19"/>
          <p:cNvSpPr txBox="1"/>
          <p:nvPr/>
        </p:nvSpPr>
        <p:spPr>
          <a:xfrm>
            <a:off x="11430000" y="6400800"/>
            <a:ext cx="731520" cy="365760"/>
          </a:xfrm>
          <a:prstGeom prst="rect">
            <a:avLst/>
          </a:prstGeom>
          <a:noFill/>
        </p:spPr>
        <p:txBody>
          <a:bodyPr wrap="square">
            <a:spAutoFit/>
          </a:bodyPr>
          <a:lstStyle/>
          <a:p>
            <a:pPr algn="r">
              <a:defRPr sz="1000" b="0">
                <a:solidFill>
                  <a:srgbClr val="B0BEC5"/>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3600" b="1">
                <a:solidFill>
                  <a:srgbClr val="FFFFFF"/>
                </a:solidFill>
                <a:latin typeface="Calibri"/>
              </a:defRPr>
            </a:pPr>
            <a:r>
              <a:t>Objectives</a:t>
            </a:r>
          </a:p>
        </p:txBody>
      </p:sp>
      <p:sp>
        <p:nvSpPr>
          <p:cNvPr id="3" name="Rounded Rectangle 2"/>
          <p:cNvSpPr/>
          <p:nvPr/>
        </p:nvSpPr>
        <p:spPr>
          <a:xfrm>
            <a:off x="457200" y="1097280"/>
            <a:ext cx="11247120" cy="77724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43000"/>
            <a:ext cx="457200" cy="640080"/>
          </a:xfrm>
          <a:prstGeom prst="rect">
            <a:avLst/>
          </a:prstGeom>
          <a:noFill/>
        </p:spPr>
        <p:txBody>
          <a:bodyPr wrap="square">
            <a:spAutoFit/>
          </a:bodyPr>
          <a:lstStyle/>
          <a:p>
            <a:pPr algn="l">
              <a:defRPr sz="2800" b="1">
                <a:solidFill>
                  <a:srgbClr val="00B4D8"/>
                </a:solidFill>
                <a:latin typeface="Calibri"/>
              </a:defRPr>
            </a:pPr>
            <a:r>
              <a:t>1</a:t>
            </a:r>
          </a:p>
        </p:txBody>
      </p:sp>
      <p:sp>
        <p:nvSpPr>
          <p:cNvPr id="5" name="TextBox 4"/>
          <p:cNvSpPr txBox="1"/>
          <p:nvPr/>
        </p:nvSpPr>
        <p:spPr>
          <a:xfrm>
            <a:off x="1188720" y="1143000"/>
            <a:ext cx="2286000" cy="365760"/>
          </a:xfrm>
          <a:prstGeom prst="rect">
            <a:avLst/>
          </a:prstGeom>
          <a:noFill/>
        </p:spPr>
        <p:txBody>
          <a:bodyPr wrap="square">
            <a:spAutoFit/>
          </a:bodyPr>
          <a:lstStyle/>
          <a:p>
            <a:pPr algn="l">
              <a:defRPr sz="1600" b="1">
                <a:solidFill>
                  <a:srgbClr val="FFFFFF"/>
                </a:solidFill>
                <a:latin typeface="Calibri"/>
              </a:defRPr>
            </a:pPr>
            <a:r>
              <a:t>Hybrid AI Pipeline</a:t>
            </a:r>
          </a:p>
        </p:txBody>
      </p:sp>
      <p:sp>
        <p:nvSpPr>
          <p:cNvPr id="6" name="TextBox 5"/>
          <p:cNvSpPr txBox="1"/>
          <p:nvPr/>
        </p:nvSpPr>
        <p:spPr>
          <a:xfrm>
            <a:off x="1188720" y="1463040"/>
            <a:ext cx="10332720" cy="365760"/>
          </a:xfrm>
          <a:prstGeom prst="rect">
            <a:avLst/>
          </a:prstGeom>
          <a:noFill/>
        </p:spPr>
        <p:txBody>
          <a:bodyPr wrap="square">
            <a:spAutoFit/>
          </a:bodyPr>
          <a:lstStyle/>
          <a:p>
            <a:pPr algn="l">
              <a:defRPr sz="1300" b="0">
                <a:solidFill>
                  <a:srgbClr val="B0BEC5"/>
                </a:solidFill>
                <a:latin typeface="Calibri"/>
              </a:defRPr>
            </a:pPr>
            <a:r>
              <a:t>Implement Google OKF alongside Corrective RAG (CRAG) using Llama 3.1 8B for deterministic, hallucination-free retrieval of ICMR guidelines</a:t>
            </a:r>
          </a:p>
        </p:txBody>
      </p:sp>
      <p:sp>
        <p:nvSpPr>
          <p:cNvPr id="7" name="Rounded Rectangle 6"/>
          <p:cNvSpPr/>
          <p:nvPr/>
        </p:nvSpPr>
        <p:spPr>
          <a:xfrm>
            <a:off x="457200" y="2011680"/>
            <a:ext cx="11247120" cy="77724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57400"/>
            <a:ext cx="457200" cy="640080"/>
          </a:xfrm>
          <a:prstGeom prst="rect">
            <a:avLst/>
          </a:prstGeom>
          <a:noFill/>
        </p:spPr>
        <p:txBody>
          <a:bodyPr wrap="square">
            <a:spAutoFit/>
          </a:bodyPr>
          <a:lstStyle/>
          <a:p>
            <a:pPr algn="l">
              <a:defRPr sz="2800" b="1">
                <a:solidFill>
                  <a:srgbClr val="00B4D8"/>
                </a:solidFill>
                <a:latin typeface="Calibri"/>
              </a:defRPr>
            </a:pPr>
            <a:r>
              <a:t>2</a:t>
            </a:r>
          </a:p>
        </p:txBody>
      </p:sp>
      <p:sp>
        <p:nvSpPr>
          <p:cNvPr id="9" name="TextBox 8"/>
          <p:cNvSpPr txBox="1"/>
          <p:nvPr/>
        </p:nvSpPr>
        <p:spPr>
          <a:xfrm>
            <a:off x="1188720" y="2057400"/>
            <a:ext cx="2286000" cy="365760"/>
          </a:xfrm>
          <a:prstGeom prst="rect">
            <a:avLst/>
          </a:prstGeom>
          <a:noFill/>
        </p:spPr>
        <p:txBody>
          <a:bodyPr wrap="square">
            <a:spAutoFit/>
          </a:bodyPr>
          <a:lstStyle/>
          <a:p>
            <a:pPr algn="l">
              <a:defRPr sz="1600" b="1">
                <a:solidFill>
                  <a:srgbClr val="FFFFFF"/>
                </a:solidFill>
                <a:latin typeface="Calibri"/>
              </a:defRPr>
            </a:pPr>
            <a:r>
              <a:t>Environment-Aware Intelligence</a:t>
            </a:r>
          </a:p>
        </p:txBody>
      </p:sp>
      <p:sp>
        <p:nvSpPr>
          <p:cNvPr id="10" name="TextBox 9"/>
          <p:cNvSpPr txBox="1"/>
          <p:nvPr/>
        </p:nvSpPr>
        <p:spPr>
          <a:xfrm>
            <a:off x="1188720" y="2377440"/>
            <a:ext cx="10332720" cy="365760"/>
          </a:xfrm>
          <a:prstGeom prst="rect">
            <a:avLst/>
          </a:prstGeom>
          <a:noFill/>
        </p:spPr>
        <p:txBody>
          <a:bodyPr wrap="square">
            <a:spAutoFit/>
          </a:bodyPr>
          <a:lstStyle/>
          <a:p>
            <a:pPr algn="l">
              <a:defRPr sz="1300" b="0">
                <a:solidFill>
                  <a:srgbClr val="B0BEC5"/>
                </a:solidFill>
                <a:latin typeface="Calibri"/>
              </a:defRPr>
            </a:pPr>
            <a:r>
              <a:t>Correlate real-time AQI (WAQI), weather (Open-Meteo), and UV data with user health profiles for proactive alerts</a:t>
            </a:r>
          </a:p>
        </p:txBody>
      </p:sp>
      <p:sp>
        <p:nvSpPr>
          <p:cNvPr id="11" name="Rounded Rectangle 10"/>
          <p:cNvSpPr/>
          <p:nvPr/>
        </p:nvSpPr>
        <p:spPr>
          <a:xfrm>
            <a:off x="457200" y="2926080"/>
            <a:ext cx="11247120" cy="77724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971800"/>
            <a:ext cx="457200" cy="640080"/>
          </a:xfrm>
          <a:prstGeom prst="rect">
            <a:avLst/>
          </a:prstGeom>
          <a:noFill/>
        </p:spPr>
        <p:txBody>
          <a:bodyPr wrap="square">
            <a:spAutoFit/>
          </a:bodyPr>
          <a:lstStyle/>
          <a:p>
            <a:pPr algn="l">
              <a:defRPr sz="2800" b="1">
                <a:solidFill>
                  <a:srgbClr val="00B4D8"/>
                </a:solidFill>
                <a:latin typeface="Calibri"/>
              </a:defRPr>
            </a:pPr>
            <a:r>
              <a:t>3</a:t>
            </a:r>
          </a:p>
        </p:txBody>
      </p:sp>
      <p:sp>
        <p:nvSpPr>
          <p:cNvPr id="13" name="TextBox 12"/>
          <p:cNvSpPr txBox="1"/>
          <p:nvPr/>
        </p:nvSpPr>
        <p:spPr>
          <a:xfrm>
            <a:off x="1188720" y="2971800"/>
            <a:ext cx="2286000" cy="365760"/>
          </a:xfrm>
          <a:prstGeom prst="rect">
            <a:avLst/>
          </a:prstGeom>
          <a:noFill/>
        </p:spPr>
        <p:txBody>
          <a:bodyPr wrap="square">
            <a:spAutoFit/>
          </a:bodyPr>
          <a:lstStyle/>
          <a:p>
            <a:pPr algn="l">
              <a:defRPr sz="1600" b="1">
                <a:solidFill>
                  <a:srgbClr val="FFFFFF"/>
                </a:solidFill>
                <a:latin typeface="Calibri"/>
              </a:defRPr>
            </a:pPr>
            <a:r>
              <a:t>Vernacular-First Accessibility</a:t>
            </a:r>
          </a:p>
        </p:txBody>
      </p:sp>
      <p:sp>
        <p:nvSpPr>
          <p:cNvPr id="14" name="TextBox 13"/>
          <p:cNvSpPr txBox="1"/>
          <p:nvPr/>
        </p:nvSpPr>
        <p:spPr>
          <a:xfrm>
            <a:off x="1188720" y="3291840"/>
            <a:ext cx="10332720" cy="365760"/>
          </a:xfrm>
          <a:prstGeom prst="rect">
            <a:avLst/>
          </a:prstGeom>
          <a:noFill/>
        </p:spPr>
        <p:txBody>
          <a:bodyPr wrap="square">
            <a:spAutoFit/>
          </a:bodyPr>
          <a:lstStyle/>
          <a:p>
            <a:pPr algn="l">
              <a:defRPr sz="1300" b="0">
                <a:solidFill>
                  <a:srgbClr val="B0BEC5"/>
                </a:solidFill>
                <a:latin typeface="Calibri"/>
              </a:defRPr>
            </a:pPr>
            <a:r>
              <a:t>Deploy Bhashini API for seamless Hindi, Marathi, and English medical translation</a:t>
            </a:r>
          </a:p>
        </p:txBody>
      </p:sp>
      <p:sp>
        <p:nvSpPr>
          <p:cNvPr id="15" name="Rounded Rectangle 14"/>
          <p:cNvSpPr/>
          <p:nvPr/>
        </p:nvSpPr>
        <p:spPr>
          <a:xfrm>
            <a:off x="457200" y="3840480"/>
            <a:ext cx="11247120" cy="77724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886200"/>
            <a:ext cx="457200" cy="640080"/>
          </a:xfrm>
          <a:prstGeom prst="rect">
            <a:avLst/>
          </a:prstGeom>
          <a:noFill/>
        </p:spPr>
        <p:txBody>
          <a:bodyPr wrap="square">
            <a:spAutoFit/>
          </a:bodyPr>
          <a:lstStyle/>
          <a:p>
            <a:pPr algn="l">
              <a:defRPr sz="2800" b="1">
                <a:solidFill>
                  <a:srgbClr val="00B4D8"/>
                </a:solidFill>
                <a:latin typeface="Calibri"/>
              </a:defRPr>
            </a:pPr>
            <a:r>
              <a:t>4</a:t>
            </a:r>
          </a:p>
        </p:txBody>
      </p:sp>
      <p:sp>
        <p:nvSpPr>
          <p:cNvPr id="17" name="TextBox 16"/>
          <p:cNvSpPr txBox="1"/>
          <p:nvPr/>
        </p:nvSpPr>
        <p:spPr>
          <a:xfrm>
            <a:off x="1188720" y="3886200"/>
            <a:ext cx="2286000" cy="365760"/>
          </a:xfrm>
          <a:prstGeom prst="rect">
            <a:avLst/>
          </a:prstGeom>
          <a:noFill/>
        </p:spPr>
        <p:txBody>
          <a:bodyPr wrap="square">
            <a:spAutoFit/>
          </a:bodyPr>
          <a:lstStyle/>
          <a:p>
            <a:pPr algn="l">
              <a:defRPr sz="1600" b="1">
                <a:solidFill>
                  <a:srgbClr val="FFFFFF"/>
                </a:solidFill>
                <a:latin typeface="Calibri"/>
              </a:defRPr>
            </a:pPr>
            <a:r>
              <a:t>Wearable Health Tracking</a:t>
            </a:r>
          </a:p>
        </p:txBody>
      </p:sp>
      <p:sp>
        <p:nvSpPr>
          <p:cNvPr id="18" name="TextBox 17"/>
          <p:cNvSpPr txBox="1"/>
          <p:nvPr/>
        </p:nvSpPr>
        <p:spPr>
          <a:xfrm>
            <a:off x="1188720" y="4206240"/>
            <a:ext cx="10332720" cy="365760"/>
          </a:xfrm>
          <a:prstGeom prst="rect">
            <a:avLst/>
          </a:prstGeom>
          <a:noFill/>
        </p:spPr>
        <p:txBody>
          <a:bodyPr wrap="square">
            <a:spAutoFit/>
          </a:bodyPr>
          <a:lstStyle/>
          <a:p>
            <a:pPr algn="l">
              <a:defRPr sz="1300" b="0">
                <a:solidFill>
                  <a:srgbClr val="B0BEC5"/>
                </a:solidFill>
                <a:latin typeface="Calibri"/>
              </a:defRPr>
            </a:pPr>
            <a:r>
              <a:t>Integrate Health Connect SDK to read 23+ health metrics from Fitbit, Google Fit, Samsung Health</a:t>
            </a:r>
          </a:p>
        </p:txBody>
      </p:sp>
      <p:sp>
        <p:nvSpPr>
          <p:cNvPr id="19" name="Rounded Rectangle 18"/>
          <p:cNvSpPr/>
          <p:nvPr/>
        </p:nvSpPr>
        <p:spPr>
          <a:xfrm>
            <a:off x="457200" y="4754880"/>
            <a:ext cx="11247120" cy="77724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800600"/>
            <a:ext cx="457200" cy="640080"/>
          </a:xfrm>
          <a:prstGeom prst="rect">
            <a:avLst/>
          </a:prstGeom>
          <a:noFill/>
        </p:spPr>
        <p:txBody>
          <a:bodyPr wrap="square">
            <a:spAutoFit/>
          </a:bodyPr>
          <a:lstStyle/>
          <a:p>
            <a:pPr algn="l">
              <a:defRPr sz="2800" b="1">
                <a:solidFill>
                  <a:srgbClr val="00B4D8"/>
                </a:solidFill>
                <a:latin typeface="Calibri"/>
              </a:defRPr>
            </a:pPr>
            <a:r>
              <a:t>5</a:t>
            </a:r>
          </a:p>
        </p:txBody>
      </p:sp>
      <p:sp>
        <p:nvSpPr>
          <p:cNvPr id="21" name="TextBox 20"/>
          <p:cNvSpPr txBox="1"/>
          <p:nvPr/>
        </p:nvSpPr>
        <p:spPr>
          <a:xfrm>
            <a:off x="1188720" y="4800600"/>
            <a:ext cx="2286000" cy="365760"/>
          </a:xfrm>
          <a:prstGeom prst="rect">
            <a:avLst/>
          </a:prstGeom>
          <a:noFill/>
        </p:spPr>
        <p:txBody>
          <a:bodyPr wrap="square">
            <a:spAutoFit/>
          </a:bodyPr>
          <a:lstStyle/>
          <a:p>
            <a:pPr algn="l">
              <a:defRPr sz="1600" b="1">
                <a:solidFill>
                  <a:srgbClr val="FFFFFF"/>
                </a:solidFill>
                <a:latin typeface="Calibri"/>
              </a:defRPr>
            </a:pPr>
            <a:r>
              <a:t>DPDP-Compliant Architecture</a:t>
            </a:r>
          </a:p>
        </p:txBody>
      </p:sp>
      <p:sp>
        <p:nvSpPr>
          <p:cNvPr id="22" name="TextBox 21"/>
          <p:cNvSpPr txBox="1"/>
          <p:nvPr/>
        </p:nvSpPr>
        <p:spPr>
          <a:xfrm>
            <a:off x="1188720" y="5120640"/>
            <a:ext cx="10332720" cy="365760"/>
          </a:xfrm>
          <a:prstGeom prst="rect">
            <a:avLst/>
          </a:prstGeom>
          <a:noFill/>
        </p:spPr>
        <p:txBody>
          <a:bodyPr wrap="square">
            <a:spAutoFit/>
          </a:bodyPr>
          <a:lstStyle/>
          <a:p>
            <a:pPr algn="l">
              <a:defRPr sz="1300" b="0">
                <a:solidFill>
                  <a:srgbClr val="B0BEC5"/>
                </a:solidFill>
                <a:latin typeface="Calibri"/>
              </a:defRPr>
            </a:pPr>
            <a:r>
              <a:t>On-device SQLite storage with zero central data collection, complying with India's DPDP Act 2023</a:t>
            </a:r>
          </a:p>
        </p:txBody>
      </p:sp>
      <p:sp>
        <p:nvSpPr>
          <p:cNvPr id="23" name="Rounded Rectangle 22"/>
          <p:cNvSpPr/>
          <p:nvPr/>
        </p:nvSpPr>
        <p:spPr>
          <a:xfrm>
            <a:off x="457200" y="5669280"/>
            <a:ext cx="11247120" cy="77724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715000"/>
            <a:ext cx="457200" cy="640080"/>
          </a:xfrm>
          <a:prstGeom prst="rect">
            <a:avLst/>
          </a:prstGeom>
          <a:noFill/>
        </p:spPr>
        <p:txBody>
          <a:bodyPr wrap="square">
            <a:spAutoFit/>
          </a:bodyPr>
          <a:lstStyle/>
          <a:p>
            <a:pPr algn="l">
              <a:defRPr sz="2800" b="1">
                <a:solidFill>
                  <a:srgbClr val="00B4D8"/>
                </a:solidFill>
                <a:latin typeface="Calibri"/>
              </a:defRPr>
            </a:pPr>
            <a:r>
              <a:t>6</a:t>
            </a:r>
          </a:p>
        </p:txBody>
      </p:sp>
      <p:sp>
        <p:nvSpPr>
          <p:cNvPr id="25" name="TextBox 24"/>
          <p:cNvSpPr txBox="1"/>
          <p:nvPr/>
        </p:nvSpPr>
        <p:spPr>
          <a:xfrm>
            <a:off x="1188720" y="5715000"/>
            <a:ext cx="2286000" cy="365760"/>
          </a:xfrm>
          <a:prstGeom prst="rect">
            <a:avLst/>
          </a:prstGeom>
          <a:noFill/>
        </p:spPr>
        <p:txBody>
          <a:bodyPr wrap="square">
            <a:spAutoFit/>
          </a:bodyPr>
          <a:lstStyle/>
          <a:p>
            <a:pPr algn="l">
              <a:defRPr sz="1600" b="1">
                <a:solidFill>
                  <a:srgbClr val="FFFFFF"/>
                </a:solidFill>
                <a:latin typeface="Calibri"/>
              </a:defRPr>
            </a:pPr>
            <a:r>
              <a:t>Clinical Safety Layer</a:t>
            </a:r>
          </a:p>
        </p:txBody>
      </p:sp>
      <p:sp>
        <p:nvSpPr>
          <p:cNvPr id="26" name="TextBox 25"/>
          <p:cNvSpPr txBox="1"/>
          <p:nvPr/>
        </p:nvSpPr>
        <p:spPr>
          <a:xfrm>
            <a:off x="1188720" y="6035040"/>
            <a:ext cx="10332720" cy="365760"/>
          </a:xfrm>
          <a:prstGeom prst="rect">
            <a:avLst/>
          </a:prstGeom>
          <a:noFill/>
        </p:spPr>
        <p:txBody>
          <a:bodyPr wrap="square">
            <a:spAutoFit/>
          </a:bodyPr>
          <a:lstStyle/>
          <a:p>
            <a:pPr algn="l">
              <a:defRPr sz="1300" b="0">
                <a:solidFill>
                  <a:srgbClr val="B0BEC5"/>
                </a:solidFill>
                <a:latin typeface="Calibri"/>
              </a:defRPr>
            </a:pPr>
            <a:r>
              <a:t>Implement Semantic Router for emergency detection, prescription blocking, and post-generation disclaimers</a:t>
            </a:r>
          </a:p>
        </p:txBody>
      </p:sp>
      <p:sp>
        <p:nvSpPr>
          <p:cNvPr id="27" name="Rectangle 26"/>
          <p:cNvSpPr/>
          <p:nvPr/>
        </p:nvSpPr>
        <p:spPr>
          <a:xfrm>
            <a:off x="0" y="6492240"/>
            <a:ext cx="12191695" cy="36576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6510528"/>
            <a:ext cx="5486400" cy="320040"/>
          </a:xfrm>
          <a:prstGeom prst="rect">
            <a:avLst/>
          </a:prstGeom>
          <a:noFill/>
        </p:spPr>
        <p:txBody>
          <a:bodyPr wrap="square">
            <a:spAutoFit/>
          </a:bodyPr>
          <a:lstStyle/>
          <a:p>
            <a:pPr algn="l">
              <a:defRPr sz="900" b="0">
                <a:solidFill>
                  <a:srgbClr val="B0BEC5"/>
                </a:solidFill>
                <a:latin typeface="Calibri"/>
              </a:defRPr>
            </a:pPr>
            <a:r>
              <a:t>MPSTME, SVKM's NMIMS Shirpur | Dept. of IT/AIML | 2026-27</a:t>
            </a:r>
          </a:p>
        </p:txBody>
      </p:sp>
      <p:sp>
        <p:nvSpPr>
          <p:cNvPr id="29" name="TextBox 28"/>
          <p:cNvSpPr txBox="1"/>
          <p:nvPr/>
        </p:nvSpPr>
        <p:spPr>
          <a:xfrm>
            <a:off x="11430000" y="6400800"/>
            <a:ext cx="731520" cy="365760"/>
          </a:xfrm>
          <a:prstGeom prst="rect">
            <a:avLst/>
          </a:prstGeom>
          <a:noFill/>
        </p:spPr>
        <p:txBody>
          <a:bodyPr wrap="square">
            <a:spAutoFit/>
          </a:bodyPr>
          <a:lstStyle/>
          <a:p>
            <a:pPr algn="r">
              <a:defRPr sz="1000" b="0">
                <a:solidFill>
                  <a:srgbClr val="B0BEC5"/>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3000" b="1">
                <a:solidFill>
                  <a:srgbClr val="FFFFFF"/>
                </a:solidFill>
                <a:latin typeface="Calibri"/>
              </a:defRPr>
            </a:pPr>
            <a:r>
              <a:t>System Architecture — OKF + CRAG Hybrid Pipeline</a:t>
            </a:r>
          </a:p>
        </p:txBody>
      </p:sp>
      <p:sp>
        <p:nvSpPr>
          <p:cNvPr id="3" name="Rounded Rectangle 2"/>
          <p:cNvSpPr/>
          <p:nvPr/>
        </p:nvSpPr>
        <p:spPr>
          <a:xfrm>
            <a:off x="274320" y="1188720"/>
            <a:ext cx="1554480" cy="2011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371600" cy="274320"/>
          </a:xfrm>
          <a:prstGeom prst="rect">
            <a:avLst/>
          </a:prstGeom>
          <a:noFill/>
        </p:spPr>
        <p:txBody>
          <a:bodyPr wrap="square">
            <a:spAutoFit/>
          </a:bodyPr>
          <a:lstStyle/>
          <a:p>
            <a:pPr algn="ctr">
              <a:defRPr sz="1100" b="1">
                <a:solidFill>
                  <a:srgbClr val="00B4D8"/>
                </a:solidFill>
                <a:latin typeface="Calibri"/>
              </a:defRPr>
            </a:pPr>
            <a:r>
              <a:t>Step 1</a:t>
            </a:r>
          </a:p>
        </p:txBody>
      </p:sp>
      <p:sp>
        <p:nvSpPr>
          <p:cNvPr id="5" name="TextBox 4"/>
          <p:cNvSpPr txBox="1"/>
          <p:nvPr/>
        </p:nvSpPr>
        <p:spPr>
          <a:xfrm>
            <a:off x="365760" y="1554480"/>
            <a:ext cx="1371600" cy="640080"/>
          </a:xfrm>
          <a:prstGeom prst="rect">
            <a:avLst/>
          </a:prstGeom>
          <a:noFill/>
        </p:spPr>
        <p:txBody>
          <a:bodyPr wrap="square">
            <a:spAutoFit/>
          </a:bodyPr>
          <a:lstStyle/>
          <a:p>
            <a:pPr algn="ctr">
              <a:defRPr sz="1400" b="1">
                <a:solidFill>
                  <a:srgbClr val="FFFFFF"/>
                </a:solidFill>
                <a:latin typeface="Calibri"/>
              </a:defRPr>
            </a:pPr>
            <a:r>
              <a:t>Flutter App</a:t>
            </a:r>
            <a:br/>
            <a:r>
              <a:t>(Android)</a:t>
            </a:r>
          </a:p>
        </p:txBody>
      </p:sp>
      <p:sp>
        <p:nvSpPr>
          <p:cNvPr id="6" name="TextBox 5"/>
          <p:cNvSpPr txBox="1"/>
          <p:nvPr/>
        </p:nvSpPr>
        <p:spPr>
          <a:xfrm>
            <a:off x="365760" y="2286000"/>
            <a:ext cx="1371600" cy="640080"/>
          </a:xfrm>
          <a:prstGeom prst="rect">
            <a:avLst/>
          </a:prstGeom>
          <a:noFill/>
        </p:spPr>
        <p:txBody>
          <a:bodyPr wrap="square">
            <a:spAutoFit/>
          </a:bodyPr>
          <a:lstStyle/>
          <a:p>
            <a:pPr algn="ctr">
              <a:defRPr sz="1100" b="0">
                <a:solidFill>
                  <a:srgbClr val="B0BEC5"/>
                </a:solidFill>
                <a:latin typeface="Calibri"/>
              </a:defRPr>
            </a:pPr>
            <a:r>
              <a:t>User query</a:t>
            </a:r>
            <a:br/>
            <a:r>
              <a:t>in HI/MR/EN</a:t>
            </a:r>
          </a:p>
        </p:txBody>
      </p:sp>
      <p:sp>
        <p:nvSpPr>
          <p:cNvPr id="7" name="Rounded Rectangle 6"/>
          <p:cNvSpPr/>
          <p:nvPr/>
        </p:nvSpPr>
        <p:spPr>
          <a:xfrm>
            <a:off x="1965960" y="1188720"/>
            <a:ext cx="1554480" cy="2011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57400" y="1280160"/>
            <a:ext cx="1371600" cy="274320"/>
          </a:xfrm>
          <a:prstGeom prst="rect">
            <a:avLst/>
          </a:prstGeom>
          <a:noFill/>
        </p:spPr>
        <p:txBody>
          <a:bodyPr wrap="square">
            <a:spAutoFit/>
          </a:bodyPr>
          <a:lstStyle/>
          <a:p>
            <a:pPr algn="ctr">
              <a:defRPr sz="1100" b="1">
                <a:solidFill>
                  <a:srgbClr val="E74C3C"/>
                </a:solidFill>
                <a:latin typeface="Calibri"/>
              </a:defRPr>
            </a:pPr>
            <a:r>
              <a:t>Step 2</a:t>
            </a:r>
          </a:p>
        </p:txBody>
      </p:sp>
      <p:sp>
        <p:nvSpPr>
          <p:cNvPr id="9" name="TextBox 8"/>
          <p:cNvSpPr txBox="1"/>
          <p:nvPr/>
        </p:nvSpPr>
        <p:spPr>
          <a:xfrm>
            <a:off x="2057400" y="1554480"/>
            <a:ext cx="1371600" cy="640080"/>
          </a:xfrm>
          <a:prstGeom prst="rect">
            <a:avLst/>
          </a:prstGeom>
          <a:noFill/>
        </p:spPr>
        <p:txBody>
          <a:bodyPr wrap="square">
            <a:spAutoFit/>
          </a:bodyPr>
          <a:lstStyle/>
          <a:p>
            <a:pPr algn="ctr">
              <a:defRPr sz="1400" b="1">
                <a:solidFill>
                  <a:srgbClr val="FFFFFF"/>
                </a:solidFill>
                <a:latin typeface="Calibri"/>
              </a:defRPr>
            </a:pPr>
            <a:r>
              <a:t>Semantic</a:t>
            </a:r>
            <a:br/>
            <a:r>
              <a:t>Router</a:t>
            </a:r>
          </a:p>
        </p:txBody>
      </p:sp>
      <p:sp>
        <p:nvSpPr>
          <p:cNvPr id="10" name="TextBox 9"/>
          <p:cNvSpPr txBox="1"/>
          <p:nvPr/>
        </p:nvSpPr>
        <p:spPr>
          <a:xfrm>
            <a:off x="2057400" y="2286000"/>
            <a:ext cx="1371600" cy="640080"/>
          </a:xfrm>
          <a:prstGeom prst="rect">
            <a:avLst/>
          </a:prstGeom>
          <a:noFill/>
        </p:spPr>
        <p:txBody>
          <a:bodyPr wrap="square">
            <a:spAutoFit/>
          </a:bodyPr>
          <a:lstStyle/>
          <a:p>
            <a:pPr algn="ctr">
              <a:defRPr sz="1100" b="0">
                <a:solidFill>
                  <a:srgbClr val="B0BEC5"/>
                </a:solidFill>
                <a:latin typeface="Calibri"/>
              </a:defRPr>
            </a:pPr>
            <a:r>
              <a:t>Emergency/</a:t>
            </a:r>
            <a:br/>
            <a:r>
              <a:t>Rx blocking</a:t>
            </a:r>
          </a:p>
        </p:txBody>
      </p:sp>
      <p:sp>
        <p:nvSpPr>
          <p:cNvPr id="11" name="Rounded Rectangle 10"/>
          <p:cNvSpPr/>
          <p:nvPr/>
        </p:nvSpPr>
        <p:spPr>
          <a:xfrm>
            <a:off x="3657600" y="1188720"/>
            <a:ext cx="1554480" cy="2011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9039" y="1280160"/>
            <a:ext cx="1371600" cy="274320"/>
          </a:xfrm>
          <a:prstGeom prst="rect">
            <a:avLst/>
          </a:prstGeom>
          <a:noFill/>
        </p:spPr>
        <p:txBody>
          <a:bodyPr wrap="square">
            <a:spAutoFit/>
          </a:bodyPr>
          <a:lstStyle/>
          <a:p>
            <a:pPr algn="ctr">
              <a:defRPr sz="1100" b="1">
                <a:solidFill>
                  <a:srgbClr val="F39C12"/>
                </a:solidFill>
                <a:latin typeface="Calibri"/>
              </a:defRPr>
            </a:pPr>
            <a:r>
              <a:t>Step 3</a:t>
            </a:r>
          </a:p>
        </p:txBody>
      </p:sp>
      <p:sp>
        <p:nvSpPr>
          <p:cNvPr id="13" name="TextBox 12"/>
          <p:cNvSpPr txBox="1"/>
          <p:nvPr/>
        </p:nvSpPr>
        <p:spPr>
          <a:xfrm>
            <a:off x="3749039" y="1554480"/>
            <a:ext cx="1371600" cy="640080"/>
          </a:xfrm>
          <a:prstGeom prst="rect">
            <a:avLst/>
          </a:prstGeom>
          <a:noFill/>
        </p:spPr>
        <p:txBody>
          <a:bodyPr wrap="square">
            <a:spAutoFit/>
          </a:bodyPr>
          <a:lstStyle/>
          <a:p>
            <a:pPr algn="ctr">
              <a:defRPr sz="1400" b="1">
                <a:solidFill>
                  <a:srgbClr val="FFFFFF"/>
                </a:solidFill>
                <a:latin typeface="Calibri"/>
              </a:defRPr>
            </a:pPr>
            <a:r>
              <a:t>Bhashini</a:t>
            </a:r>
            <a:br/>
            <a:r>
              <a:t>API</a:t>
            </a:r>
          </a:p>
        </p:txBody>
      </p:sp>
      <p:sp>
        <p:nvSpPr>
          <p:cNvPr id="14" name="TextBox 13"/>
          <p:cNvSpPr txBox="1"/>
          <p:nvPr/>
        </p:nvSpPr>
        <p:spPr>
          <a:xfrm>
            <a:off x="3749039" y="2286000"/>
            <a:ext cx="1371600" cy="640080"/>
          </a:xfrm>
          <a:prstGeom prst="rect">
            <a:avLst/>
          </a:prstGeom>
          <a:noFill/>
        </p:spPr>
        <p:txBody>
          <a:bodyPr wrap="square">
            <a:spAutoFit/>
          </a:bodyPr>
          <a:lstStyle/>
          <a:p>
            <a:pPr algn="ctr">
              <a:defRPr sz="1100" b="0">
                <a:solidFill>
                  <a:srgbClr val="B0BEC5"/>
                </a:solidFill>
                <a:latin typeface="Calibri"/>
              </a:defRPr>
            </a:pPr>
            <a:r>
              <a:t>HI/MR → EN</a:t>
            </a:r>
            <a:br/>
            <a:r>
              <a:t>translation</a:t>
            </a:r>
          </a:p>
        </p:txBody>
      </p:sp>
      <p:sp>
        <p:nvSpPr>
          <p:cNvPr id="15" name="Rounded Rectangle 14"/>
          <p:cNvSpPr/>
          <p:nvPr/>
        </p:nvSpPr>
        <p:spPr>
          <a:xfrm>
            <a:off x="5349240" y="1188720"/>
            <a:ext cx="1554480" cy="2011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40680" y="1280160"/>
            <a:ext cx="1371600" cy="274320"/>
          </a:xfrm>
          <a:prstGeom prst="rect">
            <a:avLst/>
          </a:prstGeom>
          <a:noFill/>
        </p:spPr>
        <p:txBody>
          <a:bodyPr wrap="square">
            <a:spAutoFit/>
          </a:bodyPr>
          <a:lstStyle/>
          <a:p>
            <a:pPr algn="ctr">
              <a:defRPr sz="1100" b="1">
                <a:solidFill>
                  <a:srgbClr val="2ECC71"/>
                </a:solidFill>
                <a:latin typeface="Calibri"/>
              </a:defRPr>
            </a:pPr>
            <a:r>
              <a:t>Step 4</a:t>
            </a:r>
          </a:p>
        </p:txBody>
      </p:sp>
      <p:sp>
        <p:nvSpPr>
          <p:cNvPr id="17" name="TextBox 16"/>
          <p:cNvSpPr txBox="1"/>
          <p:nvPr/>
        </p:nvSpPr>
        <p:spPr>
          <a:xfrm>
            <a:off x="5440680" y="1554480"/>
            <a:ext cx="1371600" cy="640080"/>
          </a:xfrm>
          <a:prstGeom prst="rect">
            <a:avLst/>
          </a:prstGeom>
          <a:noFill/>
        </p:spPr>
        <p:txBody>
          <a:bodyPr wrap="square">
            <a:spAutoFit/>
          </a:bodyPr>
          <a:lstStyle/>
          <a:p>
            <a:pPr algn="ctr">
              <a:defRPr sz="1400" b="1">
                <a:solidFill>
                  <a:srgbClr val="FFFFFF"/>
                </a:solidFill>
                <a:latin typeface="Calibri"/>
              </a:defRPr>
            </a:pPr>
            <a:r>
              <a:t>OKF</a:t>
            </a:r>
            <a:br/>
            <a:r>
              <a:t>Navigator</a:t>
            </a:r>
          </a:p>
        </p:txBody>
      </p:sp>
      <p:sp>
        <p:nvSpPr>
          <p:cNvPr id="18" name="TextBox 17"/>
          <p:cNvSpPr txBox="1"/>
          <p:nvPr/>
        </p:nvSpPr>
        <p:spPr>
          <a:xfrm>
            <a:off x="5440680" y="2286000"/>
            <a:ext cx="1371600" cy="640080"/>
          </a:xfrm>
          <a:prstGeom prst="rect">
            <a:avLst/>
          </a:prstGeom>
          <a:noFill/>
        </p:spPr>
        <p:txBody>
          <a:bodyPr wrap="square">
            <a:spAutoFit/>
          </a:bodyPr>
          <a:lstStyle/>
          <a:p>
            <a:pPr algn="ctr">
              <a:defRPr sz="1100" b="0">
                <a:solidFill>
                  <a:srgbClr val="B0BEC5"/>
                </a:solidFill>
                <a:latin typeface="Calibri"/>
              </a:defRPr>
            </a:pPr>
            <a:r>
              <a:t>Deterministic</a:t>
            </a:r>
            <a:br/>
            <a:r>
              <a:t>file traversal</a:t>
            </a:r>
          </a:p>
        </p:txBody>
      </p:sp>
      <p:sp>
        <p:nvSpPr>
          <p:cNvPr id="19" name="Rounded Rectangle 18"/>
          <p:cNvSpPr/>
          <p:nvPr/>
        </p:nvSpPr>
        <p:spPr>
          <a:xfrm>
            <a:off x="7040880" y="1188720"/>
            <a:ext cx="1554480" cy="2011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0" y="1280160"/>
            <a:ext cx="1371600" cy="274320"/>
          </a:xfrm>
          <a:prstGeom prst="rect">
            <a:avLst/>
          </a:prstGeom>
          <a:noFill/>
        </p:spPr>
        <p:txBody>
          <a:bodyPr wrap="square">
            <a:spAutoFit/>
          </a:bodyPr>
          <a:lstStyle/>
          <a:p>
            <a:pPr algn="ctr">
              <a:defRPr sz="1100" b="1">
                <a:solidFill>
                  <a:srgbClr val="FFD93D"/>
                </a:solidFill>
                <a:latin typeface="Calibri"/>
              </a:defRPr>
            </a:pPr>
            <a:r>
              <a:t>Step 5</a:t>
            </a:r>
          </a:p>
        </p:txBody>
      </p:sp>
      <p:sp>
        <p:nvSpPr>
          <p:cNvPr id="21" name="TextBox 20"/>
          <p:cNvSpPr txBox="1"/>
          <p:nvPr/>
        </p:nvSpPr>
        <p:spPr>
          <a:xfrm>
            <a:off x="7132320" y="1554480"/>
            <a:ext cx="1371600" cy="640080"/>
          </a:xfrm>
          <a:prstGeom prst="rect">
            <a:avLst/>
          </a:prstGeom>
          <a:noFill/>
        </p:spPr>
        <p:txBody>
          <a:bodyPr wrap="square">
            <a:spAutoFit/>
          </a:bodyPr>
          <a:lstStyle/>
          <a:p>
            <a:pPr algn="ctr">
              <a:defRPr sz="1400" b="1">
                <a:solidFill>
                  <a:srgbClr val="FFFFFF"/>
                </a:solidFill>
                <a:latin typeface="Calibri"/>
              </a:defRPr>
            </a:pPr>
            <a:r>
              <a:t>CRAG</a:t>
            </a:r>
            <a:br/>
            <a:r>
              <a:t>Grader</a:t>
            </a:r>
          </a:p>
        </p:txBody>
      </p:sp>
      <p:sp>
        <p:nvSpPr>
          <p:cNvPr id="22" name="TextBox 21"/>
          <p:cNvSpPr txBox="1"/>
          <p:nvPr/>
        </p:nvSpPr>
        <p:spPr>
          <a:xfrm>
            <a:off x="7132320" y="2286000"/>
            <a:ext cx="1371600" cy="640080"/>
          </a:xfrm>
          <a:prstGeom prst="rect">
            <a:avLst/>
          </a:prstGeom>
          <a:noFill/>
        </p:spPr>
        <p:txBody>
          <a:bodyPr wrap="square">
            <a:spAutoFit/>
          </a:bodyPr>
          <a:lstStyle/>
          <a:p>
            <a:pPr algn="ctr">
              <a:defRPr sz="1100" b="0">
                <a:solidFill>
                  <a:srgbClr val="B0BEC5"/>
                </a:solidFill>
                <a:latin typeface="Calibri"/>
              </a:defRPr>
            </a:pPr>
            <a:r>
              <a:t>Relevance</a:t>
            </a:r>
            <a:br/>
            <a:r>
              <a:t>check Y/N</a:t>
            </a:r>
          </a:p>
        </p:txBody>
      </p:sp>
      <p:sp>
        <p:nvSpPr>
          <p:cNvPr id="23" name="Rounded Rectangle 22"/>
          <p:cNvSpPr/>
          <p:nvPr/>
        </p:nvSpPr>
        <p:spPr>
          <a:xfrm>
            <a:off x="8732520" y="1188720"/>
            <a:ext cx="1554480" cy="2011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23960" y="1280160"/>
            <a:ext cx="1371600" cy="274320"/>
          </a:xfrm>
          <a:prstGeom prst="rect">
            <a:avLst/>
          </a:prstGeom>
          <a:noFill/>
        </p:spPr>
        <p:txBody>
          <a:bodyPr wrap="square">
            <a:spAutoFit/>
          </a:bodyPr>
          <a:lstStyle/>
          <a:p>
            <a:pPr algn="ctr">
              <a:defRPr sz="1100" b="1">
                <a:solidFill>
                  <a:srgbClr val="00B4D8"/>
                </a:solidFill>
                <a:latin typeface="Calibri"/>
              </a:defRPr>
            </a:pPr>
            <a:r>
              <a:t>Step 6</a:t>
            </a:r>
          </a:p>
        </p:txBody>
      </p:sp>
      <p:sp>
        <p:nvSpPr>
          <p:cNvPr id="25" name="TextBox 24"/>
          <p:cNvSpPr txBox="1"/>
          <p:nvPr/>
        </p:nvSpPr>
        <p:spPr>
          <a:xfrm>
            <a:off x="8823960" y="1554480"/>
            <a:ext cx="1371600" cy="640080"/>
          </a:xfrm>
          <a:prstGeom prst="rect">
            <a:avLst/>
          </a:prstGeom>
          <a:noFill/>
        </p:spPr>
        <p:txBody>
          <a:bodyPr wrap="square">
            <a:spAutoFit/>
          </a:bodyPr>
          <a:lstStyle/>
          <a:p>
            <a:pPr algn="ctr">
              <a:defRPr sz="1400" b="1">
                <a:solidFill>
                  <a:srgbClr val="FFFFFF"/>
                </a:solidFill>
                <a:latin typeface="Calibri"/>
              </a:defRPr>
            </a:pPr>
            <a:r>
              <a:t>Llama 3.1</a:t>
            </a:r>
            <a:br/>
            <a:r>
              <a:t>8B (Ollama)</a:t>
            </a:r>
          </a:p>
        </p:txBody>
      </p:sp>
      <p:sp>
        <p:nvSpPr>
          <p:cNvPr id="26" name="TextBox 25"/>
          <p:cNvSpPr txBox="1"/>
          <p:nvPr/>
        </p:nvSpPr>
        <p:spPr>
          <a:xfrm>
            <a:off x="8823960" y="2286000"/>
            <a:ext cx="1371600" cy="640080"/>
          </a:xfrm>
          <a:prstGeom prst="rect">
            <a:avLst/>
          </a:prstGeom>
          <a:noFill/>
        </p:spPr>
        <p:txBody>
          <a:bodyPr wrap="square">
            <a:spAutoFit/>
          </a:bodyPr>
          <a:lstStyle/>
          <a:p>
            <a:pPr algn="ctr">
              <a:defRPr sz="1100" b="0">
                <a:solidFill>
                  <a:srgbClr val="B0BEC5"/>
                </a:solidFill>
                <a:latin typeface="Calibri"/>
              </a:defRPr>
            </a:pPr>
            <a:r>
              <a:t>Response</a:t>
            </a:r>
            <a:br/>
            <a:r>
              <a:t>generation</a:t>
            </a:r>
          </a:p>
        </p:txBody>
      </p:sp>
      <p:sp>
        <p:nvSpPr>
          <p:cNvPr id="27" name="Rounded Rectangle 26"/>
          <p:cNvSpPr/>
          <p:nvPr/>
        </p:nvSpPr>
        <p:spPr>
          <a:xfrm>
            <a:off x="10424160" y="1188720"/>
            <a:ext cx="1554480" cy="20116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0" y="1280160"/>
            <a:ext cx="1371600" cy="274320"/>
          </a:xfrm>
          <a:prstGeom prst="rect">
            <a:avLst/>
          </a:prstGeom>
          <a:noFill/>
        </p:spPr>
        <p:txBody>
          <a:bodyPr wrap="square">
            <a:spAutoFit/>
          </a:bodyPr>
          <a:lstStyle/>
          <a:p>
            <a:pPr algn="ctr">
              <a:defRPr sz="1100" b="1">
                <a:solidFill>
                  <a:srgbClr val="F39C12"/>
                </a:solidFill>
                <a:latin typeface="Calibri"/>
              </a:defRPr>
            </a:pPr>
            <a:r>
              <a:t>Step 7</a:t>
            </a:r>
          </a:p>
        </p:txBody>
      </p:sp>
      <p:sp>
        <p:nvSpPr>
          <p:cNvPr id="29" name="TextBox 28"/>
          <p:cNvSpPr txBox="1"/>
          <p:nvPr/>
        </p:nvSpPr>
        <p:spPr>
          <a:xfrm>
            <a:off x="10515600" y="1554480"/>
            <a:ext cx="1371600" cy="640080"/>
          </a:xfrm>
          <a:prstGeom prst="rect">
            <a:avLst/>
          </a:prstGeom>
          <a:noFill/>
        </p:spPr>
        <p:txBody>
          <a:bodyPr wrap="square">
            <a:spAutoFit/>
          </a:bodyPr>
          <a:lstStyle/>
          <a:p>
            <a:pPr algn="ctr">
              <a:defRPr sz="1400" b="1">
                <a:solidFill>
                  <a:srgbClr val="FFFFFF"/>
                </a:solidFill>
                <a:latin typeface="Calibri"/>
              </a:defRPr>
            </a:pPr>
            <a:r>
              <a:t>Bhashini</a:t>
            </a:r>
            <a:br/>
            <a:r>
              <a:t>API</a:t>
            </a:r>
          </a:p>
        </p:txBody>
      </p:sp>
      <p:sp>
        <p:nvSpPr>
          <p:cNvPr id="30" name="TextBox 29"/>
          <p:cNvSpPr txBox="1"/>
          <p:nvPr/>
        </p:nvSpPr>
        <p:spPr>
          <a:xfrm>
            <a:off x="10515600" y="2286000"/>
            <a:ext cx="1371600" cy="640080"/>
          </a:xfrm>
          <a:prstGeom prst="rect">
            <a:avLst/>
          </a:prstGeom>
          <a:noFill/>
        </p:spPr>
        <p:txBody>
          <a:bodyPr wrap="square">
            <a:spAutoFit/>
          </a:bodyPr>
          <a:lstStyle/>
          <a:p>
            <a:pPr algn="ctr">
              <a:defRPr sz="1100" b="0">
                <a:solidFill>
                  <a:srgbClr val="B0BEC5"/>
                </a:solidFill>
                <a:latin typeface="Calibri"/>
              </a:defRPr>
            </a:pPr>
            <a:r>
              <a:t>EN → HI/MR</a:t>
            </a:r>
            <a:br/>
            <a:r>
              <a:t>translation</a:t>
            </a:r>
          </a:p>
        </p:txBody>
      </p:sp>
      <p:sp>
        <p:nvSpPr>
          <p:cNvPr id="31" name="TextBox 30"/>
          <p:cNvSpPr txBox="1"/>
          <p:nvPr/>
        </p:nvSpPr>
        <p:spPr>
          <a:xfrm>
            <a:off x="457200" y="3474720"/>
            <a:ext cx="10972800" cy="365760"/>
          </a:xfrm>
          <a:prstGeom prst="rect">
            <a:avLst/>
          </a:prstGeom>
          <a:noFill/>
        </p:spPr>
        <p:txBody>
          <a:bodyPr wrap="square">
            <a:spAutoFit/>
          </a:bodyPr>
          <a:lstStyle/>
          <a:p>
            <a:pPr algn="l">
              <a:defRPr sz="1800" b="1">
                <a:solidFill>
                  <a:srgbClr val="00B4D8"/>
                </a:solidFill>
                <a:latin typeface="Calibri"/>
              </a:defRPr>
            </a:pPr>
            <a:r>
              <a:t>Data Sources Feeding the Pipeline</a:t>
            </a:r>
          </a:p>
        </p:txBody>
      </p:sp>
      <p:sp>
        <p:nvSpPr>
          <p:cNvPr id="32" name="Rounded Rectangle 31"/>
          <p:cNvSpPr/>
          <p:nvPr/>
        </p:nvSpPr>
        <p:spPr>
          <a:xfrm>
            <a:off x="457200" y="3931920"/>
            <a:ext cx="2651760" cy="21945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4023360"/>
            <a:ext cx="2377440" cy="365760"/>
          </a:xfrm>
          <a:prstGeom prst="rect">
            <a:avLst/>
          </a:prstGeom>
          <a:noFill/>
        </p:spPr>
        <p:txBody>
          <a:bodyPr wrap="square">
            <a:spAutoFit/>
          </a:bodyPr>
          <a:lstStyle/>
          <a:p>
            <a:pPr algn="ctr">
              <a:defRPr sz="1500" b="1">
                <a:solidFill>
                  <a:srgbClr val="2ECC71"/>
                </a:solidFill>
                <a:latin typeface="Calibri"/>
              </a:defRPr>
            </a:pPr>
            <a:r>
              <a:t>OKF Bundle</a:t>
            </a:r>
          </a:p>
        </p:txBody>
      </p:sp>
      <p:sp>
        <p:nvSpPr>
          <p:cNvPr id="34" name="TextBox 33"/>
          <p:cNvSpPr txBox="1"/>
          <p:nvPr/>
        </p:nvSpPr>
        <p:spPr>
          <a:xfrm>
            <a:off x="594360" y="4389120"/>
            <a:ext cx="2377440" cy="640080"/>
          </a:xfrm>
          <a:prstGeom prst="rect">
            <a:avLst/>
          </a:prstGeom>
          <a:noFill/>
        </p:spPr>
        <p:txBody>
          <a:bodyPr wrap="square">
            <a:spAutoFit/>
          </a:bodyPr>
          <a:lstStyle/>
          <a:p>
            <a:pPr algn="ctr">
              <a:defRPr sz="1200" b="0">
                <a:solidFill>
                  <a:srgbClr val="FFFFFF"/>
                </a:solidFill>
                <a:latin typeface="Calibri"/>
              </a:defRPr>
            </a:pPr>
            <a:r>
              <a:t>45 ICMR Markdown</a:t>
            </a:r>
            <a:br/>
            <a:r>
              <a:t>concept files</a:t>
            </a:r>
          </a:p>
        </p:txBody>
      </p:sp>
      <p:sp>
        <p:nvSpPr>
          <p:cNvPr id="35" name="TextBox 34"/>
          <p:cNvSpPr txBox="1"/>
          <p:nvPr/>
        </p:nvSpPr>
        <p:spPr>
          <a:xfrm>
            <a:off x="594360" y="5120640"/>
            <a:ext cx="2377440" cy="731520"/>
          </a:xfrm>
          <a:prstGeom prst="rect">
            <a:avLst/>
          </a:prstGeom>
          <a:noFill/>
        </p:spPr>
        <p:txBody>
          <a:bodyPr wrap="square">
            <a:spAutoFit/>
          </a:bodyPr>
          <a:lstStyle/>
          <a:p>
            <a:pPr algn="ctr">
              <a:defRPr sz="1100" b="0">
                <a:solidFill>
                  <a:srgbClr val="B0BEC5"/>
                </a:solidFill>
                <a:latin typeface="Calibri"/>
              </a:defRPr>
            </a:pPr>
            <a:r>
              <a:t>12 conditions, 7 drugs</a:t>
            </a:r>
            <a:br/>
            <a:r>
              <a:t>7 lifestyle, 5 env, 7 emergency</a:t>
            </a:r>
          </a:p>
        </p:txBody>
      </p:sp>
      <p:sp>
        <p:nvSpPr>
          <p:cNvPr id="36" name="Rounded Rectangle 35"/>
          <p:cNvSpPr/>
          <p:nvPr/>
        </p:nvSpPr>
        <p:spPr>
          <a:xfrm>
            <a:off x="3337560" y="3931920"/>
            <a:ext cx="2651760" cy="21945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74720" y="4023360"/>
            <a:ext cx="2377440" cy="365760"/>
          </a:xfrm>
          <a:prstGeom prst="rect">
            <a:avLst/>
          </a:prstGeom>
          <a:noFill/>
        </p:spPr>
        <p:txBody>
          <a:bodyPr wrap="square">
            <a:spAutoFit/>
          </a:bodyPr>
          <a:lstStyle/>
          <a:p>
            <a:pPr algn="ctr">
              <a:defRPr sz="1500" b="1">
                <a:solidFill>
                  <a:srgbClr val="2ECC71"/>
                </a:solidFill>
                <a:latin typeface="Calibri"/>
              </a:defRPr>
            </a:pPr>
            <a:r>
              <a:t>Health Connect</a:t>
            </a:r>
          </a:p>
        </p:txBody>
      </p:sp>
      <p:sp>
        <p:nvSpPr>
          <p:cNvPr id="38" name="TextBox 37"/>
          <p:cNvSpPr txBox="1"/>
          <p:nvPr/>
        </p:nvSpPr>
        <p:spPr>
          <a:xfrm>
            <a:off x="3474720" y="4389120"/>
            <a:ext cx="2377440" cy="640080"/>
          </a:xfrm>
          <a:prstGeom prst="rect">
            <a:avLst/>
          </a:prstGeom>
          <a:noFill/>
        </p:spPr>
        <p:txBody>
          <a:bodyPr wrap="square">
            <a:spAutoFit/>
          </a:bodyPr>
          <a:lstStyle/>
          <a:p>
            <a:pPr algn="ctr">
              <a:defRPr sz="1200" b="0">
                <a:solidFill>
                  <a:srgbClr val="FFFFFF"/>
                </a:solidFill>
                <a:latin typeface="Calibri"/>
              </a:defRPr>
            </a:pPr>
            <a:r>
              <a:t>23+ wearable metrics</a:t>
            </a:r>
            <a:br/>
            <a:r>
              <a:t>via Android SDK</a:t>
            </a:r>
          </a:p>
        </p:txBody>
      </p:sp>
      <p:sp>
        <p:nvSpPr>
          <p:cNvPr id="39" name="TextBox 38"/>
          <p:cNvSpPr txBox="1"/>
          <p:nvPr/>
        </p:nvSpPr>
        <p:spPr>
          <a:xfrm>
            <a:off x="3474720" y="5120640"/>
            <a:ext cx="2377440" cy="731520"/>
          </a:xfrm>
          <a:prstGeom prst="rect">
            <a:avLst/>
          </a:prstGeom>
          <a:noFill/>
        </p:spPr>
        <p:txBody>
          <a:bodyPr wrap="square">
            <a:spAutoFit/>
          </a:bodyPr>
          <a:lstStyle/>
          <a:p>
            <a:pPr algn="ctr">
              <a:defRPr sz="1100" b="0">
                <a:solidFill>
                  <a:srgbClr val="B0BEC5"/>
                </a:solidFill>
                <a:latin typeface="Calibri"/>
              </a:defRPr>
            </a:pPr>
            <a:r>
              <a:t>Steps, HR, BP, glucose</a:t>
            </a:r>
            <a:br/>
            <a:r>
              <a:t>sleep, SpO2, weight</a:t>
            </a:r>
          </a:p>
        </p:txBody>
      </p:sp>
      <p:sp>
        <p:nvSpPr>
          <p:cNvPr id="40" name="Rounded Rectangle 39"/>
          <p:cNvSpPr/>
          <p:nvPr/>
        </p:nvSpPr>
        <p:spPr>
          <a:xfrm>
            <a:off x="6217920" y="3931920"/>
            <a:ext cx="2651760" cy="21945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5080" y="4023360"/>
            <a:ext cx="2377440" cy="365760"/>
          </a:xfrm>
          <a:prstGeom prst="rect">
            <a:avLst/>
          </a:prstGeom>
          <a:noFill/>
        </p:spPr>
        <p:txBody>
          <a:bodyPr wrap="square">
            <a:spAutoFit/>
          </a:bodyPr>
          <a:lstStyle/>
          <a:p>
            <a:pPr algn="ctr">
              <a:defRPr sz="1500" b="1">
                <a:solidFill>
                  <a:srgbClr val="2ECC71"/>
                </a:solidFill>
                <a:latin typeface="Calibri"/>
              </a:defRPr>
            </a:pPr>
            <a:r>
              <a:t>WAQI + Open-Meteo</a:t>
            </a:r>
          </a:p>
        </p:txBody>
      </p:sp>
      <p:sp>
        <p:nvSpPr>
          <p:cNvPr id="42" name="TextBox 41"/>
          <p:cNvSpPr txBox="1"/>
          <p:nvPr/>
        </p:nvSpPr>
        <p:spPr>
          <a:xfrm>
            <a:off x="6355080" y="4389120"/>
            <a:ext cx="2377440" cy="640080"/>
          </a:xfrm>
          <a:prstGeom prst="rect">
            <a:avLst/>
          </a:prstGeom>
          <a:noFill/>
        </p:spPr>
        <p:txBody>
          <a:bodyPr wrap="square">
            <a:spAutoFit/>
          </a:bodyPr>
          <a:lstStyle/>
          <a:p>
            <a:pPr algn="ctr">
              <a:defRPr sz="1200" b="0">
                <a:solidFill>
                  <a:srgbClr val="FFFFFF"/>
                </a:solidFill>
                <a:latin typeface="Calibri"/>
              </a:defRPr>
            </a:pPr>
            <a:r>
              <a:t>Real-time AQI</a:t>
            </a:r>
            <a:br/>
            <a:r>
              <a:t>&amp; weather data</a:t>
            </a:r>
          </a:p>
        </p:txBody>
      </p:sp>
      <p:sp>
        <p:nvSpPr>
          <p:cNvPr id="43" name="TextBox 42"/>
          <p:cNvSpPr txBox="1"/>
          <p:nvPr/>
        </p:nvSpPr>
        <p:spPr>
          <a:xfrm>
            <a:off x="6355080" y="5120640"/>
            <a:ext cx="2377440" cy="731520"/>
          </a:xfrm>
          <a:prstGeom prst="rect">
            <a:avLst/>
          </a:prstGeom>
          <a:noFill/>
        </p:spPr>
        <p:txBody>
          <a:bodyPr wrap="square">
            <a:spAutoFit/>
          </a:bodyPr>
          <a:lstStyle/>
          <a:p>
            <a:pPr algn="ctr">
              <a:defRPr sz="1100" b="0">
                <a:solidFill>
                  <a:srgbClr val="B0BEC5"/>
                </a:solidFill>
                <a:latin typeface="Calibri"/>
              </a:defRPr>
            </a:pPr>
            <a:r>
              <a:t>PM2.5, NO2, O3, UV</a:t>
            </a:r>
            <a:br/>
            <a:r>
              <a:t>temp, humidity</a:t>
            </a:r>
          </a:p>
        </p:txBody>
      </p:sp>
      <p:sp>
        <p:nvSpPr>
          <p:cNvPr id="44" name="Rounded Rectangle 43"/>
          <p:cNvSpPr/>
          <p:nvPr/>
        </p:nvSpPr>
        <p:spPr>
          <a:xfrm>
            <a:off x="9098280" y="3931920"/>
            <a:ext cx="2651760" cy="21945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35440" y="4023360"/>
            <a:ext cx="2377440" cy="365760"/>
          </a:xfrm>
          <a:prstGeom prst="rect">
            <a:avLst/>
          </a:prstGeom>
          <a:noFill/>
        </p:spPr>
        <p:txBody>
          <a:bodyPr wrap="square">
            <a:spAutoFit/>
          </a:bodyPr>
          <a:lstStyle/>
          <a:p>
            <a:pPr algn="ctr">
              <a:defRPr sz="1500" b="1">
                <a:solidFill>
                  <a:srgbClr val="2ECC71"/>
                </a:solidFill>
                <a:latin typeface="Calibri"/>
              </a:defRPr>
            </a:pPr>
            <a:r>
              <a:t>User Profile</a:t>
            </a:r>
          </a:p>
        </p:txBody>
      </p:sp>
      <p:sp>
        <p:nvSpPr>
          <p:cNvPr id="46" name="TextBox 45"/>
          <p:cNvSpPr txBox="1"/>
          <p:nvPr/>
        </p:nvSpPr>
        <p:spPr>
          <a:xfrm>
            <a:off x="9235440" y="4389120"/>
            <a:ext cx="2377440" cy="640080"/>
          </a:xfrm>
          <a:prstGeom prst="rect">
            <a:avLst/>
          </a:prstGeom>
          <a:noFill/>
        </p:spPr>
        <p:txBody>
          <a:bodyPr wrap="square">
            <a:spAutoFit/>
          </a:bodyPr>
          <a:lstStyle/>
          <a:p>
            <a:pPr algn="ctr">
              <a:defRPr sz="1200" b="0">
                <a:solidFill>
                  <a:srgbClr val="FFFFFF"/>
                </a:solidFill>
                <a:latin typeface="Calibri"/>
              </a:defRPr>
            </a:pPr>
            <a:r>
              <a:t>SQLite on-device</a:t>
            </a:r>
            <a:br/>
            <a:r>
              <a:t>(DPDP compliant)</a:t>
            </a:r>
          </a:p>
        </p:txBody>
      </p:sp>
      <p:sp>
        <p:nvSpPr>
          <p:cNvPr id="47" name="TextBox 46"/>
          <p:cNvSpPr txBox="1"/>
          <p:nvPr/>
        </p:nvSpPr>
        <p:spPr>
          <a:xfrm>
            <a:off x="9235440" y="5120640"/>
            <a:ext cx="2377440" cy="731520"/>
          </a:xfrm>
          <a:prstGeom prst="rect">
            <a:avLst/>
          </a:prstGeom>
          <a:noFill/>
        </p:spPr>
        <p:txBody>
          <a:bodyPr wrap="square">
            <a:spAutoFit/>
          </a:bodyPr>
          <a:lstStyle/>
          <a:p>
            <a:pPr algn="ctr">
              <a:defRPr sz="1100" b="0">
                <a:solidFill>
                  <a:srgbClr val="B0BEC5"/>
                </a:solidFill>
                <a:latin typeface="Calibri"/>
              </a:defRPr>
            </a:pPr>
            <a:r>
              <a:t>Age, gender, conditions</a:t>
            </a:r>
            <a:br/>
            <a:r>
              <a:t>medications, language</a:t>
            </a:r>
          </a:p>
        </p:txBody>
      </p:sp>
      <p:sp>
        <p:nvSpPr>
          <p:cNvPr id="48" name="Rectangle 47"/>
          <p:cNvSpPr/>
          <p:nvPr/>
        </p:nvSpPr>
        <p:spPr>
          <a:xfrm>
            <a:off x="0" y="6492240"/>
            <a:ext cx="12191695" cy="36576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4320" y="6510528"/>
            <a:ext cx="5486400" cy="320040"/>
          </a:xfrm>
          <a:prstGeom prst="rect">
            <a:avLst/>
          </a:prstGeom>
          <a:noFill/>
        </p:spPr>
        <p:txBody>
          <a:bodyPr wrap="square">
            <a:spAutoFit/>
          </a:bodyPr>
          <a:lstStyle/>
          <a:p>
            <a:pPr algn="l">
              <a:defRPr sz="900" b="0">
                <a:solidFill>
                  <a:srgbClr val="B0BEC5"/>
                </a:solidFill>
                <a:latin typeface="Calibri"/>
              </a:defRPr>
            </a:pPr>
            <a:r>
              <a:t>MPSTME, SVKM's NMIMS Shirpur | Dept. of IT/AIML | 2026-27</a:t>
            </a:r>
          </a:p>
        </p:txBody>
      </p:sp>
      <p:sp>
        <p:nvSpPr>
          <p:cNvPr id="50" name="TextBox 49"/>
          <p:cNvSpPr txBox="1"/>
          <p:nvPr/>
        </p:nvSpPr>
        <p:spPr>
          <a:xfrm>
            <a:off x="11430000" y="6400800"/>
            <a:ext cx="731520" cy="365760"/>
          </a:xfrm>
          <a:prstGeom prst="rect">
            <a:avLst/>
          </a:prstGeom>
          <a:noFill/>
        </p:spPr>
        <p:txBody>
          <a:bodyPr wrap="square">
            <a:spAutoFit/>
          </a:bodyPr>
          <a:lstStyle/>
          <a:p>
            <a:pPr algn="r">
              <a:defRPr sz="1000" b="0">
                <a:solidFill>
                  <a:srgbClr val="B0BEC5"/>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2800" b="1">
                <a:solidFill>
                  <a:srgbClr val="FFFFFF"/>
                </a:solidFill>
                <a:latin typeface="Calibri"/>
              </a:defRPr>
            </a:pPr>
            <a:r>
              <a:t>Key Innovation — OKF Deterministic Retrieval vs Vector RAG</a:t>
            </a:r>
          </a:p>
        </p:txBody>
      </p:sp>
      <p:sp>
        <p:nvSpPr>
          <p:cNvPr id="3" name="Rounded Rectangle 2"/>
          <p:cNvSpPr/>
          <p:nvPr/>
        </p:nvSpPr>
        <p:spPr>
          <a:xfrm>
            <a:off x="457200" y="1188720"/>
            <a:ext cx="5394960" cy="4572000"/>
          </a:xfrm>
          <a:prstGeom prst="roundRect">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25880"/>
            <a:ext cx="5029200" cy="365760"/>
          </a:xfrm>
          <a:prstGeom prst="rect">
            <a:avLst/>
          </a:prstGeom>
          <a:noFill/>
        </p:spPr>
        <p:txBody>
          <a:bodyPr wrap="square">
            <a:spAutoFit/>
          </a:bodyPr>
          <a:lstStyle/>
          <a:p>
            <a:pPr algn="l">
              <a:defRPr sz="2000" b="1">
                <a:solidFill>
                  <a:srgbClr val="E74C3C"/>
                </a:solidFill>
                <a:latin typeface="Calibri"/>
              </a:defRPr>
            </a:pPr>
            <a:r>
              <a:t>❌  Traditional Vector RAG</a:t>
            </a:r>
          </a:p>
        </p:txBody>
      </p:sp>
      <p:sp>
        <p:nvSpPr>
          <p:cNvPr id="5" name="TextBox 4"/>
          <p:cNvSpPr txBox="1"/>
          <p:nvPr/>
        </p:nvSpPr>
        <p:spPr>
          <a:xfrm>
            <a:off x="640080" y="1737360"/>
            <a:ext cx="5029200" cy="3657600"/>
          </a:xfrm>
          <a:prstGeom prst="rect">
            <a:avLst/>
          </a:prstGeom>
          <a:noFill/>
        </p:spPr>
        <p:txBody>
          <a:bodyPr wrap="square">
            <a:spAutoFit/>
          </a:bodyPr>
          <a:lstStyle/>
          <a:p>
            <a:pPr>
              <a:spcAft>
                <a:spcPts val="600"/>
              </a:spcAft>
              <a:defRPr sz="1400">
                <a:solidFill>
                  <a:srgbClr val="B0BEC5"/>
                </a:solidFill>
                <a:latin typeface="Calibri"/>
              </a:defRPr>
            </a:pPr>
            <a:r>
              <a:t>PDF → chunk into 500 tokens → embed</a:t>
            </a:r>
          </a:p>
          <a:p>
            <a:pPr>
              <a:spcAft>
                <a:spcPts val="600"/>
              </a:spcAft>
              <a:defRPr sz="1400">
                <a:solidFill>
                  <a:srgbClr val="B0BEC5"/>
                </a:solidFill>
                <a:latin typeface="Calibri"/>
              </a:defRPr>
            </a:pPr>
            <a:r>
              <a:t>Store in vector DB (Qdrant/Pinecone)</a:t>
            </a:r>
          </a:p>
          <a:p>
            <a:pPr>
              <a:spcAft>
                <a:spcPts val="600"/>
              </a:spcAft>
              <a:defRPr sz="1400">
                <a:solidFill>
                  <a:srgbClr val="B0BEC5"/>
                </a:solidFill>
                <a:latin typeface="Calibri"/>
              </a:defRPr>
            </a:pPr>
            <a:r>
              <a:t>Cosine similarity search (probabilistic)</a:t>
            </a:r>
          </a:p>
          <a:p>
            <a:pPr>
              <a:spcAft>
                <a:spcPts val="600"/>
              </a:spcAft>
              <a:defRPr sz="1400">
                <a:solidFill>
                  <a:srgbClr val="B0BEC5"/>
                </a:solidFill>
                <a:latin typeface="Calibri"/>
              </a:defRPr>
            </a:pPr>
            <a:r>
              <a:t>May retrieve wrong chunk</a:t>
            </a:r>
          </a:p>
          <a:p>
            <a:pPr>
              <a:spcAft>
                <a:spcPts val="600"/>
              </a:spcAft>
              <a:defRPr sz="1400">
                <a:solidFill>
                  <a:srgbClr val="B0BEC5"/>
                </a:solidFill>
                <a:latin typeface="Calibri"/>
              </a:defRPr>
            </a:pPr>
            <a:r>
              <a:t>Tables, dosages fragmented by chunking</a:t>
            </a:r>
          </a:p>
          <a:p>
            <a:pPr>
              <a:spcAft>
                <a:spcPts val="600"/>
              </a:spcAft>
              <a:defRPr sz="1400">
                <a:solidFill>
                  <a:srgbClr val="B0BEC5"/>
                </a:solidFill>
                <a:latin typeface="Calibri"/>
              </a:defRPr>
            </a:pPr>
            <a:r>
              <a:t>Hard to audit what was retrieved</a:t>
            </a:r>
          </a:p>
          <a:p>
            <a:pPr>
              <a:spcAft>
                <a:spcPts val="600"/>
              </a:spcAft>
              <a:defRPr sz="1400">
                <a:solidFill>
                  <a:srgbClr val="B0BEC5"/>
                </a:solidFill>
                <a:latin typeface="Calibri"/>
              </a:defRPr>
            </a:pPr>
            <a:r>
              <a:t>Requires embedding model + vector DB infra</a:t>
            </a:r>
          </a:p>
        </p:txBody>
      </p:sp>
      <p:sp>
        <p:nvSpPr>
          <p:cNvPr id="6" name="Rounded Rectangle 5"/>
          <p:cNvSpPr/>
          <p:nvPr/>
        </p:nvSpPr>
        <p:spPr>
          <a:xfrm>
            <a:off x="6309360" y="1188720"/>
            <a:ext cx="5394960" cy="4572000"/>
          </a:xfrm>
          <a:prstGeom prst="roundRect">
            <a:avLst/>
          </a:prstGeom>
          <a:solidFill>
            <a:srgbClr val="0A2D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325880"/>
            <a:ext cx="5029200" cy="365760"/>
          </a:xfrm>
          <a:prstGeom prst="rect">
            <a:avLst/>
          </a:prstGeom>
          <a:noFill/>
        </p:spPr>
        <p:txBody>
          <a:bodyPr wrap="square">
            <a:spAutoFit/>
          </a:bodyPr>
          <a:lstStyle/>
          <a:p>
            <a:pPr algn="l">
              <a:defRPr sz="2000" b="1">
                <a:solidFill>
                  <a:srgbClr val="2ECC71"/>
                </a:solidFill>
                <a:latin typeface="Calibri"/>
              </a:defRPr>
            </a:pPr>
            <a:r>
              <a:t>✓  Google OKF (Our Approach)</a:t>
            </a:r>
          </a:p>
        </p:txBody>
      </p:sp>
      <p:sp>
        <p:nvSpPr>
          <p:cNvPr id="8" name="TextBox 7"/>
          <p:cNvSpPr txBox="1"/>
          <p:nvPr/>
        </p:nvSpPr>
        <p:spPr>
          <a:xfrm>
            <a:off x="6492240" y="1737360"/>
            <a:ext cx="5029200" cy="3657600"/>
          </a:xfrm>
          <a:prstGeom prst="rect">
            <a:avLst/>
          </a:prstGeom>
          <a:noFill/>
        </p:spPr>
        <p:txBody>
          <a:bodyPr wrap="square">
            <a:spAutoFit/>
          </a:bodyPr>
          <a:lstStyle/>
          <a:p>
            <a:pPr>
              <a:spcAft>
                <a:spcPts val="600"/>
              </a:spcAft>
              <a:defRPr sz="1400">
                <a:solidFill>
                  <a:srgbClr val="FFFFFF"/>
                </a:solidFill>
                <a:latin typeface="Calibri"/>
              </a:defRPr>
            </a:pPr>
            <a:r>
              <a:t>PDF → structured Markdown with YAML</a:t>
            </a:r>
          </a:p>
          <a:p>
            <a:pPr>
              <a:spcAft>
                <a:spcPts val="600"/>
              </a:spcAft>
              <a:defRPr sz="1400">
                <a:solidFill>
                  <a:srgbClr val="FFFFFF"/>
                </a:solidFill>
                <a:latin typeface="Calibri"/>
              </a:defRPr>
            </a:pPr>
            <a:r>
              <a:t>Store in Git (version controlled)</a:t>
            </a:r>
          </a:p>
          <a:p>
            <a:pPr>
              <a:spcAft>
                <a:spcPts val="600"/>
              </a:spcAft>
              <a:defRPr sz="1400">
                <a:solidFill>
                  <a:srgbClr val="FFFFFF"/>
                </a:solidFill>
                <a:latin typeface="Calibri"/>
              </a:defRPr>
            </a:pPr>
            <a:r>
              <a:t>LLM navigates links (deterministic)</a:t>
            </a:r>
          </a:p>
          <a:p>
            <a:pPr>
              <a:spcAft>
                <a:spcPts val="600"/>
              </a:spcAft>
              <a:defRPr sz="1400">
                <a:solidFill>
                  <a:srgbClr val="FFFFFF"/>
                </a:solidFill>
                <a:latin typeface="Calibri"/>
              </a:defRPr>
            </a:pPr>
            <a:r>
              <a:t>Reads exact concept file every time</a:t>
            </a:r>
          </a:p>
          <a:p>
            <a:pPr>
              <a:spcAft>
                <a:spcPts val="600"/>
              </a:spcAft>
              <a:defRPr sz="1400">
                <a:solidFill>
                  <a:srgbClr val="FFFFFF"/>
                </a:solidFill>
                <a:latin typeface="Calibri"/>
              </a:defRPr>
            </a:pPr>
            <a:r>
              <a:t>Tables, dosages preserved as Markdown</a:t>
            </a:r>
          </a:p>
          <a:p>
            <a:pPr>
              <a:spcAft>
                <a:spcPts val="600"/>
              </a:spcAft>
              <a:defRPr sz="1400">
                <a:solidFill>
                  <a:srgbClr val="FFFFFF"/>
                </a:solidFill>
                <a:latin typeface="Calibri"/>
              </a:defRPr>
            </a:pPr>
            <a:r>
              <a:t>Every file is human-readable, auditable</a:t>
            </a:r>
          </a:p>
          <a:p>
            <a:pPr>
              <a:spcAft>
                <a:spcPts val="600"/>
              </a:spcAft>
              <a:defRPr sz="1400">
                <a:solidFill>
                  <a:srgbClr val="FFFFFF"/>
                </a:solidFill>
                <a:latin typeface="Calibri"/>
              </a:defRPr>
            </a:pPr>
            <a:r>
              <a:t>Zero infrastructure — just a folder of .md files</a:t>
            </a:r>
          </a:p>
        </p:txBody>
      </p:sp>
      <p:sp>
        <p:nvSpPr>
          <p:cNvPr id="9" name="TextBox 8"/>
          <p:cNvSpPr txBox="1"/>
          <p:nvPr/>
        </p:nvSpPr>
        <p:spPr>
          <a:xfrm>
            <a:off x="457200" y="5943600"/>
            <a:ext cx="11247120" cy="457200"/>
          </a:xfrm>
          <a:prstGeom prst="rect">
            <a:avLst/>
          </a:prstGeom>
          <a:noFill/>
        </p:spPr>
        <p:txBody>
          <a:bodyPr wrap="square">
            <a:spAutoFit/>
          </a:bodyPr>
          <a:lstStyle/>
          <a:p>
            <a:pPr algn="l">
              <a:defRPr sz="1400" b="1">
                <a:solidFill>
                  <a:srgbClr val="FFD93D"/>
                </a:solidFill>
                <a:latin typeface="Calibri"/>
              </a:defRPr>
            </a:pPr>
            <a:r>
              <a:t>OKF released by Google Cloud in June 2026 [3] — Aarogya Sathi is among the first projects to apply it for medical AI.</a:t>
            </a:r>
          </a:p>
        </p:txBody>
      </p:sp>
      <p:sp>
        <p:nvSpPr>
          <p:cNvPr id="10" name="Rectangle 9"/>
          <p:cNvSpPr/>
          <p:nvPr/>
        </p:nvSpPr>
        <p:spPr>
          <a:xfrm>
            <a:off x="0" y="6492240"/>
            <a:ext cx="12191695" cy="36576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510528"/>
            <a:ext cx="5486400" cy="320040"/>
          </a:xfrm>
          <a:prstGeom prst="rect">
            <a:avLst/>
          </a:prstGeom>
          <a:noFill/>
        </p:spPr>
        <p:txBody>
          <a:bodyPr wrap="square">
            <a:spAutoFit/>
          </a:bodyPr>
          <a:lstStyle/>
          <a:p>
            <a:pPr algn="l">
              <a:defRPr sz="900" b="0">
                <a:solidFill>
                  <a:srgbClr val="B0BEC5"/>
                </a:solidFill>
                <a:latin typeface="Calibri"/>
              </a:defRPr>
            </a:pPr>
            <a:r>
              <a:t>MPSTME, SVKM's NMIMS Shirpur | Dept. of IT/AIML | 2026-27</a:t>
            </a:r>
          </a:p>
        </p:txBody>
      </p:sp>
      <p:sp>
        <p:nvSpPr>
          <p:cNvPr id="12" name="TextBox 11"/>
          <p:cNvSpPr txBox="1"/>
          <p:nvPr/>
        </p:nvSpPr>
        <p:spPr>
          <a:xfrm>
            <a:off x="11430000" y="6400800"/>
            <a:ext cx="731520" cy="365760"/>
          </a:xfrm>
          <a:prstGeom prst="rect">
            <a:avLst/>
          </a:prstGeom>
          <a:noFill/>
        </p:spPr>
        <p:txBody>
          <a:bodyPr wrap="square">
            <a:spAutoFit/>
          </a:bodyPr>
          <a:lstStyle/>
          <a:p>
            <a:pPr algn="r">
              <a:defRPr sz="1000" b="0">
                <a:solidFill>
                  <a:srgbClr val="B0BEC5"/>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3600" b="1">
                <a:solidFill>
                  <a:srgbClr val="FFFFFF"/>
                </a:solidFill>
                <a:latin typeface="Calibri"/>
              </a:defRPr>
            </a:pPr>
            <a:r>
              <a:t>Technology Stack</a:t>
            </a:r>
          </a:p>
        </p:txBody>
      </p:sp>
      <p:sp>
        <p:nvSpPr>
          <p:cNvPr id="3" name="Rounded Rectangle 2"/>
          <p:cNvSpPr/>
          <p:nvPr/>
        </p:nvSpPr>
        <p:spPr>
          <a:xfrm>
            <a:off x="457200" y="1097280"/>
            <a:ext cx="5577840" cy="74980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143000"/>
            <a:ext cx="1645920" cy="320040"/>
          </a:xfrm>
          <a:prstGeom prst="rect">
            <a:avLst/>
          </a:prstGeom>
          <a:noFill/>
        </p:spPr>
        <p:txBody>
          <a:bodyPr wrap="square">
            <a:spAutoFit/>
          </a:bodyPr>
          <a:lstStyle/>
          <a:p>
            <a:pPr algn="l">
              <a:defRPr sz="1200" b="1">
                <a:solidFill>
                  <a:srgbClr val="00B4D8"/>
                </a:solidFill>
                <a:latin typeface="Calibri"/>
              </a:defRPr>
            </a:pPr>
            <a:r>
              <a:t>LLM</a:t>
            </a:r>
          </a:p>
        </p:txBody>
      </p:sp>
      <p:sp>
        <p:nvSpPr>
          <p:cNvPr id="5" name="TextBox 4"/>
          <p:cNvSpPr txBox="1"/>
          <p:nvPr/>
        </p:nvSpPr>
        <p:spPr>
          <a:xfrm>
            <a:off x="2286000" y="1143000"/>
            <a:ext cx="2011680" cy="320040"/>
          </a:xfrm>
          <a:prstGeom prst="rect">
            <a:avLst/>
          </a:prstGeom>
          <a:noFill/>
        </p:spPr>
        <p:txBody>
          <a:bodyPr wrap="square">
            <a:spAutoFit/>
          </a:bodyPr>
          <a:lstStyle/>
          <a:p>
            <a:pPr algn="l">
              <a:defRPr sz="1300" b="1">
                <a:solidFill>
                  <a:srgbClr val="FFFFFF"/>
                </a:solidFill>
                <a:latin typeface="Calibri"/>
              </a:defRPr>
            </a:pPr>
            <a:r>
              <a:t>Llama 3.1 8B Instruct</a:t>
            </a:r>
          </a:p>
        </p:txBody>
      </p:sp>
      <p:sp>
        <p:nvSpPr>
          <p:cNvPr id="6" name="TextBox 5"/>
          <p:cNvSpPr txBox="1"/>
          <p:nvPr/>
        </p:nvSpPr>
        <p:spPr>
          <a:xfrm>
            <a:off x="2286000" y="1463040"/>
            <a:ext cx="3566160" cy="320040"/>
          </a:xfrm>
          <a:prstGeom prst="rect">
            <a:avLst/>
          </a:prstGeom>
          <a:noFill/>
        </p:spPr>
        <p:txBody>
          <a:bodyPr wrap="square">
            <a:spAutoFit/>
          </a:bodyPr>
          <a:lstStyle/>
          <a:p>
            <a:pPr algn="l">
              <a:defRPr sz="1100" b="0">
                <a:solidFill>
                  <a:srgbClr val="B0BEC5"/>
                </a:solidFill>
                <a:latin typeface="Calibri"/>
              </a:defRPr>
            </a:pPr>
            <a:r>
              <a:t>Q4_K_M quantized, ~5GB VRAM</a:t>
            </a:r>
          </a:p>
        </p:txBody>
      </p:sp>
      <p:sp>
        <p:nvSpPr>
          <p:cNvPr id="7" name="Rounded Rectangle 6"/>
          <p:cNvSpPr/>
          <p:nvPr/>
        </p:nvSpPr>
        <p:spPr>
          <a:xfrm>
            <a:off x="457200" y="1965960"/>
            <a:ext cx="5577840" cy="74980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011679"/>
            <a:ext cx="1645920" cy="320040"/>
          </a:xfrm>
          <a:prstGeom prst="rect">
            <a:avLst/>
          </a:prstGeom>
          <a:noFill/>
        </p:spPr>
        <p:txBody>
          <a:bodyPr wrap="square">
            <a:spAutoFit/>
          </a:bodyPr>
          <a:lstStyle/>
          <a:p>
            <a:pPr algn="l">
              <a:defRPr sz="1200" b="1">
                <a:solidFill>
                  <a:srgbClr val="00B4D8"/>
                </a:solidFill>
                <a:latin typeface="Calibri"/>
              </a:defRPr>
            </a:pPr>
            <a:r>
              <a:t>Inference</a:t>
            </a:r>
          </a:p>
        </p:txBody>
      </p:sp>
      <p:sp>
        <p:nvSpPr>
          <p:cNvPr id="9" name="TextBox 8"/>
          <p:cNvSpPr txBox="1"/>
          <p:nvPr/>
        </p:nvSpPr>
        <p:spPr>
          <a:xfrm>
            <a:off x="2286000" y="2011679"/>
            <a:ext cx="2011680" cy="320040"/>
          </a:xfrm>
          <a:prstGeom prst="rect">
            <a:avLst/>
          </a:prstGeom>
          <a:noFill/>
        </p:spPr>
        <p:txBody>
          <a:bodyPr wrap="square">
            <a:spAutoFit/>
          </a:bodyPr>
          <a:lstStyle/>
          <a:p>
            <a:pPr algn="l">
              <a:defRPr sz="1300" b="1">
                <a:solidFill>
                  <a:srgbClr val="FFFFFF"/>
                </a:solidFill>
                <a:latin typeface="Calibri"/>
              </a:defRPr>
            </a:pPr>
            <a:r>
              <a:t>Ollama</a:t>
            </a:r>
          </a:p>
        </p:txBody>
      </p:sp>
      <p:sp>
        <p:nvSpPr>
          <p:cNvPr id="10" name="TextBox 9"/>
          <p:cNvSpPr txBox="1"/>
          <p:nvPr/>
        </p:nvSpPr>
        <p:spPr>
          <a:xfrm>
            <a:off x="2286000" y="2331720"/>
            <a:ext cx="3566160" cy="320040"/>
          </a:xfrm>
          <a:prstGeom prst="rect">
            <a:avLst/>
          </a:prstGeom>
          <a:noFill/>
        </p:spPr>
        <p:txBody>
          <a:bodyPr wrap="square">
            <a:spAutoFit/>
          </a:bodyPr>
          <a:lstStyle/>
          <a:p>
            <a:pPr algn="l">
              <a:defRPr sz="1100" b="0">
                <a:solidFill>
                  <a:srgbClr val="B0BEC5"/>
                </a:solidFill>
                <a:latin typeface="Calibri"/>
              </a:defRPr>
            </a:pPr>
            <a:r>
              <a:t>Local serving, REST API</a:t>
            </a:r>
          </a:p>
        </p:txBody>
      </p:sp>
      <p:sp>
        <p:nvSpPr>
          <p:cNvPr id="11" name="Rounded Rectangle 10"/>
          <p:cNvSpPr/>
          <p:nvPr/>
        </p:nvSpPr>
        <p:spPr>
          <a:xfrm>
            <a:off x="457200" y="2834639"/>
            <a:ext cx="5577840" cy="74980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880359"/>
            <a:ext cx="1645920" cy="320040"/>
          </a:xfrm>
          <a:prstGeom prst="rect">
            <a:avLst/>
          </a:prstGeom>
          <a:noFill/>
        </p:spPr>
        <p:txBody>
          <a:bodyPr wrap="square">
            <a:spAutoFit/>
          </a:bodyPr>
          <a:lstStyle/>
          <a:p>
            <a:pPr algn="l">
              <a:defRPr sz="1200" b="1">
                <a:solidFill>
                  <a:srgbClr val="00B4D8"/>
                </a:solidFill>
                <a:latin typeface="Calibri"/>
              </a:defRPr>
            </a:pPr>
            <a:r>
              <a:t>Primary Retrieval</a:t>
            </a:r>
          </a:p>
        </p:txBody>
      </p:sp>
      <p:sp>
        <p:nvSpPr>
          <p:cNvPr id="13" name="TextBox 12"/>
          <p:cNvSpPr txBox="1"/>
          <p:nvPr/>
        </p:nvSpPr>
        <p:spPr>
          <a:xfrm>
            <a:off x="2286000" y="2880359"/>
            <a:ext cx="2011680" cy="320040"/>
          </a:xfrm>
          <a:prstGeom prst="rect">
            <a:avLst/>
          </a:prstGeom>
          <a:noFill/>
        </p:spPr>
        <p:txBody>
          <a:bodyPr wrap="square">
            <a:spAutoFit/>
          </a:bodyPr>
          <a:lstStyle/>
          <a:p>
            <a:pPr algn="l">
              <a:defRPr sz="1300" b="1">
                <a:solidFill>
                  <a:srgbClr val="FFFFFF"/>
                </a:solidFill>
                <a:latin typeface="Calibri"/>
              </a:defRPr>
            </a:pPr>
            <a:r>
              <a:t>Google OKF v0.2</a:t>
            </a:r>
          </a:p>
        </p:txBody>
      </p:sp>
      <p:sp>
        <p:nvSpPr>
          <p:cNvPr id="14" name="TextBox 13"/>
          <p:cNvSpPr txBox="1"/>
          <p:nvPr/>
        </p:nvSpPr>
        <p:spPr>
          <a:xfrm>
            <a:off x="2286000" y="3200399"/>
            <a:ext cx="3566160" cy="320040"/>
          </a:xfrm>
          <a:prstGeom prst="rect">
            <a:avLst/>
          </a:prstGeom>
          <a:noFill/>
        </p:spPr>
        <p:txBody>
          <a:bodyPr wrap="square">
            <a:spAutoFit/>
          </a:bodyPr>
          <a:lstStyle/>
          <a:p>
            <a:pPr algn="l">
              <a:defRPr sz="1100" b="0">
                <a:solidFill>
                  <a:srgbClr val="B0BEC5"/>
                </a:solidFill>
                <a:latin typeface="Calibri"/>
              </a:defRPr>
            </a:pPr>
            <a:r>
              <a:t>45 structured Markdown files</a:t>
            </a:r>
          </a:p>
        </p:txBody>
      </p:sp>
      <p:sp>
        <p:nvSpPr>
          <p:cNvPr id="15" name="Rounded Rectangle 14"/>
          <p:cNvSpPr/>
          <p:nvPr/>
        </p:nvSpPr>
        <p:spPr>
          <a:xfrm>
            <a:off x="457200" y="3703320"/>
            <a:ext cx="5577840" cy="74980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749039"/>
            <a:ext cx="1645920" cy="320040"/>
          </a:xfrm>
          <a:prstGeom prst="rect">
            <a:avLst/>
          </a:prstGeom>
          <a:noFill/>
        </p:spPr>
        <p:txBody>
          <a:bodyPr wrap="square">
            <a:spAutoFit/>
          </a:bodyPr>
          <a:lstStyle/>
          <a:p>
            <a:pPr algn="l">
              <a:defRPr sz="1200" b="1">
                <a:solidFill>
                  <a:srgbClr val="00B4D8"/>
                </a:solidFill>
                <a:latin typeface="Calibri"/>
              </a:defRPr>
            </a:pPr>
            <a:r>
              <a:t>Fallback Retrieval</a:t>
            </a:r>
          </a:p>
        </p:txBody>
      </p:sp>
      <p:sp>
        <p:nvSpPr>
          <p:cNvPr id="17" name="TextBox 16"/>
          <p:cNvSpPr txBox="1"/>
          <p:nvPr/>
        </p:nvSpPr>
        <p:spPr>
          <a:xfrm>
            <a:off x="2286000" y="3749039"/>
            <a:ext cx="2011680" cy="320040"/>
          </a:xfrm>
          <a:prstGeom prst="rect">
            <a:avLst/>
          </a:prstGeom>
          <a:noFill/>
        </p:spPr>
        <p:txBody>
          <a:bodyPr wrap="square">
            <a:spAutoFit/>
          </a:bodyPr>
          <a:lstStyle/>
          <a:p>
            <a:pPr algn="l">
              <a:defRPr sz="1300" b="1">
                <a:solidFill>
                  <a:srgbClr val="FFFFFF"/>
                </a:solidFill>
                <a:latin typeface="Calibri"/>
              </a:defRPr>
            </a:pPr>
            <a:r>
              <a:t>BGE-M3 + Qdrant</a:t>
            </a:r>
          </a:p>
        </p:txBody>
      </p:sp>
      <p:sp>
        <p:nvSpPr>
          <p:cNvPr id="18" name="TextBox 17"/>
          <p:cNvSpPr txBox="1"/>
          <p:nvPr/>
        </p:nvSpPr>
        <p:spPr>
          <a:xfrm>
            <a:off x="2286000" y="4069080"/>
            <a:ext cx="3566160" cy="320040"/>
          </a:xfrm>
          <a:prstGeom prst="rect">
            <a:avLst/>
          </a:prstGeom>
          <a:noFill/>
        </p:spPr>
        <p:txBody>
          <a:bodyPr wrap="square">
            <a:spAutoFit/>
          </a:bodyPr>
          <a:lstStyle/>
          <a:p>
            <a:pPr algn="l">
              <a:defRPr sz="1100" b="0">
                <a:solidFill>
                  <a:srgbClr val="B0BEC5"/>
                </a:solidFill>
                <a:latin typeface="Calibri"/>
              </a:defRPr>
            </a:pPr>
            <a:r>
              <a:t>Hybrid dense+sparse search</a:t>
            </a:r>
          </a:p>
        </p:txBody>
      </p:sp>
      <p:sp>
        <p:nvSpPr>
          <p:cNvPr id="19" name="Rounded Rectangle 18"/>
          <p:cNvSpPr/>
          <p:nvPr/>
        </p:nvSpPr>
        <p:spPr>
          <a:xfrm>
            <a:off x="457200" y="4572000"/>
            <a:ext cx="5577840" cy="74980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617720"/>
            <a:ext cx="1645920" cy="320040"/>
          </a:xfrm>
          <a:prstGeom prst="rect">
            <a:avLst/>
          </a:prstGeom>
          <a:noFill/>
        </p:spPr>
        <p:txBody>
          <a:bodyPr wrap="square">
            <a:spAutoFit/>
          </a:bodyPr>
          <a:lstStyle/>
          <a:p>
            <a:pPr algn="l">
              <a:defRPr sz="1200" b="1">
                <a:solidFill>
                  <a:srgbClr val="00B4D8"/>
                </a:solidFill>
                <a:latin typeface="Calibri"/>
              </a:defRPr>
            </a:pPr>
            <a:r>
              <a:t>Orchestration</a:t>
            </a:r>
          </a:p>
        </p:txBody>
      </p:sp>
      <p:sp>
        <p:nvSpPr>
          <p:cNvPr id="21" name="TextBox 20"/>
          <p:cNvSpPr txBox="1"/>
          <p:nvPr/>
        </p:nvSpPr>
        <p:spPr>
          <a:xfrm>
            <a:off x="2286000" y="4617720"/>
            <a:ext cx="2011680" cy="320040"/>
          </a:xfrm>
          <a:prstGeom prst="rect">
            <a:avLst/>
          </a:prstGeom>
          <a:noFill/>
        </p:spPr>
        <p:txBody>
          <a:bodyPr wrap="square">
            <a:spAutoFit/>
          </a:bodyPr>
          <a:lstStyle/>
          <a:p>
            <a:pPr algn="l">
              <a:defRPr sz="1300" b="1">
                <a:solidFill>
                  <a:srgbClr val="FFFFFF"/>
                </a:solidFill>
                <a:latin typeface="Calibri"/>
              </a:defRPr>
            </a:pPr>
            <a:r>
              <a:t>LangChain LCEL</a:t>
            </a:r>
          </a:p>
        </p:txBody>
      </p:sp>
      <p:sp>
        <p:nvSpPr>
          <p:cNvPr id="22" name="TextBox 21"/>
          <p:cNvSpPr txBox="1"/>
          <p:nvPr/>
        </p:nvSpPr>
        <p:spPr>
          <a:xfrm>
            <a:off x="2286000" y="4937760"/>
            <a:ext cx="3566160" cy="320040"/>
          </a:xfrm>
          <a:prstGeom prst="rect">
            <a:avLst/>
          </a:prstGeom>
          <a:noFill/>
        </p:spPr>
        <p:txBody>
          <a:bodyPr wrap="square">
            <a:spAutoFit/>
          </a:bodyPr>
          <a:lstStyle/>
          <a:p>
            <a:pPr algn="l">
              <a:defRPr sz="1100" b="0">
                <a:solidFill>
                  <a:srgbClr val="B0BEC5"/>
                </a:solidFill>
                <a:latin typeface="Calibri"/>
              </a:defRPr>
            </a:pPr>
            <a:r>
              <a:t>CRAG pipeline with routing</a:t>
            </a:r>
          </a:p>
        </p:txBody>
      </p:sp>
      <p:sp>
        <p:nvSpPr>
          <p:cNvPr id="23" name="Rounded Rectangle 22"/>
          <p:cNvSpPr/>
          <p:nvPr/>
        </p:nvSpPr>
        <p:spPr>
          <a:xfrm>
            <a:off x="457200" y="5440680"/>
            <a:ext cx="5577840" cy="74980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486400"/>
            <a:ext cx="1645920" cy="320040"/>
          </a:xfrm>
          <a:prstGeom prst="rect">
            <a:avLst/>
          </a:prstGeom>
          <a:noFill/>
        </p:spPr>
        <p:txBody>
          <a:bodyPr wrap="square">
            <a:spAutoFit/>
          </a:bodyPr>
          <a:lstStyle/>
          <a:p>
            <a:pPr algn="l">
              <a:defRPr sz="1200" b="1">
                <a:solidFill>
                  <a:srgbClr val="00B4D8"/>
                </a:solidFill>
                <a:latin typeface="Calibri"/>
              </a:defRPr>
            </a:pPr>
            <a:r>
              <a:t>Translation</a:t>
            </a:r>
          </a:p>
        </p:txBody>
      </p:sp>
      <p:sp>
        <p:nvSpPr>
          <p:cNvPr id="25" name="TextBox 24"/>
          <p:cNvSpPr txBox="1"/>
          <p:nvPr/>
        </p:nvSpPr>
        <p:spPr>
          <a:xfrm>
            <a:off x="2286000" y="5486400"/>
            <a:ext cx="2011680" cy="320040"/>
          </a:xfrm>
          <a:prstGeom prst="rect">
            <a:avLst/>
          </a:prstGeom>
          <a:noFill/>
        </p:spPr>
        <p:txBody>
          <a:bodyPr wrap="square">
            <a:spAutoFit/>
          </a:bodyPr>
          <a:lstStyle/>
          <a:p>
            <a:pPr algn="l">
              <a:defRPr sz="1300" b="1">
                <a:solidFill>
                  <a:srgbClr val="FFFFFF"/>
                </a:solidFill>
                <a:latin typeface="Calibri"/>
              </a:defRPr>
            </a:pPr>
            <a:r>
              <a:t>Bhashini API</a:t>
            </a:r>
          </a:p>
        </p:txBody>
      </p:sp>
      <p:sp>
        <p:nvSpPr>
          <p:cNvPr id="26" name="TextBox 25"/>
          <p:cNvSpPr txBox="1"/>
          <p:nvPr/>
        </p:nvSpPr>
        <p:spPr>
          <a:xfrm>
            <a:off x="2286000" y="5806440"/>
            <a:ext cx="3566160" cy="320040"/>
          </a:xfrm>
          <a:prstGeom prst="rect">
            <a:avLst/>
          </a:prstGeom>
          <a:noFill/>
        </p:spPr>
        <p:txBody>
          <a:bodyPr wrap="square">
            <a:spAutoFit/>
          </a:bodyPr>
          <a:lstStyle/>
          <a:p>
            <a:pPr algn="l">
              <a:defRPr sz="1100" b="0">
                <a:solidFill>
                  <a:srgbClr val="B0BEC5"/>
                </a:solidFill>
                <a:latin typeface="Calibri"/>
              </a:defRPr>
            </a:pPr>
            <a:r>
              <a:t>HI/MR ↔ EN, Gov. of India</a:t>
            </a:r>
          </a:p>
        </p:txBody>
      </p:sp>
      <p:sp>
        <p:nvSpPr>
          <p:cNvPr id="27" name="Rounded Rectangle 26"/>
          <p:cNvSpPr/>
          <p:nvPr/>
        </p:nvSpPr>
        <p:spPr>
          <a:xfrm>
            <a:off x="6309360" y="1097280"/>
            <a:ext cx="5577840" cy="74980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1143000"/>
            <a:ext cx="1645920" cy="320040"/>
          </a:xfrm>
          <a:prstGeom prst="rect">
            <a:avLst/>
          </a:prstGeom>
          <a:noFill/>
        </p:spPr>
        <p:txBody>
          <a:bodyPr wrap="square">
            <a:spAutoFit/>
          </a:bodyPr>
          <a:lstStyle/>
          <a:p>
            <a:pPr algn="l">
              <a:defRPr sz="1200" b="1">
                <a:solidFill>
                  <a:srgbClr val="00B4D8"/>
                </a:solidFill>
                <a:latin typeface="Calibri"/>
              </a:defRPr>
            </a:pPr>
            <a:r>
              <a:t>Safety</a:t>
            </a:r>
          </a:p>
        </p:txBody>
      </p:sp>
      <p:sp>
        <p:nvSpPr>
          <p:cNvPr id="29" name="TextBox 28"/>
          <p:cNvSpPr txBox="1"/>
          <p:nvPr/>
        </p:nvSpPr>
        <p:spPr>
          <a:xfrm>
            <a:off x="8138160" y="1143000"/>
            <a:ext cx="2011680" cy="320040"/>
          </a:xfrm>
          <a:prstGeom prst="rect">
            <a:avLst/>
          </a:prstGeom>
          <a:noFill/>
        </p:spPr>
        <p:txBody>
          <a:bodyPr wrap="square">
            <a:spAutoFit/>
          </a:bodyPr>
          <a:lstStyle/>
          <a:p>
            <a:pPr algn="l">
              <a:defRPr sz="1300" b="1">
                <a:solidFill>
                  <a:srgbClr val="FFFFFF"/>
                </a:solidFill>
                <a:latin typeface="Calibri"/>
              </a:defRPr>
            </a:pPr>
            <a:r>
              <a:t>Semantic Router</a:t>
            </a:r>
          </a:p>
        </p:txBody>
      </p:sp>
      <p:sp>
        <p:nvSpPr>
          <p:cNvPr id="30" name="TextBox 29"/>
          <p:cNvSpPr txBox="1"/>
          <p:nvPr/>
        </p:nvSpPr>
        <p:spPr>
          <a:xfrm>
            <a:off x="8138160" y="1463040"/>
            <a:ext cx="3566160" cy="320040"/>
          </a:xfrm>
          <a:prstGeom prst="rect">
            <a:avLst/>
          </a:prstGeom>
          <a:noFill/>
        </p:spPr>
        <p:txBody>
          <a:bodyPr wrap="square">
            <a:spAutoFit/>
          </a:bodyPr>
          <a:lstStyle/>
          <a:p>
            <a:pPr algn="l">
              <a:defRPr sz="1100" b="0">
                <a:solidFill>
                  <a:srgbClr val="B0BEC5"/>
                </a:solidFill>
                <a:latin typeface="Calibri"/>
              </a:defRPr>
            </a:pPr>
            <a:r>
              <a:t>&lt; 100ms intent classification</a:t>
            </a:r>
          </a:p>
        </p:txBody>
      </p:sp>
      <p:sp>
        <p:nvSpPr>
          <p:cNvPr id="31" name="Rounded Rectangle 30"/>
          <p:cNvSpPr/>
          <p:nvPr/>
        </p:nvSpPr>
        <p:spPr>
          <a:xfrm>
            <a:off x="6309360" y="1965960"/>
            <a:ext cx="5577840" cy="74980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2011679"/>
            <a:ext cx="1645920" cy="320040"/>
          </a:xfrm>
          <a:prstGeom prst="rect">
            <a:avLst/>
          </a:prstGeom>
          <a:noFill/>
        </p:spPr>
        <p:txBody>
          <a:bodyPr wrap="square">
            <a:spAutoFit/>
          </a:bodyPr>
          <a:lstStyle/>
          <a:p>
            <a:pPr algn="l">
              <a:defRPr sz="1200" b="1">
                <a:solidFill>
                  <a:srgbClr val="00B4D8"/>
                </a:solidFill>
                <a:latin typeface="Calibri"/>
              </a:defRPr>
            </a:pPr>
            <a:r>
              <a:t>AQI</a:t>
            </a:r>
          </a:p>
        </p:txBody>
      </p:sp>
      <p:sp>
        <p:nvSpPr>
          <p:cNvPr id="33" name="TextBox 32"/>
          <p:cNvSpPr txBox="1"/>
          <p:nvPr/>
        </p:nvSpPr>
        <p:spPr>
          <a:xfrm>
            <a:off x="8138160" y="2011679"/>
            <a:ext cx="2011680" cy="320040"/>
          </a:xfrm>
          <a:prstGeom prst="rect">
            <a:avLst/>
          </a:prstGeom>
          <a:noFill/>
        </p:spPr>
        <p:txBody>
          <a:bodyPr wrap="square">
            <a:spAutoFit/>
          </a:bodyPr>
          <a:lstStyle/>
          <a:p>
            <a:pPr algn="l">
              <a:defRPr sz="1300" b="1">
                <a:solidFill>
                  <a:srgbClr val="FFFFFF"/>
                </a:solidFill>
                <a:latin typeface="Calibri"/>
              </a:defRPr>
            </a:pPr>
            <a:r>
              <a:t>WAQI + Open-Meteo</a:t>
            </a:r>
          </a:p>
        </p:txBody>
      </p:sp>
      <p:sp>
        <p:nvSpPr>
          <p:cNvPr id="34" name="TextBox 33"/>
          <p:cNvSpPr txBox="1"/>
          <p:nvPr/>
        </p:nvSpPr>
        <p:spPr>
          <a:xfrm>
            <a:off x="8138160" y="2331720"/>
            <a:ext cx="3566160" cy="320040"/>
          </a:xfrm>
          <a:prstGeom prst="rect">
            <a:avLst/>
          </a:prstGeom>
          <a:noFill/>
        </p:spPr>
        <p:txBody>
          <a:bodyPr wrap="square">
            <a:spAutoFit/>
          </a:bodyPr>
          <a:lstStyle/>
          <a:p>
            <a:pPr algn="l">
              <a:defRPr sz="1100" b="0">
                <a:solidFill>
                  <a:srgbClr val="B0BEC5"/>
                </a:solidFill>
                <a:latin typeface="Calibri"/>
              </a:defRPr>
            </a:pPr>
            <a:r>
              <a:t>PM2.5, UV, temp, humidity</a:t>
            </a:r>
          </a:p>
        </p:txBody>
      </p:sp>
      <p:sp>
        <p:nvSpPr>
          <p:cNvPr id="35" name="Rounded Rectangle 34"/>
          <p:cNvSpPr/>
          <p:nvPr/>
        </p:nvSpPr>
        <p:spPr>
          <a:xfrm>
            <a:off x="6309360" y="2834639"/>
            <a:ext cx="5577840" cy="74980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46520" y="2880359"/>
            <a:ext cx="1645920" cy="320040"/>
          </a:xfrm>
          <a:prstGeom prst="rect">
            <a:avLst/>
          </a:prstGeom>
          <a:noFill/>
        </p:spPr>
        <p:txBody>
          <a:bodyPr wrap="square">
            <a:spAutoFit/>
          </a:bodyPr>
          <a:lstStyle/>
          <a:p>
            <a:pPr algn="l">
              <a:defRPr sz="1200" b="1">
                <a:solidFill>
                  <a:srgbClr val="00B4D8"/>
                </a:solidFill>
                <a:latin typeface="Calibri"/>
              </a:defRPr>
            </a:pPr>
            <a:r>
              <a:t>Wearable</a:t>
            </a:r>
          </a:p>
        </p:txBody>
      </p:sp>
      <p:sp>
        <p:nvSpPr>
          <p:cNvPr id="37" name="TextBox 36"/>
          <p:cNvSpPr txBox="1"/>
          <p:nvPr/>
        </p:nvSpPr>
        <p:spPr>
          <a:xfrm>
            <a:off x="8138160" y="2880359"/>
            <a:ext cx="2011680" cy="320040"/>
          </a:xfrm>
          <a:prstGeom prst="rect">
            <a:avLst/>
          </a:prstGeom>
          <a:noFill/>
        </p:spPr>
        <p:txBody>
          <a:bodyPr wrap="square">
            <a:spAutoFit/>
          </a:bodyPr>
          <a:lstStyle/>
          <a:p>
            <a:pPr algn="l">
              <a:defRPr sz="1300" b="1">
                <a:solidFill>
                  <a:srgbClr val="FFFFFF"/>
                </a:solidFill>
                <a:latin typeface="Calibri"/>
              </a:defRPr>
            </a:pPr>
            <a:r>
              <a:t>Health Connect SDK</a:t>
            </a:r>
          </a:p>
        </p:txBody>
      </p:sp>
      <p:sp>
        <p:nvSpPr>
          <p:cNvPr id="38" name="TextBox 37"/>
          <p:cNvSpPr txBox="1"/>
          <p:nvPr/>
        </p:nvSpPr>
        <p:spPr>
          <a:xfrm>
            <a:off x="8138160" y="3200399"/>
            <a:ext cx="3566160" cy="320040"/>
          </a:xfrm>
          <a:prstGeom prst="rect">
            <a:avLst/>
          </a:prstGeom>
          <a:noFill/>
        </p:spPr>
        <p:txBody>
          <a:bodyPr wrap="square">
            <a:spAutoFit/>
          </a:bodyPr>
          <a:lstStyle/>
          <a:p>
            <a:pPr algn="l">
              <a:defRPr sz="1100" b="0">
                <a:solidFill>
                  <a:srgbClr val="B0BEC5"/>
                </a:solidFill>
                <a:latin typeface="Calibri"/>
              </a:defRPr>
            </a:pPr>
            <a:r>
              <a:t>23+ metrics, Fitbit/Garmin/Samsung</a:t>
            </a:r>
          </a:p>
        </p:txBody>
      </p:sp>
      <p:sp>
        <p:nvSpPr>
          <p:cNvPr id="39" name="Rounded Rectangle 38"/>
          <p:cNvSpPr/>
          <p:nvPr/>
        </p:nvSpPr>
        <p:spPr>
          <a:xfrm>
            <a:off x="6309360" y="3703320"/>
            <a:ext cx="5577840" cy="74980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46520" y="3749039"/>
            <a:ext cx="1645920" cy="320040"/>
          </a:xfrm>
          <a:prstGeom prst="rect">
            <a:avLst/>
          </a:prstGeom>
          <a:noFill/>
        </p:spPr>
        <p:txBody>
          <a:bodyPr wrap="square">
            <a:spAutoFit/>
          </a:bodyPr>
          <a:lstStyle/>
          <a:p>
            <a:pPr algn="l">
              <a:defRPr sz="1200" b="1">
                <a:solidFill>
                  <a:srgbClr val="00B4D8"/>
                </a:solidFill>
                <a:latin typeface="Calibri"/>
              </a:defRPr>
            </a:pPr>
            <a:r>
              <a:t>Backend</a:t>
            </a:r>
          </a:p>
        </p:txBody>
      </p:sp>
      <p:sp>
        <p:nvSpPr>
          <p:cNvPr id="41" name="TextBox 40"/>
          <p:cNvSpPr txBox="1"/>
          <p:nvPr/>
        </p:nvSpPr>
        <p:spPr>
          <a:xfrm>
            <a:off x="8138160" y="3749039"/>
            <a:ext cx="2011680" cy="320040"/>
          </a:xfrm>
          <a:prstGeom prst="rect">
            <a:avLst/>
          </a:prstGeom>
          <a:noFill/>
        </p:spPr>
        <p:txBody>
          <a:bodyPr wrap="square">
            <a:spAutoFit/>
          </a:bodyPr>
          <a:lstStyle/>
          <a:p>
            <a:pPr algn="l">
              <a:defRPr sz="1300" b="1">
                <a:solidFill>
                  <a:srgbClr val="FFFFFF"/>
                </a:solidFill>
                <a:latin typeface="Calibri"/>
              </a:defRPr>
            </a:pPr>
            <a:r>
              <a:t>FastAPI + SSE</a:t>
            </a:r>
          </a:p>
        </p:txBody>
      </p:sp>
      <p:sp>
        <p:nvSpPr>
          <p:cNvPr id="42" name="TextBox 41"/>
          <p:cNvSpPr txBox="1"/>
          <p:nvPr/>
        </p:nvSpPr>
        <p:spPr>
          <a:xfrm>
            <a:off x="8138160" y="4069080"/>
            <a:ext cx="3566160" cy="320040"/>
          </a:xfrm>
          <a:prstGeom prst="rect">
            <a:avLst/>
          </a:prstGeom>
          <a:noFill/>
        </p:spPr>
        <p:txBody>
          <a:bodyPr wrap="square">
            <a:spAutoFit/>
          </a:bodyPr>
          <a:lstStyle/>
          <a:p>
            <a:pPr algn="l">
              <a:defRPr sz="1100" b="0">
                <a:solidFill>
                  <a:srgbClr val="B0BEC5"/>
                </a:solidFill>
                <a:latin typeface="Calibri"/>
              </a:defRPr>
            </a:pPr>
            <a:r>
              <a:t>Streaming responses</a:t>
            </a:r>
          </a:p>
        </p:txBody>
      </p:sp>
      <p:sp>
        <p:nvSpPr>
          <p:cNvPr id="43" name="Rounded Rectangle 42"/>
          <p:cNvSpPr/>
          <p:nvPr/>
        </p:nvSpPr>
        <p:spPr>
          <a:xfrm>
            <a:off x="6309360" y="4572000"/>
            <a:ext cx="5577840" cy="74980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46520" y="4617720"/>
            <a:ext cx="1645920" cy="320040"/>
          </a:xfrm>
          <a:prstGeom prst="rect">
            <a:avLst/>
          </a:prstGeom>
          <a:noFill/>
        </p:spPr>
        <p:txBody>
          <a:bodyPr wrap="square">
            <a:spAutoFit/>
          </a:bodyPr>
          <a:lstStyle/>
          <a:p>
            <a:pPr algn="l">
              <a:defRPr sz="1200" b="1">
                <a:solidFill>
                  <a:srgbClr val="00B4D8"/>
                </a:solidFill>
                <a:latin typeface="Calibri"/>
              </a:defRPr>
            </a:pPr>
            <a:r>
              <a:t>Frontend</a:t>
            </a:r>
          </a:p>
        </p:txBody>
      </p:sp>
      <p:sp>
        <p:nvSpPr>
          <p:cNvPr id="45" name="TextBox 44"/>
          <p:cNvSpPr txBox="1"/>
          <p:nvPr/>
        </p:nvSpPr>
        <p:spPr>
          <a:xfrm>
            <a:off x="8138160" y="4617720"/>
            <a:ext cx="2011680" cy="320040"/>
          </a:xfrm>
          <a:prstGeom prst="rect">
            <a:avLst/>
          </a:prstGeom>
          <a:noFill/>
        </p:spPr>
        <p:txBody>
          <a:bodyPr wrap="square">
            <a:spAutoFit/>
          </a:bodyPr>
          <a:lstStyle/>
          <a:p>
            <a:pPr algn="l">
              <a:defRPr sz="1300" b="1">
                <a:solidFill>
                  <a:srgbClr val="FFFFFF"/>
                </a:solidFill>
                <a:latin typeface="Calibri"/>
              </a:defRPr>
            </a:pPr>
            <a:r>
              <a:t>Flutter (Android)</a:t>
            </a:r>
          </a:p>
        </p:txBody>
      </p:sp>
      <p:sp>
        <p:nvSpPr>
          <p:cNvPr id="46" name="TextBox 45"/>
          <p:cNvSpPr txBox="1"/>
          <p:nvPr/>
        </p:nvSpPr>
        <p:spPr>
          <a:xfrm>
            <a:off x="8138160" y="4937760"/>
            <a:ext cx="3566160" cy="320040"/>
          </a:xfrm>
          <a:prstGeom prst="rect">
            <a:avLst/>
          </a:prstGeom>
          <a:noFill/>
        </p:spPr>
        <p:txBody>
          <a:bodyPr wrap="square">
            <a:spAutoFit/>
          </a:bodyPr>
          <a:lstStyle/>
          <a:p>
            <a:pPr algn="l">
              <a:defRPr sz="1100" b="0">
                <a:solidFill>
                  <a:srgbClr val="B0BEC5"/>
                </a:solidFill>
                <a:latin typeface="Calibri"/>
              </a:defRPr>
            </a:pPr>
            <a:r>
              <a:t>SQLite on-device storage</a:t>
            </a:r>
          </a:p>
        </p:txBody>
      </p:sp>
      <p:sp>
        <p:nvSpPr>
          <p:cNvPr id="47" name="Rounded Rectangle 46"/>
          <p:cNvSpPr/>
          <p:nvPr/>
        </p:nvSpPr>
        <p:spPr>
          <a:xfrm>
            <a:off x="6309360" y="5440680"/>
            <a:ext cx="5577840" cy="74980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46520" y="5486400"/>
            <a:ext cx="1645920" cy="320040"/>
          </a:xfrm>
          <a:prstGeom prst="rect">
            <a:avLst/>
          </a:prstGeom>
          <a:noFill/>
        </p:spPr>
        <p:txBody>
          <a:bodyPr wrap="square">
            <a:spAutoFit/>
          </a:bodyPr>
          <a:lstStyle/>
          <a:p>
            <a:pPr algn="l">
              <a:defRPr sz="1200" b="1">
                <a:solidFill>
                  <a:srgbClr val="00B4D8"/>
                </a:solidFill>
                <a:latin typeface="Calibri"/>
              </a:defRPr>
            </a:pPr>
            <a:r>
              <a:t>Evaluation</a:t>
            </a:r>
          </a:p>
        </p:txBody>
      </p:sp>
      <p:sp>
        <p:nvSpPr>
          <p:cNvPr id="49" name="TextBox 48"/>
          <p:cNvSpPr txBox="1"/>
          <p:nvPr/>
        </p:nvSpPr>
        <p:spPr>
          <a:xfrm>
            <a:off x="8138160" y="5486400"/>
            <a:ext cx="2011680" cy="320040"/>
          </a:xfrm>
          <a:prstGeom prst="rect">
            <a:avLst/>
          </a:prstGeom>
          <a:noFill/>
        </p:spPr>
        <p:txBody>
          <a:bodyPr wrap="square">
            <a:spAutoFit/>
          </a:bodyPr>
          <a:lstStyle/>
          <a:p>
            <a:pPr algn="l">
              <a:defRPr sz="1300" b="1">
                <a:solidFill>
                  <a:srgbClr val="FFFFFF"/>
                </a:solidFill>
                <a:latin typeface="Calibri"/>
              </a:defRPr>
            </a:pPr>
            <a:r>
              <a:t>RAGAS</a:t>
            </a:r>
          </a:p>
        </p:txBody>
      </p:sp>
      <p:sp>
        <p:nvSpPr>
          <p:cNvPr id="50" name="TextBox 49"/>
          <p:cNvSpPr txBox="1"/>
          <p:nvPr/>
        </p:nvSpPr>
        <p:spPr>
          <a:xfrm>
            <a:off x="8138160" y="5806440"/>
            <a:ext cx="3566160" cy="320040"/>
          </a:xfrm>
          <a:prstGeom prst="rect">
            <a:avLst/>
          </a:prstGeom>
          <a:noFill/>
        </p:spPr>
        <p:txBody>
          <a:bodyPr wrap="square">
            <a:spAutoFit/>
          </a:bodyPr>
          <a:lstStyle/>
          <a:p>
            <a:pPr algn="l">
              <a:defRPr sz="1100" b="0">
                <a:solidFill>
                  <a:srgbClr val="B0BEC5"/>
                </a:solidFill>
                <a:latin typeface="Calibri"/>
              </a:defRPr>
            </a:pPr>
            <a:r>
              <a:t>Faithfulness, relevancy, precision</a:t>
            </a:r>
          </a:p>
        </p:txBody>
      </p:sp>
      <p:sp>
        <p:nvSpPr>
          <p:cNvPr id="51" name="Rectangle 50"/>
          <p:cNvSpPr/>
          <p:nvPr/>
        </p:nvSpPr>
        <p:spPr>
          <a:xfrm>
            <a:off x="0" y="6492240"/>
            <a:ext cx="12191695" cy="36576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74320" y="6510528"/>
            <a:ext cx="5486400" cy="320040"/>
          </a:xfrm>
          <a:prstGeom prst="rect">
            <a:avLst/>
          </a:prstGeom>
          <a:noFill/>
        </p:spPr>
        <p:txBody>
          <a:bodyPr wrap="square">
            <a:spAutoFit/>
          </a:bodyPr>
          <a:lstStyle/>
          <a:p>
            <a:pPr algn="l">
              <a:defRPr sz="900" b="0">
                <a:solidFill>
                  <a:srgbClr val="B0BEC5"/>
                </a:solidFill>
                <a:latin typeface="Calibri"/>
              </a:defRPr>
            </a:pPr>
            <a:r>
              <a:t>MPSTME, SVKM's NMIMS Shirpur | Dept. of IT/AIML | 2026-27</a:t>
            </a:r>
          </a:p>
        </p:txBody>
      </p:sp>
      <p:sp>
        <p:nvSpPr>
          <p:cNvPr id="53" name="TextBox 52"/>
          <p:cNvSpPr txBox="1"/>
          <p:nvPr/>
        </p:nvSpPr>
        <p:spPr>
          <a:xfrm>
            <a:off x="11430000" y="6400800"/>
            <a:ext cx="731520" cy="365760"/>
          </a:xfrm>
          <a:prstGeom prst="rect">
            <a:avLst/>
          </a:prstGeom>
          <a:noFill/>
        </p:spPr>
        <p:txBody>
          <a:bodyPr wrap="square">
            <a:spAutoFit/>
          </a:bodyPr>
          <a:lstStyle/>
          <a:p>
            <a:pPr algn="r">
              <a:defRPr sz="1000" b="0">
                <a:solidFill>
                  <a:srgbClr val="B0BEC5"/>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3200" b="1">
                <a:solidFill>
                  <a:srgbClr val="FFFFFF"/>
                </a:solidFill>
                <a:latin typeface="Calibri"/>
              </a:defRPr>
            </a:pPr>
            <a:r>
              <a:t>Implementation Progress — 55% Complete</a:t>
            </a:r>
          </a:p>
        </p:txBody>
      </p:sp>
      <p:sp>
        <p:nvSpPr>
          <p:cNvPr id="3" name="Rounded Rectangle 2"/>
          <p:cNvSpPr/>
          <p:nvPr/>
        </p:nvSpPr>
        <p:spPr>
          <a:xfrm>
            <a:off x="457200" y="1097280"/>
            <a:ext cx="11247120" cy="457200"/>
          </a:xfrm>
          <a:prstGeom prst="round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097280"/>
            <a:ext cx="6217920" cy="4572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0" y="1115568"/>
            <a:ext cx="1828800" cy="411480"/>
          </a:xfrm>
          <a:prstGeom prst="rect">
            <a:avLst/>
          </a:prstGeom>
          <a:noFill/>
        </p:spPr>
        <p:txBody>
          <a:bodyPr wrap="square">
            <a:spAutoFit/>
          </a:bodyPr>
          <a:lstStyle/>
          <a:p>
            <a:pPr algn="l">
              <a:defRPr sz="2000" b="1">
                <a:solidFill>
                  <a:srgbClr val="FFFFFF"/>
                </a:solidFill>
                <a:latin typeface="Calibri"/>
              </a:defRPr>
            </a:pPr>
            <a:r>
              <a:t>55%</a:t>
            </a:r>
          </a:p>
        </p:txBody>
      </p:sp>
      <p:sp>
        <p:nvSpPr>
          <p:cNvPr id="6" name="Rounded Rectangle 5"/>
          <p:cNvSpPr/>
          <p:nvPr/>
        </p:nvSpPr>
        <p:spPr>
          <a:xfrm>
            <a:off x="457200" y="1828800"/>
            <a:ext cx="5577840" cy="65836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94360" y="2011680"/>
            <a:ext cx="228600" cy="228600"/>
          </a:xfrm>
          <a:prstGeom prst="ellipse">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47088"/>
            <a:ext cx="2743200" cy="320040"/>
          </a:xfrm>
          <a:prstGeom prst="rect">
            <a:avLst/>
          </a:prstGeom>
          <a:noFill/>
        </p:spPr>
        <p:txBody>
          <a:bodyPr wrap="square">
            <a:spAutoFit/>
          </a:bodyPr>
          <a:lstStyle/>
          <a:p>
            <a:pPr algn="l">
              <a:defRPr sz="1200" b="1">
                <a:solidFill>
                  <a:srgbClr val="FFFFFF"/>
                </a:solidFill>
                <a:latin typeface="Calibri"/>
              </a:defRPr>
            </a:pPr>
            <a:r>
              <a:t>OKF Knowledge Bundle</a:t>
            </a:r>
          </a:p>
        </p:txBody>
      </p:sp>
      <p:sp>
        <p:nvSpPr>
          <p:cNvPr id="9" name="TextBox 8"/>
          <p:cNvSpPr txBox="1"/>
          <p:nvPr/>
        </p:nvSpPr>
        <p:spPr>
          <a:xfrm>
            <a:off x="914400" y="2148840"/>
            <a:ext cx="4937760" cy="320040"/>
          </a:xfrm>
          <a:prstGeom prst="rect">
            <a:avLst/>
          </a:prstGeom>
          <a:noFill/>
        </p:spPr>
        <p:txBody>
          <a:bodyPr wrap="square">
            <a:spAutoFit/>
          </a:bodyPr>
          <a:lstStyle/>
          <a:p>
            <a:pPr algn="l">
              <a:defRPr sz="1000" b="0">
                <a:solidFill>
                  <a:srgbClr val="B0BEC5"/>
                </a:solidFill>
                <a:latin typeface="Calibri"/>
              </a:defRPr>
            </a:pPr>
            <a:r>
              <a:t>45 concept files across 5 categories</a:t>
            </a:r>
          </a:p>
        </p:txBody>
      </p:sp>
      <p:sp>
        <p:nvSpPr>
          <p:cNvPr id="10" name="Rounded Rectangle 9"/>
          <p:cNvSpPr/>
          <p:nvPr/>
        </p:nvSpPr>
        <p:spPr>
          <a:xfrm>
            <a:off x="457200" y="2578608"/>
            <a:ext cx="5577840" cy="65836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94360" y="2761488"/>
            <a:ext cx="228600" cy="228600"/>
          </a:xfrm>
          <a:prstGeom prst="ellipse">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96896"/>
            <a:ext cx="2743200" cy="320040"/>
          </a:xfrm>
          <a:prstGeom prst="rect">
            <a:avLst/>
          </a:prstGeom>
          <a:noFill/>
        </p:spPr>
        <p:txBody>
          <a:bodyPr wrap="square">
            <a:spAutoFit/>
          </a:bodyPr>
          <a:lstStyle/>
          <a:p>
            <a:pPr algn="l">
              <a:defRPr sz="1200" b="1">
                <a:solidFill>
                  <a:srgbClr val="FFFFFF"/>
                </a:solidFill>
                <a:latin typeface="Calibri"/>
              </a:defRPr>
            </a:pPr>
            <a:r>
              <a:t>RAG Pipeline (CRAG)</a:t>
            </a:r>
          </a:p>
        </p:txBody>
      </p:sp>
      <p:sp>
        <p:nvSpPr>
          <p:cNvPr id="13" name="TextBox 12"/>
          <p:cNvSpPr txBox="1"/>
          <p:nvPr/>
        </p:nvSpPr>
        <p:spPr>
          <a:xfrm>
            <a:off x="914400" y="2898648"/>
            <a:ext cx="4937760" cy="320040"/>
          </a:xfrm>
          <a:prstGeom prst="rect">
            <a:avLst/>
          </a:prstGeom>
          <a:noFill/>
        </p:spPr>
        <p:txBody>
          <a:bodyPr wrap="square">
            <a:spAutoFit/>
          </a:bodyPr>
          <a:lstStyle/>
          <a:p>
            <a:pPr algn="l">
              <a:defRPr sz="1000" b="0">
                <a:solidFill>
                  <a:srgbClr val="B0BEC5"/>
                </a:solidFill>
                <a:latin typeface="Calibri"/>
              </a:defRPr>
            </a:pPr>
            <a:r>
              <a:t>OKF Navigator + grader + context builder</a:t>
            </a:r>
          </a:p>
        </p:txBody>
      </p:sp>
      <p:sp>
        <p:nvSpPr>
          <p:cNvPr id="14" name="Rounded Rectangle 13"/>
          <p:cNvSpPr/>
          <p:nvPr/>
        </p:nvSpPr>
        <p:spPr>
          <a:xfrm>
            <a:off x="457200" y="3328415"/>
            <a:ext cx="5577840" cy="65836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94360" y="3511296"/>
            <a:ext cx="228600" cy="228600"/>
          </a:xfrm>
          <a:prstGeom prst="ellipse">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346703"/>
            <a:ext cx="2743200" cy="320040"/>
          </a:xfrm>
          <a:prstGeom prst="rect">
            <a:avLst/>
          </a:prstGeom>
          <a:noFill/>
        </p:spPr>
        <p:txBody>
          <a:bodyPr wrap="square">
            <a:spAutoFit/>
          </a:bodyPr>
          <a:lstStyle/>
          <a:p>
            <a:pPr algn="l">
              <a:defRPr sz="1200" b="1">
                <a:solidFill>
                  <a:srgbClr val="FFFFFF"/>
                </a:solidFill>
                <a:latin typeface="Calibri"/>
              </a:defRPr>
            </a:pPr>
            <a:r>
              <a:t>LLM Serving (Ollama)</a:t>
            </a:r>
          </a:p>
        </p:txBody>
      </p:sp>
      <p:sp>
        <p:nvSpPr>
          <p:cNvPr id="17" name="TextBox 16"/>
          <p:cNvSpPr txBox="1"/>
          <p:nvPr/>
        </p:nvSpPr>
        <p:spPr>
          <a:xfrm>
            <a:off x="914400" y="3648456"/>
            <a:ext cx="4937760" cy="320040"/>
          </a:xfrm>
          <a:prstGeom prst="rect">
            <a:avLst/>
          </a:prstGeom>
          <a:noFill/>
        </p:spPr>
        <p:txBody>
          <a:bodyPr wrap="square">
            <a:spAutoFit/>
          </a:bodyPr>
          <a:lstStyle/>
          <a:p>
            <a:pPr algn="l">
              <a:defRPr sz="1000" b="0">
                <a:solidFill>
                  <a:srgbClr val="B0BEC5"/>
                </a:solidFill>
                <a:latin typeface="Calibri"/>
              </a:defRPr>
            </a:pPr>
            <a:r>
              <a:t>Llama 3.1 8B via Ollama, SSE streaming</a:t>
            </a:r>
          </a:p>
        </p:txBody>
      </p:sp>
      <p:sp>
        <p:nvSpPr>
          <p:cNvPr id="18" name="Rounded Rectangle 17"/>
          <p:cNvSpPr/>
          <p:nvPr/>
        </p:nvSpPr>
        <p:spPr>
          <a:xfrm>
            <a:off x="457200" y="4078224"/>
            <a:ext cx="5577840" cy="65836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94360" y="4261104"/>
            <a:ext cx="228600" cy="228600"/>
          </a:xfrm>
          <a:prstGeom prst="ellipse">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096511"/>
            <a:ext cx="2743200" cy="320040"/>
          </a:xfrm>
          <a:prstGeom prst="rect">
            <a:avLst/>
          </a:prstGeom>
          <a:noFill/>
        </p:spPr>
        <p:txBody>
          <a:bodyPr wrap="square">
            <a:spAutoFit/>
          </a:bodyPr>
          <a:lstStyle/>
          <a:p>
            <a:pPr algn="l">
              <a:defRPr sz="1200" b="1">
                <a:solidFill>
                  <a:srgbClr val="FFFFFF"/>
                </a:solidFill>
                <a:latin typeface="Calibri"/>
              </a:defRPr>
            </a:pPr>
            <a:r>
              <a:t>Backend API (FastAPI)</a:t>
            </a:r>
          </a:p>
        </p:txBody>
      </p:sp>
      <p:sp>
        <p:nvSpPr>
          <p:cNvPr id="21" name="TextBox 20"/>
          <p:cNvSpPr txBox="1"/>
          <p:nvPr/>
        </p:nvSpPr>
        <p:spPr>
          <a:xfrm>
            <a:off x="914400" y="4398264"/>
            <a:ext cx="4937760" cy="320040"/>
          </a:xfrm>
          <a:prstGeom prst="rect">
            <a:avLst/>
          </a:prstGeom>
          <a:noFill/>
        </p:spPr>
        <p:txBody>
          <a:bodyPr wrap="square">
            <a:spAutoFit/>
          </a:bodyPr>
          <a:lstStyle/>
          <a:p>
            <a:pPr algn="l">
              <a:defRPr sz="1000" b="0">
                <a:solidFill>
                  <a:srgbClr val="B0BEC5"/>
                </a:solidFill>
                <a:latin typeface="Calibri"/>
              </a:defRPr>
            </a:pPr>
            <a:r>
              <a:t>4 endpoints: /chat, /aqi, /health, SSE</a:t>
            </a:r>
          </a:p>
        </p:txBody>
      </p:sp>
      <p:sp>
        <p:nvSpPr>
          <p:cNvPr id="22" name="Rounded Rectangle 21"/>
          <p:cNvSpPr/>
          <p:nvPr/>
        </p:nvSpPr>
        <p:spPr>
          <a:xfrm>
            <a:off x="457200" y="4828031"/>
            <a:ext cx="5577840" cy="65836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94360" y="5010912"/>
            <a:ext cx="228600" cy="228600"/>
          </a:xfrm>
          <a:prstGeom prst="ellipse">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846319"/>
            <a:ext cx="2743200" cy="320040"/>
          </a:xfrm>
          <a:prstGeom prst="rect">
            <a:avLst/>
          </a:prstGeom>
          <a:noFill/>
        </p:spPr>
        <p:txBody>
          <a:bodyPr wrap="square">
            <a:spAutoFit/>
          </a:bodyPr>
          <a:lstStyle/>
          <a:p>
            <a:pPr algn="l">
              <a:defRPr sz="1200" b="1">
                <a:solidFill>
                  <a:srgbClr val="FFFFFF"/>
                </a:solidFill>
                <a:latin typeface="Calibri"/>
              </a:defRPr>
            </a:pPr>
            <a:r>
              <a:t>Safety Layer</a:t>
            </a:r>
          </a:p>
        </p:txBody>
      </p:sp>
      <p:sp>
        <p:nvSpPr>
          <p:cNvPr id="25" name="TextBox 24"/>
          <p:cNvSpPr txBox="1"/>
          <p:nvPr/>
        </p:nvSpPr>
        <p:spPr>
          <a:xfrm>
            <a:off x="914400" y="5148071"/>
            <a:ext cx="4937760" cy="320040"/>
          </a:xfrm>
          <a:prstGeom prst="rect">
            <a:avLst/>
          </a:prstGeom>
          <a:noFill/>
        </p:spPr>
        <p:txBody>
          <a:bodyPr wrap="square">
            <a:spAutoFit/>
          </a:bodyPr>
          <a:lstStyle/>
          <a:p>
            <a:pPr algn="l">
              <a:defRPr sz="1000" b="0">
                <a:solidFill>
                  <a:srgbClr val="B0BEC5"/>
                </a:solidFill>
                <a:latin typeface="Calibri"/>
              </a:defRPr>
            </a:pPr>
            <a:r>
              <a:t>Semantic Router with 3 routes + 45 utterances</a:t>
            </a:r>
          </a:p>
        </p:txBody>
      </p:sp>
      <p:sp>
        <p:nvSpPr>
          <p:cNvPr id="26" name="Rounded Rectangle 25"/>
          <p:cNvSpPr/>
          <p:nvPr/>
        </p:nvSpPr>
        <p:spPr>
          <a:xfrm>
            <a:off x="457200" y="5577840"/>
            <a:ext cx="5577840" cy="65836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94360" y="5760720"/>
            <a:ext cx="228600" cy="228600"/>
          </a:xfrm>
          <a:prstGeom prst="ellipse">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596127"/>
            <a:ext cx="2743200" cy="320040"/>
          </a:xfrm>
          <a:prstGeom prst="rect">
            <a:avLst/>
          </a:prstGeom>
          <a:noFill/>
        </p:spPr>
        <p:txBody>
          <a:bodyPr wrap="square">
            <a:spAutoFit/>
          </a:bodyPr>
          <a:lstStyle/>
          <a:p>
            <a:pPr algn="l">
              <a:defRPr sz="1200" b="1">
                <a:solidFill>
                  <a:srgbClr val="FFFFFF"/>
                </a:solidFill>
                <a:latin typeface="Calibri"/>
              </a:defRPr>
            </a:pPr>
            <a:r>
              <a:t>Translation (Bhashini)</a:t>
            </a:r>
          </a:p>
        </p:txBody>
      </p:sp>
      <p:sp>
        <p:nvSpPr>
          <p:cNvPr id="29" name="TextBox 28"/>
          <p:cNvSpPr txBox="1"/>
          <p:nvPr/>
        </p:nvSpPr>
        <p:spPr>
          <a:xfrm>
            <a:off x="914400" y="5897879"/>
            <a:ext cx="4937760" cy="320040"/>
          </a:xfrm>
          <a:prstGeom prst="rect">
            <a:avLst/>
          </a:prstGeom>
          <a:noFill/>
        </p:spPr>
        <p:txBody>
          <a:bodyPr wrap="square">
            <a:spAutoFit/>
          </a:bodyPr>
          <a:lstStyle/>
          <a:p>
            <a:pPr algn="l">
              <a:defRPr sz="1000" b="0">
                <a:solidFill>
                  <a:srgbClr val="B0BEC5"/>
                </a:solidFill>
                <a:latin typeface="Calibri"/>
              </a:defRPr>
            </a:pPr>
            <a:r>
              <a:t>HI↔EN, MR↔EN tested with medical phrases</a:t>
            </a:r>
          </a:p>
        </p:txBody>
      </p:sp>
      <p:sp>
        <p:nvSpPr>
          <p:cNvPr id="30" name="Rounded Rectangle 29"/>
          <p:cNvSpPr/>
          <p:nvPr/>
        </p:nvSpPr>
        <p:spPr>
          <a:xfrm>
            <a:off x="6309360" y="1828800"/>
            <a:ext cx="5577840" cy="65836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46520" y="2011680"/>
            <a:ext cx="228600" cy="228600"/>
          </a:xfrm>
          <a:prstGeom prst="ellipse">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60" y="1847088"/>
            <a:ext cx="2743200" cy="320040"/>
          </a:xfrm>
          <a:prstGeom prst="rect">
            <a:avLst/>
          </a:prstGeom>
          <a:noFill/>
        </p:spPr>
        <p:txBody>
          <a:bodyPr wrap="square">
            <a:spAutoFit/>
          </a:bodyPr>
          <a:lstStyle/>
          <a:p>
            <a:pPr algn="l">
              <a:defRPr sz="1200" b="1">
                <a:solidFill>
                  <a:srgbClr val="FFFFFF"/>
                </a:solidFill>
                <a:latin typeface="Calibri"/>
              </a:defRPr>
            </a:pPr>
            <a:r>
              <a:t>AQI Integration</a:t>
            </a:r>
          </a:p>
        </p:txBody>
      </p:sp>
      <p:sp>
        <p:nvSpPr>
          <p:cNvPr id="33" name="TextBox 32"/>
          <p:cNvSpPr txBox="1"/>
          <p:nvPr/>
        </p:nvSpPr>
        <p:spPr>
          <a:xfrm>
            <a:off x="6766560" y="2148840"/>
            <a:ext cx="4937760" cy="320040"/>
          </a:xfrm>
          <a:prstGeom prst="rect">
            <a:avLst/>
          </a:prstGeom>
          <a:noFill/>
        </p:spPr>
        <p:txBody>
          <a:bodyPr wrap="square">
            <a:spAutoFit/>
          </a:bodyPr>
          <a:lstStyle/>
          <a:p>
            <a:pPr algn="l">
              <a:defRPr sz="1000" b="0">
                <a:solidFill>
                  <a:srgbClr val="B0BEC5"/>
                </a:solidFill>
                <a:latin typeface="Calibri"/>
              </a:defRPr>
            </a:pPr>
            <a:r>
              <a:t>WAQI + Open-Meteo fetching live data</a:t>
            </a:r>
          </a:p>
        </p:txBody>
      </p:sp>
      <p:sp>
        <p:nvSpPr>
          <p:cNvPr id="34" name="Rounded Rectangle 33"/>
          <p:cNvSpPr/>
          <p:nvPr/>
        </p:nvSpPr>
        <p:spPr>
          <a:xfrm>
            <a:off x="6309360" y="2578608"/>
            <a:ext cx="5577840" cy="65836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446520" y="2761488"/>
            <a:ext cx="228600" cy="228600"/>
          </a:xfrm>
          <a:prstGeom prst="ellipse">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6560" y="2596896"/>
            <a:ext cx="2743200" cy="320040"/>
          </a:xfrm>
          <a:prstGeom prst="rect">
            <a:avLst/>
          </a:prstGeom>
          <a:noFill/>
        </p:spPr>
        <p:txBody>
          <a:bodyPr wrap="square">
            <a:spAutoFit/>
          </a:bodyPr>
          <a:lstStyle/>
          <a:p>
            <a:pPr algn="l">
              <a:defRPr sz="1200" b="1">
                <a:solidFill>
                  <a:srgbClr val="FFFFFF"/>
                </a:solidFill>
                <a:latin typeface="Calibri"/>
              </a:defRPr>
            </a:pPr>
            <a:r>
              <a:t>Flutter UI Shell</a:t>
            </a:r>
          </a:p>
        </p:txBody>
      </p:sp>
      <p:sp>
        <p:nvSpPr>
          <p:cNvPr id="37" name="TextBox 36"/>
          <p:cNvSpPr txBox="1"/>
          <p:nvPr/>
        </p:nvSpPr>
        <p:spPr>
          <a:xfrm>
            <a:off x="6766560" y="2898648"/>
            <a:ext cx="4937760" cy="320040"/>
          </a:xfrm>
          <a:prstGeom prst="rect">
            <a:avLst/>
          </a:prstGeom>
          <a:noFill/>
        </p:spPr>
        <p:txBody>
          <a:bodyPr wrap="square">
            <a:spAutoFit/>
          </a:bodyPr>
          <a:lstStyle/>
          <a:p>
            <a:pPr algn="l">
              <a:defRPr sz="1000" b="0">
                <a:solidFill>
                  <a:srgbClr val="B0BEC5"/>
                </a:solidFill>
                <a:latin typeface="Calibri"/>
              </a:defRPr>
            </a:pPr>
            <a:r>
              <a:t>5 screens: Home, Chat, Health, Profile, Settings</a:t>
            </a:r>
          </a:p>
        </p:txBody>
      </p:sp>
      <p:sp>
        <p:nvSpPr>
          <p:cNvPr id="38" name="Rounded Rectangle 37"/>
          <p:cNvSpPr/>
          <p:nvPr/>
        </p:nvSpPr>
        <p:spPr>
          <a:xfrm>
            <a:off x="6309360" y="3328415"/>
            <a:ext cx="5577840" cy="65836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446520" y="3511296"/>
            <a:ext cx="228600" cy="22860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66560" y="3346703"/>
            <a:ext cx="2743200" cy="320040"/>
          </a:xfrm>
          <a:prstGeom prst="rect">
            <a:avLst/>
          </a:prstGeom>
          <a:noFill/>
        </p:spPr>
        <p:txBody>
          <a:bodyPr wrap="square">
            <a:spAutoFit/>
          </a:bodyPr>
          <a:lstStyle/>
          <a:p>
            <a:pPr algn="l">
              <a:defRPr sz="1200" b="1">
                <a:solidFill>
                  <a:srgbClr val="FFFFFF"/>
                </a:solidFill>
                <a:latin typeface="Calibri"/>
              </a:defRPr>
            </a:pPr>
            <a:r>
              <a:t>Health Connect SDK</a:t>
            </a:r>
          </a:p>
        </p:txBody>
      </p:sp>
      <p:sp>
        <p:nvSpPr>
          <p:cNvPr id="41" name="TextBox 40"/>
          <p:cNvSpPr txBox="1"/>
          <p:nvPr/>
        </p:nvSpPr>
        <p:spPr>
          <a:xfrm>
            <a:off x="6766560" y="3648456"/>
            <a:ext cx="4937760" cy="320040"/>
          </a:xfrm>
          <a:prstGeom prst="rect">
            <a:avLst/>
          </a:prstGeom>
          <a:noFill/>
        </p:spPr>
        <p:txBody>
          <a:bodyPr wrap="square">
            <a:spAutoFit/>
          </a:bodyPr>
          <a:lstStyle/>
          <a:p>
            <a:pPr algn="l">
              <a:defRPr sz="1000" b="0">
                <a:solidFill>
                  <a:srgbClr val="B0BEC5"/>
                </a:solidFill>
                <a:latin typeface="Calibri"/>
              </a:defRPr>
            </a:pPr>
            <a:r>
              <a:t>Service built, 23 data types defined, permissions set</a:t>
            </a:r>
          </a:p>
        </p:txBody>
      </p:sp>
      <p:sp>
        <p:nvSpPr>
          <p:cNvPr id="42" name="Rounded Rectangle 41"/>
          <p:cNvSpPr/>
          <p:nvPr/>
        </p:nvSpPr>
        <p:spPr>
          <a:xfrm>
            <a:off x="6309360" y="4078224"/>
            <a:ext cx="5577840" cy="65836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446520" y="4261104"/>
            <a:ext cx="228600" cy="228600"/>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66560" y="4096511"/>
            <a:ext cx="2743200" cy="320040"/>
          </a:xfrm>
          <a:prstGeom prst="rect">
            <a:avLst/>
          </a:prstGeom>
          <a:noFill/>
        </p:spPr>
        <p:txBody>
          <a:bodyPr wrap="square">
            <a:spAutoFit/>
          </a:bodyPr>
          <a:lstStyle/>
          <a:p>
            <a:pPr algn="l">
              <a:defRPr sz="1200" b="1">
                <a:solidFill>
                  <a:srgbClr val="FFFFFF"/>
                </a:solidFill>
                <a:latin typeface="Calibri"/>
              </a:defRPr>
            </a:pPr>
            <a:r>
              <a:t>Contextual Memory</a:t>
            </a:r>
          </a:p>
        </p:txBody>
      </p:sp>
      <p:sp>
        <p:nvSpPr>
          <p:cNvPr id="45" name="TextBox 44"/>
          <p:cNvSpPr txBox="1"/>
          <p:nvPr/>
        </p:nvSpPr>
        <p:spPr>
          <a:xfrm>
            <a:off x="6766560" y="4398264"/>
            <a:ext cx="4937760" cy="320040"/>
          </a:xfrm>
          <a:prstGeom prst="rect">
            <a:avLst/>
          </a:prstGeom>
          <a:noFill/>
        </p:spPr>
        <p:txBody>
          <a:bodyPr wrap="square">
            <a:spAutoFit/>
          </a:bodyPr>
          <a:lstStyle/>
          <a:p>
            <a:pPr algn="l">
              <a:defRPr sz="1000" b="0">
                <a:solidFill>
                  <a:srgbClr val="B0BEC5"/>
                </a:solidFill>
                <a:latin typeface="Calibri"/>
              </a:defRPr>
            </a:pPr>
            <a:r>
              <a:t>Conversation history for multi-turn context</a:t>
            </a:r>
          </a:p>
        </p:txBody>
      </p:sp>
      <p:sp>
        <p:nvSpPr>
          <p:cNvPr id="46" name="Rounded Rectangle 45"/>
          <p:cNvSpPr/>
          <p:nvPr/>
        </p:nvSpPr>
        <p:spPr>
          <a:xfrm>
            <a:off x="6309360" y="4828031"/>
            <a:ext cx="5577840" cy="65836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446520" y="5010912"/>
            <a:ext cx="228600" cy="22860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766560" y="4846319"/>
            <a:ext cx="2743200" cy="320040"/>
          </a:xfrm>
          <a:prstGeom prst="rect">
            <a:avLst/>
          </a:prstGeom>
          <a:noFill/>
        </p:spPr>
        <p:txBody>
          <a:bodyPr wrap="square">
            <a:spAutoFit/>
          </a:bodyPr>
          <a:lstStyle/>
          <a:p>
            <a:pPr algn="l">
              <a:defRPr sz="1200" b="1">
                <a:solidFill>
                  <a:srgbClr val="FFFFFF"/>
                </a:solidFill>
                <a:latin typeface="Calibri"/>
              </a:defRPr>
            </a:pPr>
            <a:r>
              <a:t>RAGAS Evaluation</a:t>
            </a:r>
          </a:p>
        </p:txBody>
      </p:sp>
      <p:sp>
        <p:nvSpPr>
          <p:cNvPr id="49" name="TextBox 48"/>
          <p:cNvSpPr txBox="1"/>
          <p:nvPr/>
        </p:nvSpPr>
        <p:spPr>
          <a:xfrm>
            <a:off x="6766560" y="5148071"/>
            <a:ext cx="4937760" cy="320040"/>
          </a:xfrm>
          <a:prstGeom prst="rect">
            <a:avLst/>
          </a:prstGeom>
          <a:noFill/>
        </p:spPr>
        <p:txBody>
          <a:bodyPr wrap="square">
            <a:spAutoFit/>
          </a:bodyPr>
          <a:lstStyle/>
          <a:p>
            <a:pPr algn="l">
              <a:defRPr sz="1000" b="0">
                <a:solidFill>
                  <a:srgbClr val="B0BEC5"/>
                </a:solidFill>
                <a:latin typeface="Calibri"/>
              </a:defRPr>
            </a:pPr>
            <a:r>
              <a:t>50 gold QA pairs created, evaluation script ready</a:t>
            </a:r>
          </a:p>
        </p:txBody>
      </p:sp>
      <p:sp>
        <p:nvSpPr>
          <p:cNvPr id="50" name="Rounded Rectangle 49"/>
          <p:cNvSpPr/>
          <p:nvPr/>
        </p:nvSpPr>
        <p:spPr>
          <a:xfrm>
            <a:off x="6309360" y="5577840"/>
            <a:ext cx="5577840" cy="658368"/>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6446520" y="5760720"/>
            <a:ext cx="228600" cy="228600"/>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766560" y="5596127"/>
            <a:ext cx="2743200" cy="320040"/>
          </a:xfrm>
          <a:prstGeom prst="rect">
            <a:avLst/>
          </a:prstGeom>
          <a:noFill/>
        </p:spPr>
        <p:txBody>
          <a:bodyPr wrap="square">
            <a:spAutoFit/>
          </a:bodyPr>
          <a:lstStyle/>
          <a:p>
            <a:pPr algn="l">
              <a:defRPr sz="1200" b="1">
                <a:solidFill>
                  <a:srgbClr val="FFFFFF"/>
                </a:solidFill>
                <a:latin typeface="Calibri"/>
              </a:defRPr>
            </a:pPr>
            <a:r>
              <a:t>Qdrant Fallback</a:t>
            </a:r>
          </a:p>
        </p:txBody>
      </p:sp>
      <p:sp>
        <p:nvSpPr>
          <p:cNvPr id="53" name="TextBox 52"/>
          <p:cNvSpPr txBox="1"/>
          <p:nvPr/>
        </p:nvSpPr>
        <p:spPr>
          <a:xfrm>
            <a:off x="6766560" y="5897879"/>
            <a:ext cx="4937760" cy="320040"/>
          </a:xfrm>
          <a:prstGeom prst="rect">
            <a:avLst/>
          </a:prstGeom>
          <a:noFill/>
        </p:spPr>
        <p:txBody>
          <a:bodyPr wrap="square">
            <a:spAutoFit/>
          </a:bodyPr>
          <a:lstStyle/>
          <a:p>
            <a:pPr algn="l">
              <a:defRPr sz="1000" b="0">
                <a:solidFill>
                  <a:srgbClr val="B0BEC5"/>
                </a:solidFill>
                <a:latin typeface="Calibri"/>
              </a:defRPr>
            </a:pPr>
            <a:r>
              <a:t>BGE-M3 embeddings + vector search as fallback</a:t>
            </a:r>
          </a:p>
        </p:txBody>
      </p:sp>
      <p:sp>
        <p:nvSpPr>
          <p:cNvPr id="54" name="Rectangle 53"/>
          <p:cNvSpPr/>
          <p:nvPr/>
        </p:nvSpPr>
        <p:spPr>
          <a:xfrm>
            <a:off x="0" y="6492240"/>
            <a:ext cx="12191695" cy="36576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74320" y="6510528"/>
            <a:ext cx="5486400" cy="320040"/>
          </a:xfrm>
          <a:prstGeom prst="rect">
            <a:avLst/>
          </a:prstGeom>
          <a:noFill/>
        </p:spPr>
        <p:txBody>
          <a:bodyPr wrap="square">
            <a:spAutoFit/>
          </a:bodyPr>
          <a:lstStyle/>
          <a:p>
            <a:pPr algn="l">
              <a:defRPr sz="900" b="0">
                <a:solidFill>
                  <a:srgbClr val="B0BEC5"/>
                </a:solidFill>
                <a:latin typeface="Calibri"/>
              </a:defRPr>
            </a:pPr>
            <a:r>
              <a:t>MPSTME, SVKM's NMIMS Shirpur | Dept. of IT/AIML | 2026-27</a:t>
            </a:r>
          </a:p>
        </p:txBody>
      </p:sp>
      <p:sp>
        <p:nvSpPr>
          <p:cNvPr id="56" name="TextBox 55"/>
          <p:cNvSpPr txBox="1"/>
          <p:nvPr/>
        </p:nvSpPr>
        <p:spPr>
          <a:xfrm>
            <a:off x="11430000" y="6400800"/>
            <a:ext cx="731520" cy="365760"/>
          </a:xfrm>
          <a:prstGeom prst="rect">
            <a:avLst/>
          </a:prstGeom>
          <a:noFill/>
        </p:spPr>
        <p:txBody>
          <a:bodyPr wrap="square">
            <a:spAutoFit/>
          </a:bodyPr>
          <a:lstStyle/>
          <a:p>
            <a:pPr algn="r">
              <a:defRPr sz="1000" b="0">
                <a:solidFill>
                  <a:srgbClr val="B0BEC5"/>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3600" b="1">
                <a:solidFill>
                  <a:srgbClr val="FFFFFF"/>
                </a:solidFill>
                <a:latin typeface="Calibri"/>
              </a:defRPr>
            </a:pPr>
            <a:r>
              <a:t>Individual Contributions</a:t>
            </a:r>
          </a:p>
        </p:txBody>
      </p:sp>
      <p:sp>
        <p:nvSpPr>
          <p:cNvPr id="3" name="Rounded Rectangle 2"/>
          <p:cNvSpPr/>
          <p:nvPr/>
        </p:nvSpPr>
        <p:spPr>
          <a:xfrm>
            <a:off x="457200" y="1097280"/>
            <a:ext cx="3657600" cy="47548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3291840" cy="365760"/>
          </a:xfrm>
          <a:prstGeom prst="rect">
            <a:avLst/>
          </a:prstGeom>
          <a:noFill/>
        </p:spPr>
        <p:txBody>
          <a:bodyPr wrap="square">
            <a:spAutoFit/>
          </a:bodyPr>
          <a:lstStyle/>
          <a:p>
            <a:pPr algn="l">
              <a:defRPr sz="1800" b="1">
                <a:solidFill>
                  <a:srgbClr val="00B4D8"/>
                </a:solidFill>
                <a:latin typeface="Calibri"/>
              </a:defRPr>
            </a:pPr>
            <a:r>
              <a:t>Jayesh Patil (C233)</a:t>
            </a:r>
          </a:p>
        </p:txBody>
      </p:sp>
      <p:sp>
        <p:nvSpPr>
          <p:cNvPr id="5" name="TextBox 4"/>
          <p:cNvSpPr txBox="1"/>
          <p:nvPr/>
        </p:nvSpPr>
        <p:spPr>
          <a:xfrm>
            <a:off x="640080" y="1554480"/>
            <a:ext cx="3291840" cy="274320"/>
          </a:xfrm>
          <a:prstGeom prst="rect">
            <a:avLst/>
          </a:prstGeom>
          <a:noFill/>
        </p:spPr>
        <p:txBody>
          <a:bodyPr wrap="square">
            <a:spAutoFit/>
          </a:bodyPr>
          <a:lstStyle/>
          <a:p>
            <a:pPr algn="l">
              <a:defRPr sz="1300" b="0">
                <a:solidFill>
                  <a:srgbClr val="B0BEC5"/>
                </a:solidFill>
                <a:latin typeface="Calibri"/>
              </a:defRPr>
            </a:pPr>
            <a:r>
              <a:t>RAG &amp; LLM Pipeline Lead</a:t>
            </a:r>
          </a:p>
        </p:txBody>
      </p:sp>
      <p:sp>
        <p:nvSpPr>
          <p:cNvPr id="6" name="TextBox 5"/>
          <p:cNvSpPr txBox="1"/>
          <p:nvPr/>
        </p:nvSpPr>
        <p:spPr>
          <a:xfrm>
            <a:off x="640080" y="1920240"/>
            <a:ext cx="3291840" cy="3657600"/>
          </a:xfrm>
          <a:prstGeom prst="rect">
            <a:avLst/>
          </a:prstGeom>
          <a:noFill/>
        </p:spPr>
        <p:txBody>
          <a:bodyPr wrap="square">
            <a:spAutoFit/>
          </a:bodyPr>
          <a:lstStyle/>
          <a:p>
            <a:pPr>
              <a:spcAft>
                <a:spcPts val="600"/>
              </a:spcAft>
              <a:defRPr sz="1200">
                <a:solidFill>
                  <a:srgbClr val="FFFFFF"/>
                </a:solidFill>
                <a:latin typeface="Calibri"/>
              </a:defRPr>
            </a:pPr>
            <a:r>
              <a:t>• Built 45-file OKF knowledge bundle from ICMR PDFs with YAML frontmatter</a:t>
            </a:r>
          </a:p>
          <a:p>
            <a:pPr>
              <a:spcAft>
                <a:spcPts val="600"/>
              </a:spcAft>
              <a:defRPr sz="1200">
                <a:solidFill>
                  <a:srgbClr val="FFFFFF"/>
                </a:solidFill>
                <a:latin typeface="Calibri"/>
              </a:defRPr>
            </a:pPr>
            <a:r>
              <a:t>• Developed OKF Navigator agent (385 lines) with LLM-guided file traversal</a:t>
            </a:r>
          </a:p>
          <a:p>
            <a:pPr>
              <a:spcAft>
                <a:spcPts val="600"/>
              </a:spcAft>
              <a:defRPr sz="1200">
                <a:solidFill>
                  <a:srgbClr val="FFFFFF"/>
                </a:solidFill>
                <a:latin typeface="Calibri"/>
              </a:defRPr>
            </a:pPr>
            <a:r>
              <a:t>• Built complete CRAG pipeline in LangChain LCEL</a:t>
            </a:r>
          </a:p>
          <a:p>
            <a:pPr>
              <a:spcAft>
                <a:spcPts val="600"/>
              </a:spcAft>
              <a:defRPr sz="1200">
                <a:solidFill>
                  <a:srgbClr val="FFFFFF"/>
                </a:solidFill>
                <a:latin typeface="Calibri"/>
              </a:defRPr>
            </a:pPr>
            <a:r>
              <a:t>• Set up Ollama + Llama 3.1 8B inference</a:t>
            </a:r>
          </a:p>
          <a:p>
            <a:pPr>
              <a:spcAft>
                <a:spcPts val="600"/>
              </a:spcAft>
              <a:defRPr sz="1200">
                <a:solidFill>
                  <a:srgbClr val="FFFFFF"/>
                </a:solidFill>
                <a:latin typeface="Calibri"/>
              </a:defRPr>
            </a:pPr>
            <a:r>
              <a:t>• Created 50 gold-standard QA pairs for evaluation</a:t>
            </a:r>
          </a:p>
          <a:p>
            <a:pPr>
              <a:spcAft>
                <a:spcPts val="600"/>
              </a:spcAft>
              <a:defRPr sz="1200">
                <a:solidFill>
                  <a:srgbClr val="FFFFFF"/>
                </a:solidFill>
                <a:latin typeface="Calibri"/>
              </a:defRPr>
            </a:pPr>
            <a:r>
              <a:t>• Files: okf_navigator.py, pipeline.py, grader.py, context_builder.py, llm.py</a:t>
            </a:r>
          </a:p>
        </p:txBody>
      </p:sp>
      <p:sp>
        <p:nvSpPr>
          <p:cNvPr id="7" name="Rounded Rectangle 6"/>
          <p:cNvSpPr/>
          <p:nvPr/>
        </p:nvSpPr>
        <p:spPr>
          <a:xfrm>
            <a:off x="4389120" y="1097280"/>
            <a:ext cx="3657600" cy="47548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188720"/>
            <a:ext cx="3291840" cy="365760"/>
          </a:xfrm>
          <a:prstGeom prst="rect">
            <a:avLst/>
          </a:prstGeom>
          <a:noFill/>
        </p:spPr>
        <p:txBody>
          <a:bodyPr wrap="square">
            <a:spAutoFit/>
          </a:bodyPr>
          <a:lstStyle/>
          <a:p>
            <a:pPr algn="l">
              <a:defRPr sz="1800" b="1">
                <a:solidFill>
                  <a:srgbClr val="F39C12"/>
                </a:solidFill>
                <a:latin typeface="Calibri"/>
              </a:defRPr>
            </a:pPr>
            <a:r>
              <a:t>Abhijit Patil (C263)</a:t>
            </a:r>
          </a:p>
        </p:txBody>
      </p:sp>
      <p:sp>
        <p:nvSpPr>
          <p:cNvPr id="9" name="TextBox 8"/>
          <p:cNvSpPr txBox="1"/>
          <p:nvPr/>
        </p:nvSpPr>
        <p:spPr>
          <a:xfrm>
            <a:off x="4572000" y="1554480"/>
            <a:ext cx="3291840" cy="274320"/>
          </a:xfrm>
          <a:prstGeom prst="rect">
            <a:avLst/>
          </a:prstGeom>
          <a:noFill/>
        </p:spPr>
        <p:txBody>
          <a:bodyPr wrap="square">
            <a:spAutoFit/>
          </a:bodyPr>
          <a:lstStyle/>
          <a:p>
            <a:pPr algn="l">
              <a:defRPr sz="1300" b="0">
                <a:solidFill>
                  <a:srgbClr val="B0BEC5"/>
                </a:solidFill>
                <a:latin typeface="Calibri"/>
              </a:defRPr>
            </a:pPr>
            <a:r>
              <a:t>Backend &amp; Integration</a:t>
            </a:r>
          </a:p>
        </p:txBody>
      </p:sp>
      <p:sp>
        <p:nvSpPr>
          <p:cNvPr id="10" name="TextBox 9"/>
          <p:cNvSpPr txBox="1"/>
          <p:nvPr/>
        </p:nvSpPr>
        <p:spPr>
          <a:xfrm>
            <a:off x="4572000" y="1920240"/>
            <a:ext cx="3291840" cy="3657600"/>
          </a:xfrm>
          <a:prstGeom prst="rect">
            <a:avLst/>
          </a:prstGeom>
          <a:noFill/>
        </p:spPr>
        <p:txBody>
          <a:bodyPr wrap="square">
            <a:spAutoFit/>
          </a:bodyPr>
          <a:lstStyle/>
          <a:p>
            <a:pPr>
              <a:spcAft>
                <a:spcPts val="600"/>
              </a:spcAft>
              <a:defRPr sz="1200">
                <a:solidFill>
                  <a:srgbClr val="FFFFFF"/>
                </a:solidFill>
                <a:latin typeface="Calibri"/>
              </a:defRPr>
            </a:pPr>
            <a:r>
              <a:t>• Built FastAPI server with SSE streaming for real-time chat</a:t>
            </a:r>
          </a:p>
          <a:p>
            <a:pPr>
              <a:spcAft>
                <a:spcPts val="600"/>
              </a:spcAft>
              <a:defRPr sz="1200">
                <a:solidFill>
                  <a:srgbClr val="FFFFFF"/>
                </a:solidFill>
                <a:latin typeface="Calibri"/>
              </a:defRPr>
            </a:pPr>
            <a:r>
              <a:t>• Integrated Bhashini API for HI↔EN and MR↔EN translation</a:t>
            </a:r>
          </a:p>
          <a:p>
            <a:pPr>
              <a:spcAft>
                <a:spcPts val="600"/>
              </a:spcAft>
              <a:defRPr sz="1200">
                <a:solidFill>
                  <a:srgbClr val="FFFFFF"/>
                </a:solidFill>
                <a:latin typeface="Calibri"/>
              </a:defRPr>
            </a:pPr>
            <a:r>
              <a:t>• Implemented Semantic Router with 45+ safety utterances</a:t>
            </a:r>
          </a:p>
          <a:p>
            <a:pPr>
              <a:spcAft>
                <a:spcPts val="600"/>
              </a:spcAft>
              <a:defRPr sz="1200">
                <a:solidFill>
                  <a:srgbClr val="FFFFFF"/>
                </a:solidFill>
                <a:latin typeface="Calibri"/>
              </a:defRPr>
            </a:pPr>
            <a:r>
              <a:t>• Built WAQI + Open-Meteo wrappers for live AQI data</a:t>
            </a:r>
          </a:p>
          <a:p>
            <a:pPr>
              <a:spcAft>
                <a:spcPts val="600"/>
              </a:spcAft>
              <a:defRPr sz="1200">
                <a:solidFill>
                  <a:srgbClr val="FFFFFF"/>
                </a:solidFill>
                <a:latin typeface="Calibri"/>
              </a:defRPr>
            </a:pPr>
            <a:r>
              <a:t>• Designed XML context template with wearable data support</a:t>
            </a:r>
          </a:p>
          <a:p>
            <a:pPr>
              <a:spcAft>
                <a:spcPts val="600"/>
              </a:spcAft>
              <a:defRPr sz="1200">
                <a:solidFill>
                  <a:srgbClr val="FFFFFF"/>
                </a:solidFill>
                <a:latin typeface="Calibri"/>
              </a:defRPr>
            </a:pPr>
            <a:r>
              <a:t>• Files: routes.py, bhashini.py, router.py, aqi.py, weather.py</a:t>
            </a:r>
          </a:p>
        </p:txBody>
      </p:sp>
      <p:sp>
        <p:nvSpPr>
          <p:cNvPr id="11" name="Rounded Rectangle 10"/>
          <p:cNvSpPr/>
          <p:nvPr/>
        </p:nvSpPr>
        <p:spPr>
          <a:xfrm>
            <a:off x="8321040" y="1097280"/>
            <a:ext cx="3657600" cy="475488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0" y="1188720"/>
            <a:ext cx="3291840" cy="365760"/>
          </a:xfrm>
          <a:prstGeom prst="rect">
            <a:avLst/>
          </a:prstGeom>
          <a:noFill/>
        </p:spPr>
        <p:txBody>
          <a:bodyPr wrap="square">
            <a:spAutoFit/>
          </a:bodyPr>
          <a:lstStyle/>
          <a:p>
            <a:pPr algn="l">
              <a:defRPr sz="1800" b="1">
                <a:solidFill>
                  <a:srgbClr val="2ECC71"/>
                </a:solidFill>
                <a:latin typeface="Calibri"/>
              </a:defRPr>
            </a:pPr>
            <a:r>
              <a:t>Ritesh Pawar (C276)</a:t>
            </a:r>
          </a:p>
        </p:txBody>
      </p:sp>
      <p:sp>
        <p:nvSpPr>
          <p:cNvPr id="13" name="TextBox 12"/>
          <p:cNvSpPr txBox="1"/>
          <p:nvPr/>
        </p:nvSpPr>
        <p:spPr>
          <a:xfrm>
            <a:off x="8503920" y="1554480"/>
            <a:ext cx="3291840" cy="274320"/>
          </a:xfrm>
          <a:prstGeom prst="rect">
            <a:avLst/>
          </a:prstGeom>
          <a:noFill/>
        </p:spPr>
        <p:txBody>
          <a:bodyPr wrap="square">
            <a:spAutoFit/>
          </a:bodyPr>
          <a:lstStyle/>
          <a:p>
            <a:pPr algn="l">
              <a:defRPr sz="1300" b="0">
                <a:solidFill>
                  <a:srgbClr val="B0BEC5"/>
                </a:solidFill>
                <a:latin typeface="Calibri"/>
              </a:defRPr>
            </a:pPr>
            <a:r>
              <a:t>Frontend &amp; Mobile</a:t>
            </a:r>
          </a:p>
        </p:txBody>
      </p:sp>
      <p:sp>
        <p:nvSpPr>
          <p:cNvPr id="14" name="TextBox 13"/>
          <p:cNvSpPr txBox="1"/>
          <p:nvPr/>
        </p:nvSpPr>
        <p:spPr>
          <a:xfrm>
            <a:off x="8503920" y="1920240"/>
            <a:ext cx="3291840" cy="3657600"/>
          </a:xfrm>
          <a:prstGeom prst="rect">
            <a:avLst/>
          </a:prstGeom>
          <a:noFill/>
        </p:spPr>
        <p:txBody>
          <a:bodyPr wrap="square">
            <a:spAutoFit/>
          </a:bodyPr>
          <a:lstStyle/>
          <a:p>
            <a:pPr>
              <a:spcAft>
                <a:spcPts val="600"/>
              </a:spcAft>
              <a:defRPr sz="1200">
                <a:solidFill>
                  <a:srgbClr val="FFFFFF"/>
                </a:solidFill>
                <a:latin typeface="Calibri"/>
              </a:defRPr>
            </a:pPr>
            <a:r>
              <a:t>• Built Flutter app with 5 screens and custom widgets</a:t>
            </a:r>
          </a:p>
          <a:p>
            <a:pPr>
              <a:spcAft>
                <a:spcPts val="600"/>
              </a:spcAft>
              <a:defRPr sz="1200">
                <a:solidFill>
                  <a:srgbClr val="FFFFFF"/>
                </a:solidFill>
                <a:latin typeface="Calibri"/>
              </a:defRPr>
            </a:pPr>
            <a:r>
              <a:t>• Implemented SSE streaming chat with real-time token display</a:t>
            </a:r>
          </a:p>
          <a:p>
            <a:pPr>
              <a:spcAft>
                <a:spcPts val="600"/>
              </a:spcAft>
              <a:defRPr sz="1200">
                <a:solidFill>
                  <a:srgbClr val="FFFFFF"/>
                </a:solidFill>
                <a:latin typeface="Calibri"/>
              </a:defRPr>
            </a:pPr>
            <a:r>
              <a:t>• Built Health Connect service for 23+ wearable metrics</a:t>
            </a:r>
          </a:p>
          <a:p>
            <a:pPr>
              <a:spcAft>
                <a:spcPts val="600"/>
              </a:spcAft>
              <a:defRPr sz="1200">
                <a:solidFill>
                  <a:srgbClr val="FFFFFF"/>
                </a:solidFill>
                <a:latin typeface="Calibri"/>
              </a:defRPr>
            </a:pPr>
            <a:r>
              <a:t>• Created animated health dashboard with metric cards</a:t>
            </a:r>
          </a:p>
          <a:p>
            <a:pPr>
              <a:spcAft>
                <a:spcPts val="600"/>
              </a:spcAft>
              <a:defRPr sz="1200">
                <a:solidFill>
                  <a:srgbClr val="FFFFFF"/>
                </a:solidFill>
                <a:latin typeface="Calibri"/>
              </a:defRPr>
            </a:pPr>
            <a:r>
              <a:t>• Integrated GPS-based location for AQI queries</a:t>
            </a:r>
          </a:p>
          <a:p>
            <a:pPr>
              <a:spcAft>
                <a:spcPts val="600"/>
              </a:spcAft>
              <a:defRPr sz="1200">
                <a:solidFill>
                  <a:srgbClr val="FFFFFF"/>
                </a:solidFill>
                <a:latin typeface="Calibri"/>
              </a:defRPr>
            </a:pPr>
            <a:r>
              <a:t>• Files: chat_screen.dart, health_connect_service.dart, api_service.dart</a:t>
            </a:r>
          </a:p>
        </p:txBody>
      </p:sp>
      <p:sp>
        <p:nvSpPr>
          <p:cNvPr id="15" name="Rectangle 14"/>
          <p:cNvSpPr/>
          <p:nvPr/>
        </p:nvSpPr>
        <p:spPr>
          <a:xfrm>
            <a:off x="0" y="6492240"/>
            <a:ext cx="12191695" cy="36576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10528"/>
            <a:ext cx="5486400" cy="320040"/>
          </a:xfrm>
          <a:prstGeom prst="rect">
            <a:avLst/>
          </a:prstGeom>
          <a:noFill/>
        </p:spPr>
        <p:txBody>
          <a:bodyPr wrap="square">
            <a:spAutoFit/>
          </a:bodyPr>
          <a:lstStyle/>
          <a:p>
            <a:pPr algn="l">
              <a:defRPr sz="900" b="0">
                <a:solidFill>
                  <a:srgbClr val="B0BEC5"/>
                </a:solidFill>
                <a:latin typeface="Calibri"/>
              </a:defRPr>
            </a:pPr>
            <a:r>
              <a:t>MPSTME, SVKM's NMIMS Shirpur | Dept. of IT/AIML | 2026-27</a:t>
            </a:r>
          </a:p>
        </p:txBody>
      </p:sp>
      <p:sp>
        <p:nvSpPr>
          <p:cNvPr id="17" name="TextBox 16"/>
          <p:cNvSpPr txBox="1"/>
          <p:nvPr/>
        </p:nvSpPr>
        <p:spPr>
          <a:xfrm>
            <a:off x="11430000" y="6400800"/>
            <a:ext cx="731520" cy="365760"/>
          </a:xfrm>
          <a:prstGeom prst="rect">
            <a:avLst/>
          </a:prstGeom>
          <a:noFill/>
        </p:spPr>
        <p:txBody>
          <a:bodyPr wrap="square">
            <a:spAutoFit/>
          </a:bodyPr>
          <a:lstStyle/>
          <a:p>
            <a:pPr algn="r">
              <a:defRPr sz="1000" b="0">
                <a:solidFill>
                  <a:srgbClr val="B0BEC5"/>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3600" b="1">
                <a:solidFill>
                  <a:srgbClr val="FFFFFF"/>
                </a:solidFill>
                <a:latin typeface="Calibri"/>
              </a:defRPr>
            </a:pPr>
            <a:r>
              <a:t>Interim Results</a:t>
            </a:r>
          </a:p>
        </p:txBody>
      </p:sp>
      <p:sp>
        <p:nvSpPr>
          <p:cNvPr id="3" name="Rounded Rectangle 2"/>
          <p:cNvSpPr/>
          <p:nvPr/>
        </p:nvSpPr>
        <p:spPr>
          <a:xfrm>
            <a:off x="457200" y="1097280"/>
            <a:ext cx="5486400" cy="25603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5120640" cy="365760"/>
          </a:xfrm>
          <a:prstGeom prst="rect">
            <a:avLst/>
          </a:prstGeom>
          <a:noFill/>
        </p:spPr>
        <p:txBody>
          <a:bodyPr wrap="square">
            <a:spAutoFit/>
          </a:bodyPr>
          <a:lstStyle/>
          <a:p>
            <a:pPr algn="l">
              <a:defRPr sz="1600" b="1">
                <a:solidFill>
                  <a:srgbClr val="00B4D8"/>
                </a:solidFill>
                <a:latin typeface="Calibri"/>
              </a:defRPr>
            </a:pPr>
            <a:r>
              <a:t>OKF Navigator — Retrieval Accuracy</a:t>
            </a:r>
          </a:p>
        </p:txBody>
      </p:sp>
      <p:sp>
        <p:nvSpPr>
          <p:cNvPr id="5" name="TextBox 4"/>
          <p:cNvSpPr txBox="1"/>
          <p:nvPr/>
        </p:nvSpPr>
        <p:spPr>
          <a:xfrm>
            <a:off x="640080" y="1645920"/>
            <a:ext cx="5120640" cy="1828800"/>
          </a:xfrm>
          <a:prstGeom prst="rect">
            <a:avLst/>
          </a:prstGeom>
          <a:noFill/>
        </p:spPr>
        <p:txBody>
          <a:bodyPr wrap="square">
            <a:spAutoFit/>
          </a:bodyPr>
          <a:lstStyle/>
          <a:p>
            <a:pPr>
              <a:spcAft>
                <a:spcPts val="600"/>
              </a:spcAft>
              <a:defRPr sz="1300">
                <a:solidFill>
                  <a:srgbClr val="FFFFFF"/>
                </a:solidFill>
                <a:latin typeface="Calibri"/>
              </a:defRPr>
            </a:pPr>
            <a:r>
              <a:t>45 concept files across 5 categories</a:t>
            </a:r>
          </a:p>
          <a:p>
            <a:pPr>
              <a:spcAft>
                <a:spcPts val="600"/>
              </a:spcAft>
              <a:defRPr sz="1300">
                <a:solidFill>
                  <a:srgbClr val="FFFFFF"/>
                </a:solidFill>
                <a:latin typeface="Calibri"/>
              </a:defRPr>
            </a:pPr>
            <a:r>
              <a:t>12 conditions, 7 drugs, 7 lifestyle, 5 env, 7 emergency</a:t>
            </a:r>
          </a:p>
          <a:p>
            <a:pPr>
              <a:spcAft>
                <a:spcPts val="600"/>
              </a:spcAft>
              <a:defRPr sz="1300">
                <a:solidFill>
                  <a:srgbClr val="FFFFFF"/>
                </a:solidFill>
                <a:latin typeface="Calibri"/>
              </a:defRPr>
            </a:pPr>
            <a:r>
              <a:t>Cross-linked with 150+ markdown hyperlinks</a:t>
            </a:r>
          </a:p>
          <a:p>
            <a:pPr>
              <a:spcAft>
                <a:spcPts val="600"/>
              </a:spcAft>
              <a:defRPr sz="1300">
                <a:solidFill>
                  <a:srgbClr val="FFFFFF"/>
                </a:solidFill>
                <a:latin typeface="Calibri"/>
              </a:defRPr>
            </a:pPr>
            <a:r>
              <a:t>Navigator retrieves correct files for test queries</a:t>
            </a:r>
          </a:p>
          <a:p>
            <a:pPr>
              <a:spcAft>
                <a:spcPts val="600"/>
              </a:spcAft>
              <a:defRPr sz="1300">
                <a:solidFill>
                  <a:srgbClr val="FFFFFF"/>
                </a:solidFill>
                <a:latin typeface="Calibri"/>
              </a:defRPr>
            </a:pPr>
            <a:r>
              <a:t>Deterministic: same query always returns same files</a:t>
            </a:r>
          </a:p>
        </p:txBody>
      </p:sp>
      <p:sp>
        <p:nvSpPr>
          <p:cNvPr id="6" name="Rounded Rectangle 5"/>
          <p:cNvSpPr/>
          <p:nvPr/>
        </p:nvSpPr>
        <p:spPr>
          <a:xfrm>
            <a:off x="6217920" y="1097280"/>
            <a:ext cx="5486400" cy="256032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188720"/>
            <a:ext cx="5120640" cy="365760"/>
          </a:xfrm>
          <a:prstGeom prst="rect">
            <a:avLst/>
          </a:prstGeom>
          <a:noFill/>
        </p:spPr>
        <p:txBody>
          <a:bodyPr wrap="square">
            <a:spAutoFit/>
          </a:bodyPr>
          <a:lstStyle/>
          <a:p>
            <a:pPr algn="l">
              <a:defRPr sz="1600" b="1">
                <a:solidFill>
                  <a:srgbClr val="E74C3C"/>
                </a:solidFill>
                <a:latin typeface="Calibri"/>
              </a:defRPr>
            </a:pPr>
            <a:r>
              <a:t>Safety Router — Classification Results</a:t>
            </a:r>
          </a:p>
        </p:txBody>
      </p:sp>
      <p:sp>
        <p:nvSpPr>
          <p:cNvPr id="8" name="TextBox 7"/>
          <p:cNvSpPr txBox="1"/>
          <p:nvPr/>
        </p:nvSpPr>
        <p:spPr>
          <a:xfrm>
            <a:off x="6400800" y="1645920"/>
            <a:ext cx="5120640" cy="1828800"/>
          </a:xfrm>
          <a:prstGeom prst="rect">
            <a:avLst/>
          </a:prstGeom>
          <a:noFill/>
        </p:spPr>
        <p:txBody>
          <a:bodyPr wrap="square">
            <a:spAutoFit/>
          </a:bodyPr>
          <a:lstStyle/>
          <a:p>
            <a:pPr>
              <a:spcAft>
                <a:spcPts val="600"/>
              </a:spcAft>
              <a:defRPr sz="1300">
                <a:solidFill>
                  <a:srgbClr val="FFFFFF"/>
                </a:solidFill>
                <a:latin typeface="Calibri"/>
              </a:defRPr>
            </a:pPr>
            <a:r>
              <a:t>45+ utterances across 3 safety routes</a:t>
            </a:r>
          </a:p>
          <a:p>
            <a:pPr>
              <a:spcAft>
                <a:spcPts val="600"/>
              </a:spcAft>
              <a:defRPr sz="1300">
                <a:solidFill>
                  <a:srgbClr val="FFFFFF"/>
                </a:solidFill>
                <a:latin typeface="Calibri"/>
              </a:defRPr>
            </a:pPr>
            <a:r>
              <a:t>Emergency route: triggers 112 + CPR advice</a:t>
            </a:r>
          </a:p>
          <a:p>
            <a:pPr>
              <a:spcAft>
                <a:spcPts val="600"/>
              </a:spcAft>
              <a:defRPr sz="1300">
                <a:solidFill>
                  <a:srgbClr val="FFFFFF"/>
                </a:solidFill>
                <a:latin typeface="Calibri"/>
              </a:defRPr>
            </a:pPr>
            <a:r>
              <a:t>Prescription route: blocks drug requests</a:t>
            </a:r>
          </a:p>
          <a:p>
            <a:pPr>
              <a:spcAft>
                <a:spcPts val="600"/>
              </a:spcAft>
              <a:defRPr sz="1300">
                <a:solidFill>
                  <a:srgbClr val="FFFFFF"/>
                </a:solidFill>
                <a:latin typeface="Calibri"/>
              </a:defRPr>
            </a:pPr>
            <a:r>
              <a:t>Non-medical route: redirects off-topic queries</a:t>
            </a:r>
          </a:p>
          <a:p>
            <a:pPr>
              <a:spcAft>
                <a:spcPts val="600"/>
              </a:spcAft>
              <a:defRPr sz="1300">
                <a:solidFill>
                  <a:srgbClr val="FFFFFF"/>
                </a:solidFill>
                <a:latin typeface="Calibri"/>
              </a:defRPr>
            </a:pPr>
            <a:r>
              <a:t>Classification latency: &lt; 100ms per query</a:t>
            </a:r>
          </a:p>
        </p:txBody>
      </p:sp>
      <p:sp>
        <p:nvSpPr>
          <p:cNvPr id="9" name="Rounded Rectangle 8"/>
          <p:cNvSpPr/>
          <p:nvPr/>
        </p:nvSpPr>
        <p:spPr>
          <a:xfrm>
            <a:off x="457200" y="3931920"/>
            <a:ext cx="5486400" cy="21945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023360"/>
            <a:ext cx="5120640" cy="365760"/>
          </a:xfrm>
          <a:prstGeom prst="rect">
            <a:avLst/>
          </a:prstGeom>
          <a:noFill/>
        </p:spPr>
        <p:txBody>
          <a:bodyPr wrap="square">
            <a:spAutoFit/>
          </a:bodyPr>
          <a:lstStyle/>
          <a:p>
            <a:pPr algn="l">
              <a:defRPr sz="1600" b="1">
                <a:solidFill>
                  <a:srgbClr val="2ECC71"/>
                </a:solidFill>
                <a:latin typeface="Calibri"/>
              </a:defRPr>
            </a:pPr>
            <a:r>
              <a:t>End-to-End Pipeline — Working Demo</a:t>
            </a:r>
          </a:p>
        </p:txBody>
      </p:sp>
      <p:sp>
        <p:nvSpPr>
          <p:cNvPr id="11" name="TextBox 10"/>
          <p:cNvSpPr txBox="1"/>
          <p:nvPr/>
        </p:nvSpPr>
        <p:spPr>
          <a:xfrm>
            <a:off x="640080" y="4480560"/>
            <a:ext cx="5120640" cy="1463040"/>
          </a:xfrm>
          <a:prstGeom prst="rect">
            <a:avLst/>
          </a:prstGeom>
          <a:noFill/>
        </p:spPr>
        <p:txBody>
          <a:bodyPr wrap="square">
            <a:spAutoFit/>
          </a:bodyPr>
          <a:lstStyle/>
          <a:p>
            <a:pPr>
              <a:spcAft>
                <a:spcPts val="600"/>
              </a:spcAft>
              <a:defRPr sz="1300">
                <a:solidFill>
                  <a:srgbClr val="FFFFFF"/>
                </a:solidFill>
                <a:latin typeface="Calibri"/>
              </a:defRPr>
            </a:pPr>
            <a:r>
              <a:t>Query → Safety → Translate → OKF → Grade → LLM → Stream</a:t>
            </a:r>
          </a:p>
          <a:p>
            <a:pPr>
              <a:spcAft>
                <a:spcPts val="600"/>
              </a:spcAft>
              <a:defRPr sz="1300">
                <a:solidFill>
                  <a:srgbClr val="FFFFFF"/>
                </a:solidFill>
                <a:latin typeface="Calibri"/>
              </a:defRPr>
            </a:pPr>
            <a:r>
              <a:t>Full pipeline operational with SSE streaming</a:t>
            </a:r>
          </a:p>
          <a:p>
            <a:pPr>
              <a:spcAft>
                <a:spcPts val="600"/>
              </a:spcAft>
              <a:defRPr sz="1300">
                <a:solidFill>
                  <a:srgbClr val="FFFFFF"/>
                </a:solidFill>
                <a:latin typeface="Calibri"/>
              </a:defRPr>
            </a:pPr>
            <a:r>
              <a:t>Responses cite ICMR source documents</a:t>
            </a:r>
          </a:p>
          <a:p>
            <a:pPr>
              <a:spcAft>
                <a:spcPts val="600"/>
              </a:spcAft>
              <a:defRPr sz="1300">
                <a:solidFill>
                  <a:srgbClr val="FFFFFF"/>
                </a:solidFill>
                <a:latin typeface="Calibri"/>
              </a:defRPr>
            </a:pPr>
            <a:r>
              <a:t>Disclaimer appended to every response</a:t>
            </a:r>
          </a:p>
        </p:txBody>
      </p:sp>
      <p:sp>
        <p:nvSpPr>
          <p:cNvPr id="12" name="Rounded Rectangle 11"/>
          <p:cNvSpPr/>
          <p:nvPr/>
        </p:nvSpPr>
        <p:spPr>
          <a:xfrm>
            <a:off x="6217920" y="3931920"/>
            <a:ext cx="5486400" cy="2194560"/>
          </a:xfrm>
          <a:prstGeom prst="roundRect">
            <a:avLst/>
          </a:prstGeom>
          <a:solidFill>
            <a:srgbClr val="1A25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023360"/>
            <a:ext cx="5120640" cy="365760"/>
          </a:xfrm>
          <a:prstGeom prst="rect">
            <a:avLst/>
          </a:prstGeom>
          <a:noFill/>
        </p:spPr>
        <p:txBody>
          <a:bodyPr wrap="square">
            <a:spAutoFit/>
          </a:bodyPr>
          <a:lstStyle/>
          <a:p>
            <a:pPr algn="l">
              <a:defRPr sz="1600" b="1">
                <a:solidFill>
                  <a:srgbClr val="F39C12"/>
                </a:solidFill>
                <a:latin typeface="Calibri"/>
              </a:defRPr>
            </a:pPr>
            <a:r>
              <a:t>Remaining Work for Final Review</a:t>
            </a:r>
          </a:p>
        </p:txBody>
      </p:sp>
      <p:sp>
        <p:nvSpPr>
          <p:cNvPr id="14" name="TextBox 13"/>
          <p:cNvSpPr txBox="1"/>
          <p:nvPr/>
        </p:nvSpPr>
        <p:spPr>
          <a:xfrm>
            <a:off x="6400800" y="4480560"/>
            <a:ext cx="5120640" cy="1463040"/>
          </a:xfrm>
          <a:prstGeom prst="rect">
            <a:avLst/>
          </a:prstGeom>
          <a:noFill/>
        </p:spPr>
        <p:txBody>
          <a:bodyPr wrap="square">
            <a:spAutoFit/>
          </a:bodyPr>
          <a:lstStyle/>
          <a:p>
            <a:pPr>
              <a:spcAft>
                <a:spcPts val="600"/>
              </a:spcAft>
              <a:defRPr sz="1300">
                <a:solidFill>
                  <a:srgbClr val="FFFFFF"/>
                </a:solidFill>
                <a:latin typeface="Calibri"/>
              </a:defRPr>
            </a:pPr>
            <a:r>
              <a:t>Contextual memory for multi-turn conversations</a:t>
            </a:r>
          </a:p>
          <a:p>
            <a:pPr>
              <a:spcAft>
                <a:spcPts val="600"/>
              </a:spcAft>
              <a:defRPr sz="1300">
                <a:solidFill>
                  <a:srgbClr val="FFFFFF"/>
                </a:solidFill>
                <a:latin typeface="Calibri"/>
              </a:defRPr>
            </a:pPr>
            <a:r>
              <a:t>Qdrant fallback with BGE-M3 embeddings</a:t>
            </a:r>
          </a:p>
          <a:p>
            <a:pPr>
              <a:spcAft>
                <a:spcPts val="600"/>
              </a:spcAft>
              <a:defRPr sz="1300">
                <a:solidFill>
                  <a:srgbClr val="FFFFFF"/>
                </a:solidFill>
                <a:latin typeface="Calibri"/>
              </a:defRPr>
            </a:pPr>
            <a:r>
              <a:t>Complete RAGAS evaluation (100 QA pairs)</a:t>
            </a:r>
          </a:p>
          <a:p>
            <a:pPr>
              <a:spcAft>
                <a:spcPts val="600"/>
              </a:spcAft>
              <a:defRPr sz="1300">
                <a:solidFill>
                  <a:srgbClr val="FFFFFF"/>
                </a:solidFill>
                <a:latin typeface="Calibri"/>
              </a:defRPr>
            </a:pPr>
            <a:r>
              <a:t>Health Connect full integration + testing</a:t>
            </a:r>
          </a:p>
        </p:txBody>
      </p:sp>
      <p:sp>
        <p:nvSpPr>
          <p:cNvPr id="15" name="Rectangle 14"/>
          <p:cNvSpPr/>
          <p:nvPr/>
        </p:nvSpPr>
        <p:spPr>
          <a:xfrm>
            <a:off x="0" y="6492240"/>
            <a:ext cx="12191695" cy="36576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510528"/>
            <a:ext cx="5486400" cy="320040"/>
          </a:xfrm>
          <a:prstGeom prst="rect">
            <a:avLst/>
          </a:prstGeom>
          <a:noFill/>
        </p:spPr>
        <p:txBody>
          <a:bodyPr wrap="square">
            <a:spAutoFit/>
          </a:bodyPr>
          <a:lstStyle/>
          <a:p>
            <a:pPr algn="l">
              <a:defRPr sz="900" b="0">
                <a:solidFill>
                  <a:srgbClr val="B0BEC5"/>
                </a:solidFill>
                <a:latin typeface="Calibri"/>
              </a:defRPr>
            </a:pPr>
            <a:r>
              <a:t>MPSTME, SVKM's NMIMS Shirpur | Dept. of IT/AIML | 2026-27</a:t>
            </a:r>
          </a:p>
        </p:txBody>
      </p:sp>
      <p:sp>
        <p:nvSpPr>
          <p:cNvPr id="17" name="TextBox 16"/>
          <p:cNvSpPr txBox="1"/>
          <p:nvPr/>
        </p:nvSpPr>
        <p:spPr>
          <a:xfrm>
            <a:off x="11430000" y="6400800"/>
            <a:ext cx="731520" cy="365760"/>
          </a:xfrm>
          <a:prstGeom prst="rect">
            <a:avLst/>
          </a:prstGeom>
          <a:noFill/>
        </p:spPr>
        <p:txBody>
          <a:bodyPr wrap="square">
            <a:spAutoFit/>
          </a:bodyPr>
          <a:lstStyle/>
          <a:p>
            <a:pPr algn="r">
              <a:defRPr sz="1000" b="0">
                <a:solidFill>
                  <a:srgbClr val="B0BEC5"/>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3600" b="1">
                <a:solidFill>
                  <a:srgbClr val="FFFFFF"/>
                </a:solidFill>
                <a:latin typeface="Calibri"/>
              </a:defRPr>
            </a:pPr>
            <a:r>
              <a:t>Future Work &amp; Extensions</a:t>
            </a:r>
          </a:p>
        </p:txBody>
      </p:sp>
      <p:sp>
        <p:nvSpPr>
          <p:cNvPr id="3" name="TextBox 2"/>
          <p:cNvSpPr txBox="1"/>
          <p:nvPr/>
        </p:nvSpPr>
        <p:spPr>
          <a:xfrm>
            <a:off x="457200" y="1097280"/>
            <a:ext cx="10972800" cy="365760"/>
          </a:xfrm>
          <a:prstGeom prst="rect">
            <a:avLst/>
          </a:prstGeom>
          <a:noFill/>
        </p:spPr>
        <p:txBody>
          <a:bodyPr wrap="square">
            <a:spAutoFit/>
          </a:bodyPr>
          <a:lstStyle/>
          <a:p>
            <a:pPr algn="l">
              <a:defRPr sz="2000" b="1">
                <a:solidFill>
                  <a:srgbClr val="00B4D8"/>
                </a:solidFill>
                <a:latin typeface="Calibri"/>
              </a:defRPr>
            </a:pPr>
            <a:r>
              <a:t>Before Final Review (Review-III)</a:t>
            </a:r>
          </a:p>
        </p:txBody>
      </p:sp>
      <p:sp>
        <p:nvSpPr>
          <p:cNvPr id="4" name="TextBox 3"/>
          <p:cNvSpPr txBox="1"/>
          <p:nvPr/>
        </p:nvSpPr>
        <p:spPr>
          <a:xfrm>
            <a:off x="457200" y="1554480"/>
            <a:ext cx="10972800" cy="2286000"/>
          </a:xfrm>
          <a:prstGeom prst="rect">
            <a:avLst/>
          </a:prstGeom>
          <a:noFill/>
        </p:spPr>
        <p:txBody>
          <a:bodyPr wrap="square">
            <a:spAutoFit/>
          </a:bodyPr>
          <a:lstStyle/>
          <a:p>
            <a:pPr>
              <a:spcAft>
                <a:spcPts val="600"/>
              </a:spcAft>
              <a:defRPr sz="1600">
                <a:solidFill>
                  <a:srgbClr val="FFFFFF"/>
                </a:solidFill>
                <a:latin typeface="Calibri"/>
              </a:defRPr>
            </a:pPr>
            <a:r>
              <a:t>1.  Contextual Memory — Store conversation context in SQLite for multi-turn dialogue awareness</a:t>
            </a:r>
          </a:p>
          <a:p>
            <a:pPr>
              <a:spcAft>
                <a:spcPts val="600"/>
              </a:spcAft>
              <a:defRPr sz="1600">
                <a:solidFill>
                  <a:srgbClr val="FFFFFF"/>
                </a:solidFill>
                <a:latin typeface="Calibri"/>
              </a:defRPr>
            </a:pPr>
            <a:r>
              <a:t>2.  Qdrant Fallback — Index OKF bundle with BGE-M3 embeddings for fuzzy/ambiguous queries</a:t>
            </a:r>
          </a:p>
          <a:p>
            <a:pPr>
              <a:spcAft>
                <a:spcPts val="600"/>
              </a:spcAft>
              <a:defRPr sz="1600">
                <a:solidFill>
                  <a:srgbClr val="FFFFFF"/>
                </a:solidFill>
                <a:latin typeface="Calibri"/>
              </a:defRPr>
            </a:pPr>
            <a:r>
              <a:t>3.  RAGAS Evaluation — Run 100 gold-standard QA pairs; target: Faithfulness ≥ 0.80, Relevancy ≥ 0.80</a:t>
            </a:r>
          </a:p>
          <a:p>
            <a:pPr>
              <a:spcAft>
                <a:spcPts val="600"/>
              </a:spcAft>
              <a:defRPr sz="1600">
                <a:solidFill>
                  <a:srgbClr val="FFFFFF"/>
                </a:solidFill>
                <a:latin typeface="Calibri"/>
              </a:defRPr>
            </a:pPr>
            <a:r>
              <a:t>4.  Health Connect Testing — Validate wearable data flow on physical devices (Fitbit, Samsung)</a:t>
            </a:r>
          </a:p>
          <a:p>
            <a:pPr>
              <a:spcAft>
                <a:spcPts val="600"/>
              </a:spcAft>
              <a:defRPr sz="1600">
                <a:solidFill>
                  <a:srgbClr val="FFFFFF"/>
                </a:solidFill>
                <a:latin typeface="Calibri"/>
              </a:defRPr>
            </a:pPr>
            <a:r>
              <a:t>5.  OKF Bundle Expansion — Add 15 more condition files + drug interaction cross-references</a:t>
            </a:r>
          </a:p>
        </p:txBody>
      </p:sp>
      <p:sp>
        <p:nvSpPr>
          <p:cNvPr id="5" name="TextBox 4"/>
          <p:cNvSpPr txBox="1"/>
          <p:nvPr/>
        </p:nvSpPr>
        <p:spPr>
          <a:xfrm>
            <a:off x="457200" y="3931920"/>
            <a:ext cx="10972800" cy="365760"/>
          </a:xfrm>
          <a:prstGeom prst="rect">
            <a:avLst/>
          </a:prstGeom>
          <a:noFill/>
        </p:spPr>
        <p:txBody>
          <a:bodyPr wrap="square">
            <a:spAutoFit/>
          </a:bodyPr>
          <a:lstStyle/>
          <a:p>
            <a:pPr algn="l">
              <a:defRPr sz="2000" b="1">
                <a:solidFill>
                  <a:srgbClr val="F39C12"/>
                </a:solidFill>
                <a:latin typeface="Calibri"/>
              </a:defRPr>
            </a:pPr>
            <a:r>
              <a:t>Future Extensions (Beyond Capstone)</a:t>
            </a:r>
          </a:p>
        </p:txBody>
      </p:sp>
      <p:sp>
        <p:nvSpPr>
          <p:cNvPr id="6" name="TextBox 5"/>
          <p:cNvSpPr txBox="1"/>
          <p:nvPr/>
        </p:nvSpPr>
        <p:spPr>
          <a:xfrm>
            <a:off x="457200" y="4389120"/>
            <a:ext cx="10972800" cy="2286000"/>
          </a:xfrm>
          <a:prstGeom prst="rect">
            <a:avLst/>
          </a:prstGeom>
          <a:noFill/>
        </p:spPr>
        <p:txBody>
          <a:bodyPr wrap="square">
            <a:spAutoFit/>
          </a:bodyPr>
          <a:lstStyle/>
          <a:p>
            <a:pPr>
              <a:spcAft>
                <a:spcPts val="600"/>
              </a:spcAft>
              <a:defRPr sz="1600">
                <a:solidFill>
                  <a:srgbClr val="FFFFFF"/>
                </a:solidFill>
                <a:latin typeface="Calibri"/>
              </a:defRPr>
            </a:pPr>
            <a:r>
              <a:t>•  ABDM Integration — Link with Ayushman Bharat Health Account (ABHA) for centralized health records</a:t>
            </a:r>
          </a:p>
          <a:p>
            <a:pPr>
              <a:spcAft>
                <a:spcPts val="600"/>
              </a:spcAft>
              <a:defRPr sz="1600">
                <a:solidFill>
                  <a:srgbClr val="FFFFFF"/>
                </a:solidFill>
                <a:latin typeface="Calibri"/>
              </a:defRPr>
            </a:pPr>
            <a:r>
              <a:t>•  OCR Medical Report Parsing — Camera-based lab report interpretation using multimodal RAG [23]</a:t>
            </a:r>
          </a:p>
          <a:p>
            <a:pPr>
              <a:spcAft>
                <a:spcPts val="600"/>
              </a:spcAft>
              <a:defRPr sz="1600">
                <a:solidFill>
                  <a:srgbClr val="FFFFFF"/>
                </a:solidFill>
                <a:latin typeface="Calibri"/>
              </a:defRPr>
            </a:pPr>
            <a:r>
              <a:t>•  QLoRA Fine-tuning — Optional experiment fine-tuning Llama 3.1 on ICMR Q&amp;As for improved accuracy</a:t>
            </a:r>
          </a:p>
          <a:p>
            <a:pPr>
              <a:spcAft>
                <a:spcPts val="600"/>
              </a:spcAft>
              <a:defRPr sz="1600">
                <a:solidFill>
                  <a:srgbClr val="FFFFFF"/>
                </a:solidFill>
                <a:latin typeface="Calibri"/>
              </a:defRPr>
            </a:pPr>
            <a:r>
              <a:t>•  iOS Support — Extend Flutter app to iOS with Apple HealthKit integration</a:t>
            </a:r>
          </a:p>
          <a:p>
            <a:pPr>
              <a:spcAft>
                <a:spcPts val="600"/>
              </a:spcAft>
              <a:defRPr sz="1600">
                <a:solidFill>
                  <a:srgbClr val="FFFFFF"/>
                </a:solidFill>
                <a:latin typeface="Calibri"/>
              </a:defRPr>
            </a:pPr>
            <a:r>
              <a:t>•  Regional Language Expansion — Add Bengali, Tamil, Telugu via Bhashini</a:t>
            </a:r>
          </a:p>
        </p:txBody>
      </p:sp>
      <p:sp>
        <p:nvSpPr>
          <p:cNvPr id="7" name="Rectangle 6"/>
          <p:cNvSpPr/>
          <p:nvPr/>
        </p:nvSpPr>
        <p:spPr>
          <a:xfrm>
            <a:off x="0" y="6492240"/>
            <a:ext cx="12191695" cy="36576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5486400" cy="320040"/>
          </a:xfrm>
          <a:prstGeom prst="rect">
            <a:avLst/>
          </a:prstGeom>
          <a:noFill/>
        </p:spPr>
        <p:txBody>
          <a:bodyPr wrap="square">
            <a:spAutoFit/>
          </a:bodyPr>
          <a:lstStyle/>
          <a:p>
            <a:pPr algn="l">
              <a:defRPr sz="900" b="0">
                <a:solidFill>
                  <a:srgbClr val="B0BEC5"/>
                </a:solidFill>
                <a:latin typeface="Calibri"/>
              </a:defRPr>
            </a:pPr>
            <a:r>
              <a:t>MPSTME, SVKM's NMIMS Shirpur | Dept. of IT/AIML | 2026-27</a:t>
            </a:r>
          </a:p>
        </p:txBody>
      </p:sp>
      <p:sp>
        <p:nvSpPr>
          <p:cNvPr id="9" name="TextBox 8"/>
          <p:cNvSpPr txBox="1"/>
          <p:nvPr/>
        </p:nvSpPr>
        <p:spPr>
          <a:xfrm>
            <a:off x="11430000" y="6400800"/>
            <a:ext cx="731520" cy="365760"/>
          </a:xfrm>
          <a:prstGeom prst="rect">
            <a:avLst/>
          </a:prstGeom>
          <a:noFill/>
        </p:spPr>
        <p:txBody>
          <a:bodyPr wrap="square">
            <a:spAutoFit/>
          </a:bodyPr>
          <a:lstStyle/>
          <a:p>
            <a:pPr algn="r">
              <a:defRPr sz="1000" b="0">
                <a:solidFill>
                  <a:srgbClr val="B0BEC5"/>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defRPr sz="3600" b="1">
                <a:solidFill>
                  <a:srgbClr val="FFFFFF"/>
                </a:solidFill>
                <a:latin typeface="Calibri"/>
              </a:defRPr>
            </a:pPr>
            <a:r>
              <a:t>References (Selected)</a:t>
            </a:r>
          </a:p>
        </p:txBody>
      </p:sp>
      <p:sp>
        <p:nvSpPr>
          <p:cNvPr id="3" name="TextBox 2"/>
          <p:cNvSpPr txBox="1"/>
          <p:nvPr/>
        </p:nvSpPr>
        <p:spPr>
          <a:xfrm>
            <a:off x="457200" y="1005840"/>
            <a:ext cx="11247120" cy="5486400"/>
          </a:xfrm>
          <a:prstGeom prst="rect">
            <a:avLst/>
          </a:prstGeom>
          <a:noFill/>
        </p:spPr>
        <p:txBody>
          <a:bodyPr wrap="square">
            <a:spAutoFit/>
          </a:bodyPr>
          <a:lstStyle/>
          <a:p>
            <a:pPr>
              <a:spcAft>
                <a:spcPts val="600"/>
              </a:spcAft>
              <a:defRPr sz="1200">
                <a:solidFill>
                  <a:srgbClr val="B0BEC5"/>
                </a:solidFill>
                <a:latin typeface="Calibri"/>
              </a:defRPr>
            </a:pPr>
            <a:r>
              <a:t>[1] T. Vos et al., "Global burden of 369 diseases, 1990-2019," Lancet, vol. 396, 2020.</a:t>
            </a:r>
          </a:p>
          <a:p>
            <a:pPr>
              <a:spcAft>
                <a:spcPts val="600"/>
              </a:spcAft>
              <a:defRPr sz="1200">
                <a:solidFill>
                  <a:srgbClr val="B0BEC5"/>
                </a:solidFill>
                <a:latin typeface="Calibri"/>
              </a:defRPr>
            </a:pPr>
            <a:r>
              <a:t>[2] G. Roth et al., "Global Burden of CVD, 1990-2019," JACC, vol. 76, 2020.</a:t>
            </a:r>
          </a:p>
          <a:p>
            <a:pPr>
              <a:spcAft>
                <a:spcPts val="600"/>
              </a:spcAft>
              <a:defRPr sz="1200">
                <a:solidFill>
                  <a:srgbClr val="B0BEC5"/>
                </a:solidFill>
                <a:latin typeface="Calibri"/>
              </a:defRPr>
            </a:pPr>
            <a:r>
              <a:t>[3] Google Cloud, "Open Knowledge Format (OKF) Spec v0.2," GitHub, Jun. 2026.</a:t>
            </a:r>
          </a:p>
          <a:p>
            <a:pPr>
              <a:spcAft>
                <a:spcPts val="600"/>
              </a:spcAft>
              <a:defRPr sz="1200">
                <a:solidFill>
                  <a:srgbClr val="B0BEC5"/>
                </a:solidFill>
                <a:latin typeface="Calibri"/>
              </a:defRPr>
            </a:pPr>
            <a:r>
              <a:t>[8] GBD 2019 Risk Factors, "87 risk factors in 204 countries," Lancet, vol. 396, 2020.</a:t>
            </a:r>
          </a:p>
          <a:p>
            <a:pPr>
              <a:spcAft>
                <a:spcPts val="600"/>
              </a:spcAft>
              <a:defRPr sz="1200">
                <a:solidFill>
                  <a:srgbClr val="B0BEC5"/>
                </a:solidFill>
                <a:latin typeface="Calibri"/>
              </a:defRPr>
            </a:pPr>
            <a:r>
              <a:t>[9] J. Lelieveld et al., "Outdoor air pollution and premature mortality," Nature, 2015.</a:t>
            </a:r>
          </a:p>
          <a:p>
            <a:pPr>
              <a:spcAft>
                <a:spcPts val="600"/>
              </a:spcAft>
              <a:defRPr sz="1200">
                <a:solidFill>
                  <a:srgbClr val="B0BEC5"/>
                </a:solidFill>
                <a:latin typeface="Calibri"/>
              </a:defRPr>
            </a:pPr>
            <a:r>
              <a:t>[14] K. Skivington et al., "MRC framework for complex interventions," BMJ, 2021.</a:t>
            </a:r>
          </a:p>
          <a:p>
            <a:pPr>
              <a:spcAft>
                <a:spcPts val="600"/>
              </a:spcAft>
              <a:defRPr sz="1200">
                <a:solidFill>
                  <a:srgbClr val="B0BEC5"/>
                </a:solidFill>
                <a:latin typeface="Calibri"/>
              </a:defRPr>
            </a:pPr>
            <a:r>
              <a:t>[18] R. Masters et al., "ROI of public health interventions," J. Epi. Comm. Health, 2017.</a:t>
            </a:r>
          </a:p>
          <a:p>
            <a:pPr>
              <a:spcAft>
                <a:spcPts val="600"/>
              </a:spcAft>
              <a:defRPr sz="1200">
                <a:solidFill>
                  <a:srgbClr val="B0BEC5"/>
                </a:solidFill>
                <a:latin typeface="Calibri"/>
              </a:defRPr>
            </a:pPr>
            <a:r>
              <a:t>[21] S. Siriwardhana et al., "RAG-end2end domain adaptation," TACL, 2022. arXiv: 2210.02627.</a:t>
            </a:r>
          </a:p>
          <a:p>
            <a:pPr>
              <a:spcAft>
                <a:spcPts val="600"/>
              </a:spcAft>
              <a:defRPr sz="1200">
                <a:solidFill>
                  <a:srgbClr val="B0BEC5"/>
                </a:solidFill>
                <a:latin typeface="Calibri"/>
              </a:defRPr>
            </a:pPr>
            <a:r>
              <a:t>[22] S. Anuyah et al., "Domain-Specific KGs in RAG Healthcare LLMs," arXiv: 2601.15429, 2026.</a:t>
            </a:r>
          </a:p>
          <a:p>
            <a:pPr>
              <a:spcAft>
                <a:spcPts val="600"/>
              </a:spcAft>
              <a:defRPr sz="1200">
                <a:solidFill>
                  <a:srgbClr val="B0BEC5"/>
                </a:solidFill>
                <a:latin typeface="Calibri"/>
              </a:defRPr>
            </a:pPr>
            <a:r>
              <a:t>[23] P. Xia et al., "MMed-RAG for Medical Vision-Language Models," ICLR, 2025.</a:t>
            </a:r>
          </a:p>
          <a:p>
            <a:pPr>
              <a:spcAft>
                <a:spcPts val="600"/>
              </a:spcAft>
              <a:defRPr sz="1200">
                <a:solidFill>
                  <a:srgbClr val="B0BEC5"/>
                </a:solidFill>
                <a:latin typeface="Calibri"/>
              </a:defRPr>
            </a:pPr>
            <a:r>
              <a:t>[28] AI4Bharat, "IndicTrans2: 22 Indian languages," arXiv: 2305.16307, 2023.</a:t>
            </a:r>
          </a:p>
          <a:p>
            <a:pPr>
              <a:spcAft>
                <a:spcPts val="600"/>
              </a:spcAft>
              <a:defRPr sz="1200">
                <a:solidFill>
                  <a:srgbClr val="B0BEC5"/>
                </a:solidFill>
                <a:latin typeface="Calibri"/>
              </a:defRPr>
            </a:pPr>
            <a:r>
              <a:t>[36] "Human-Guided Agentic AI: AgentDS Healthcare," arXiv: 2602.19502, 2026.</a:t>
            </a:r>
          </a:p>
          <a:p>
            <a:pPr>
              <a:spcAft>
                <a:spcPts val="600"/>
              </a:spcAft>
              <a:defRPr sz="1200">
                <a:solidFill>
                  <a:srgbClr val="B0BEC5"/>
                </a:solidFill>
                <a:latin typeface="Calibri"/>
              </a:defRPr>
            </a:pPr>
            <a:r>
              <a:t>[41] Govt. of India, "Digital Personal Data Protection Act, 2023," Gazette, Aug. 2023.</a:t>
            </a:r>
          </a:p>
          <a:p>
            <a:pPr>
              <a:spcAft>
                <a:spcPts val="600"/>
              </a:spcAft>
              <a:defRPr sz="1200">
                <a:solidFill>
                  <a:srgbClr val="B0BEC5"/>
                </a:solidFill>
                <a:latin typeface="Calibri"/>
              </a:defRPr>
            </a:pPr>
            <a:r>
              <a:t>[42] National Health Authority, "Ayushman Bharat Digital Mission," abdm.gov.in, 2024.</a:t>
            </a:r>
          </a:p>
        </p:txBody>
      </p:sp>
      <p:sp>
        <p:nvSpPr>
          <p:cNvPr id="4" name="TextBox 3"/>
          <p:cNvSpPr txBox="1"/>
          <p:nvPr/>
        </p:nvSpPr>
        <p:spPr>
          <a:xfrm>
            <a:off x="457200" y="6035040"/>
            <a:ext cx="10972800" cy="365760"/>
          </a:xfrm>
          <a:prstGeom prst="rect">
            <a:avLst/>
          </a:prstGeom>
          <a:noFill/>
        </p:spPr>
        <p:txBody>
          <a:bodyPr wrap="square">
            <a:spAutoFit/>
          </a:bodyPr>
          <a:lstStyle/>
          <a:p>
            <a:pPr algn="l">
              <a:defRPr sz="1300" b="0">
                <a:solidFill>
                  <a:srgbClr val="FFD93D"/>
                </a:solidFill>
                <a:latin typeface="Calibri"/>
              </a:defRPr>
            </a:pPr>
            <a:r>
              <a:t>Full list of 42 references available in the Interim Report.</a:t>
            </a:r>
          </a:p>
        </p:txBody>
      </p:sp>
      <p:sp>
        <p:nvSpPr>
          <p:cNvPr id="5" name="Rectangle 4"/>
          <p:cNvSpPr/>
          <p:nvPr/>
        </p:nvSpPr>
        <p:spPr>
          <a:xfrm>
            <a:off x="0" y="6492240"/>
            <a:ext cx="12191695" cy="36576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5486400" cy="320040"/>
          </a:xfrm>
          <a:prstGeom prst="rect">
            <a:avLst/>
          </a:prstGeom>
          <a:noFill/>
        </p:spPr>
        <p:txBody>
          <a:bodyPr wrap="square">
            <a:spAutoFit/>
          </a:bodyPr>
          <a:lstStyle/>
          <a:p>
            <a:pPr algn="l">
              <a:defRPr sz="900" b="0">
                <a:solidFill>
                  <a:srgbClr val="B0BEC5"/>
                </a:solidFill>
                <a:latin typeface="Calibri"/>
              </a:defRPr>
            </a:pPr>
            <a:r>
              <a:t>MPSTME, SVKM's NMIMS Shirpur | Dept. of IT/AIML | 2026-27</a:t>
            </a:r>
          </a:p>
        </p:txBody>
      </p:sp>
      <p:sp>
        <p:nvSpPr>
          <p:cNvPr id="7" name="TextBox 6"/>
          <p:cNvSpPr txBox="1"/>
          <p:nvPr/>
        </p:nvSpPr>
        <p:spPr>
          <a:xfrm>
            <a:off x="11430000" y="6400800"/>
            <a:ext cx="731520" cy="365760"/>
          </a:xfrm>
          <a:prstGeom prst="rect">
            <a:avLst/>
          </a:prstGeom>
          <a:noFill/>
        </p:spPr>
        <p:txBody>
          <a:bodyPr wrap="square">
            <a:spAutoFit/>
          </a:bodyPr>
          <a:lstStyle/>
          <a:p>
            <a:pPr algn="r">
              <a:defRPr sz="1000" b="0">
                <a:solidFill>
                  <a:srgbClr val="B0BEC5"/>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1828800"/>
            <a:ext cx="11247120" cy="914400"/>
          </a:xfrm>
          <a:prstGeom prst="rect">
            <a:avLst/>
          </a:prstGeom>
          <a:noFill/>
        </p:spPr>
        <p:txBody>
          <a:bodyPr wrap="square">
            <a:spAutoFit/>
          </a:bodyPr>
          <a:lstStyle/>
          <a:p>
            <a:pPr algn="ctr">
              <a:defRPr sz="5200" b="1">
                <a:solidFill>
                  <a:srgbClr val="FFFFFF"/>
                </a:solidFill>
                <a:latin typeface="Calibri"/>
              </a:defRPr>
            </a:pPr>
            <a:r>
              <a:t>Thank You</a:t>
            </a:r>
          </a:p>
        </p:txBody>
      </p:sp>
      <p:sp>
        <p:nvSpPr>
          <p:cNvPr id="3" name="TextBox 2"/>
          <p:cNvSpPr txBox="1"/>
          <p:nvPr/>
        </p:nvSpPr>
        <p:spPr>
          <a:xfrm>
            <a:off x="457200" y="2926080"/>
            <a:ext cx="11247120" cy="548640"/>
          </a:xfrm>
          <a:prstGeom prst="rect">
            <a:avLst/>
          </a:prstGeom>
          <a:noFill/>
        </p:spPr>
        <p:txBody>
          <a:bodyPr wrap="square">
            <a:spAutoFit/>
          </a:bodyPr>
          <a:lstStyle/>
          <a:p>
            <a:pPr algn="ctr">
              <a:defRPr sz="2800" b="0">
                <a:solidFill>
                  <a:srgbClr val="00B4D8"/>
                </a:solidFill>
                <a:latin typeface="Calibri"/>
              </a:defRPr>
            </a:pPr>
            <a:r>
              <a:t>Aarogya Sathi — आरोग्य साथी</a:t>
            </a:r>
          </a:p>
        </p:txBody>
      </p:sp>
      <p:sp>
        <p:nvSpPr>
          <p:cNvPr id="4" name="TextBox 3"/>
          <p:cNvSpPr txBox="1"/>
          <p:nvPr/>
        </p:nvSpPr>
        <p:spPr>
          <a:xfrm>
            <a:off x="457200" y="3657600"/>
            <a:ext cx="11247120" cy="457200"/>
          </a:xfrm>
          <a:prstGeom prst="rect">
            <a:avLst/>
          </a:prstGeom>
          <a:noFill/>
        </p:spPr>
        <p:txBody>
          <a:bodyPr wrap="square">
            <a:spAutoFit/>
          </a:bodyPr>
          <a:lstStyle/>
          <a:p>
            <a:pPr algn="ctr">
              <a:defRPr sz="1800" b="0">
                <a:solidFill>
                  <a:srgbClr val="B0BEC5"/>
                </a:solidFill>
                <a:latin typeface="Calibri"/>
              </a:defRPr>
            </a:pPr>
            <a:r>
              <a:t>AI-Powered Digital Health Assistant for India</a:t>
            </a:r>
          </a:p>
        </p:txBody>
      </p:sp>
      <p:sp>
        <p:nvSpPr>
          <p:cNvPr id="5" name="TextBox 4"/>
          <p:cNvSpPr txBox="1"/>
          <p:nvPr/>
        </p:nvSpPr>
        <p:spPr>
          <a:xfrm>
            <a:off x="457200" y="4572000"/>
            <a:ext cx="11247120" cy="457200"/>
          </a:xfrm>
          <a:prstGeom prst="rect">
            <a:avLst/>
          </a:prstGeom>
          <a:noFill/>
        </p:spPr>
        <p:txBody>
          <a:bodyPr wrap="square">
            <a:spAutoFit/>
          </a:bodyPr>
          <a:lstStyle/>
          <a:p>
            <a:pPr algn="ctr">
              <a:defRPr sz="1600" b="0">
                <a:solidFill>
                  <a:srgbClr val="FFFFFF"/>
                </a:solidFill>
                <a:latin typeface="Calibri"/>
              </a:defRPr>
            </a:pPr>
            <a:r>
              <a:t>Jayesh Patil  •  Abhijit Patil  •  Ritesh Pawar</a:t>
            </a:r>
          </a:p>
        </p:txBody>
      </p:sp>
      <p:sp>
        <p:nvSpPr>
          <p:cNvPr id="6" name="TextBox 5"/>
          <p:cNvSpPr txBox="1"/>
          <p:nvPr/>
        </p:nvSpPr>
        <p:spPr>
          <a:xfrm>
            <a:off x="457200" y="5029200"/>
            <a:ext cx="11247120" cy="457200"/>
          </a:xfrm>
          <a:prstGeom prst="rect">
            <a:avLst/>
          </a:prstGeom>
          <a:noFill/>
        </p:spPr>
        <p:txBody>
          <a:bodyPr wrap="square">
            <a:spAutoFit/>
          </a:bodyPr>
          <a:lstStyle/>
          <a:p>
            <a:pPr algn="ctr">
              <a:defRPr sz="1400" b="0">
                <a:solidFill>
                  <a:srgbClr val="B0BEC5"/>
                </a:solidFill>
                <a:latin typeface="Calibri"/>
              </a:defRPr>
            </a:pPr>
            <a:r>
              <a:t>Guide: Dr. Atul V. Dusane | MPSTME, NMIMS Shirpur</a:t>
            </a:r>
          </a:p>
        </p:txBody>
      </p:sp>
      <p:sp>
        <p:nvSpPr>
          <p:cNvPr id="7" name="TextBox 6"/>
          <p:cNvSpPr txBox="1"/>
          <p:nvPr/>
        </p:nvSpPr>
        <p:spPr>
          <a:xfrm>
            <a:off x="457200" y="5760720"/>
            <a:ext cx="11247120" cy="365760"/>
          </a:xfrm>
          <a:prstGeom prst="rect">
            <a:avLst/>
          </a:prstGeom>
          <a:noFill/>
        </p:spPr>
        <p:txBody>
          <a:bodyPr wrap="square">
            <a:spAutoFit/>
          </a:bodyPr>
          <a:lstStyle/>
          <a:p>
            <a:pPr algn="ctr">
              <a:defRPr sz="1400" b="0">
                <a:solidFill>
                  <a:srgbClr val="00B4D8"/>
                </a:solidFill>
                <a:latin typeface="Calibri"/>
              </a:defRPr>
            </a:pPr>
            <a:r>
              <a:t>github.com/Jay-D21/Aarogya-Sathi-Final</a:t>
            </a:r>
          </a:p>
        </p:txBody>
      </p:sp>
      <p:sp>
        <p:nvSpPr>
          <p:cNvPr id="8" name="Rectangle 7"/>
          <p:cNvSpPr/>
          <p:nvPr/>
        </p:nvSpPr>
        <p:spPr>
          <a:xfrm>
            <a:off x="0" y="6492240"/>
            <a:ext cx="12191695" cy="365760"/>
          </a:xfrm>
          <a:prstGeom prst="rect">
            <a:avLst/>
          </a:prstGeom>
          <a:solidFill>
            <a:srgbClr val="0A1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10528"/>
            <a:ext cx="5486400" cy="320040"/>
          </a:xfrm>
          <a:prstGeom prst="rect">
            <a:avLst/>
          </a:prstGeom>
          <a:noFill/>
        </p:spPr>
        <p:txBody>
          <a:bodyPr wrap="square">
            <a:spAutoFit/>
          </a:bodyPr>
          <a:lstStyle/>
          <a:p>
            <a:pPr algn="l">
              <a:defRPr sz="900" b="0">
                <a:solidFill>
                  <a:srgbClr val="B0BEC5"/>
                </a:solidFill>
                <a:latin typeface="Calibri"/>
              </a:defRPr>
            </a:pPr>
            <a:r>
              <a:t>MPSTME, SVKM's NMIMS Shirpur | Dept. of IT/AIML | 2026-27</a:t>
            </a:r>
          </a:p>
        </p:txBody>
      </p:sp>
      <p:sp>
        <p:nvSpPr>
          <p:cNvPr id="10" name="TextBox 9"/>
          <p:cNvSpPr txBox="1"/>
          <p:nvPr/>
        </p:nvSpPr>
        <p:spPr>
          <a:xfrm>
            <a:off x="11430000" y="6400800"/>
            <a:ext cx="731520" cy="365760"/>
          </a:xfrm>
          <a:prstGeom prst="rect">
            <a:avLst/>
          </a:prstGeom>
          <a:noFill/>
        </p:spPr>
        <p:txBody>
          <a:bodyPr wrap="square">
            <a:spAutoFit/>
          </a:bodyPr>
          <a:lstStyle/>
          <a:p>
            <a:pPr algn="r">
              <a:defRPr sz="1000" b="0">
                <a:solidFill>
                  <a:srgbClr val="B0BEC5"/>
                </a:solidFill>
                <a:latin typeface="Calibri"/>
              </a:defRPr>
            </a:pPr>
            <a: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